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691e8e5-138d-56cb-7781-df7e62a95b94}">
          <p14:sldIdLst>
            <p14:sldId id="256"/>
            <p14:sldId id="257"/>
          </p14:sldIdLst>
        </p14:section>
        <p14:section name="How a job runs" id="{f32d07c7-f2b8-13aa-ec0c-ec2064006657}">
          <p14:sldIdLst>
            <p14:sldId id="258"/>
            <p14:sldId id="259"/>
            <p14:sldId id="260"/>
            <p14:sldId id="261"/>
            <p14:sldId id="262"/>
          </p14:sldIdLst>
        </p14:section>
        <p14:section name="Validation and data" id="{6af6c022-2353-df5d-dc47-8f4d0bde027e}">
          <p14:sldIdLst>
            <p14:sldId id="263"/>
            <p14:sldId id="264"/>
            <p14:sldId id="265"/>
          </p14:sldIdLst>
        </p14:section>
        <p14:section name="Build and deliver" id="{2e8efde8-452f-6c45-a9ba-b7b2823aee76}">
          <p14:sldIdLst>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about the repository: what runs first and second, how each job is built, how rollback works, and how it reaches AAP through the existing pipeline. The design decisions (convert in place, golden alongside, three validation layers) are in the earlier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of the eight steps are read-only and safe to run any time. Only stages 1, 2 and 3 change config, and each saves only after its post-check passes. Discovery runs from my laptop for now because it pulls from Catalyst Center and groups configs; it can become a job template later. Classify uses the interface descriptions together with the config to decide which ports migrate, and runs both from the laptop across all sites and as a job for one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guardrails come from the SWIM repo and are already proven in production. I added two: one site per job, and a single run id so a job's snapshots and backups can be found later. Matched switches land in the ibns_targets group, which every later play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the team rule that config goes through DNAC. Reads use Command Runner, which only accepts read-only commands, so the config mode is worked out from the running config. Changes are rendered by Ansible and pushed as template content; exec commands like the conversion use the template's MODE_ENABLE and INTERACTIVE syntax to answer the prompt. The three modules are small Python files on ansible-core only, so the existing execution environment works without new collections. One thing to prove in the lab: whether an API deployment also writes memory, as the UI does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pattern, three stages, so reviewers learn it once. The important rule is the last step: we only write memory after the post-check passes. Each stage has its own failure action, because the one-way conversion can't be undone the way the golden config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can't be reversed with a command, so it carries no automated rollback; it's made safe instead by proving in the lab that conversion keeps behaviour identical. Stage 2 is where behaviour changes, and it's fully reversible per port. The RADIUS group name is read from each switch, so the golden config works across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ordering is the reason for the convert-first approach. Interface-level commands override the template, so we attach the template while the converted lines still protect the port, then strip them. ibns_repoint_commands and ibns_rollback_commands in the filter plugin generate exactly these command lists, and unit tests check the 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endpoints never fail a check; only regressions do. The failure threshold is a variable, default zero. The next-day check exists because change windows are after hours and most users have gone home, so layer 2 only sees what's plugged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interface has a description, so we use it as a second opinion. The description gives a role through an ordered list of regex rules; the config gives a class. A port migrates only when the role allows that class. Anything that disagrees, or has no matching rule, is held: it keeps the converted config, still authenticating, and the pre-check lists it. The laptop script runs the same code over every discovered switch and lists the unmatched description patterns, which is how we build the rules from real data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AAP runs each job in a fresh container, so anything a later job needs has to live outside it. Laptop runs use a local folder; in AAP the plan is a generic Artifactory repo. How the job gets Artifactory credentials is an open question for the platform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Reusing the platform pieces means reviewers already know the pipeline, the AAP layout and the guardrails. The new work is concentrated in the filter plugin, the roles and the templates. The README in the repo has the full file-by-file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pipeline as ud00, untouched. Pushing to dev creates or updates the job templates in DEV AAP; the release branch promotes to PROD. The pipeline never launches a job; an operator launches each one from AAP with the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are settings in group_vars/all.yml or survey defaults, so the team can tighten or relax them in review. The limits (20 per job, 5 at a time) are my starting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ends with something that runs, so mistakes surface early. Nothing reaches AAP until the playbooks have worked from my laptop against the lab switch, including a deliberately broken golden template to prove the automatic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execution environment question is gone: the DNAC modules need ansible-core only. The first three are platform questions for Gurkirat. The rest decide the content of the golden templates and the timing values, and get settled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start with the repo and the read-only jobs this week, in parallel with the platform questions, since onboarding has lead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15544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566160"/>
            <a:ext cx="7498080" cy="118872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IBNS 2.0 automation  ·  repository workflow  ·  draft for team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15544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IBNS 2.0 automation: how the repository works</a:t>
            </a:r>
            <a:endParaRPr lang="en-US" sz="4000" dirty="0"/>
          </a:p>
        </p:txBody>
      </p:sp>
      <p:sp>
        <p:nvSpPr>
          <p:cNvPr id="3" name="Text 0"/>
          <p:cNvSpPr/>
          <p:nvPr>
            <p:ph idx="101" type="body" hasCustomPrompt="1"/>
          </p:nvPr>
        </p:nvSpPr>
        <p:spPr>
          <a:xfrm>
            <a:off x="731520" y="3566160"/>
            <a:ext cx="7498080" cy="1188720"/>
          </a:xfrm>
          <a:prstGeom prst="rect">
            <a:avLst/>
          </a:prstGeom>
          <a:noFill/>
          <a:ln/>
        </p:spPr>
        <p:txBody>
          <a:bodyPr wrap="square" lIns="0" tIns="0" rIns="0" bIns="0" rtlCol="0" anchor="t"/>
          <a:lstStyle/>
          <a:p>
            <a:pPr algn="l" indent="0" marL="0">
              <a:buNone/>
            </a:pPr>
            <a:r>
              <a:rPr lang="en-US" sz="2000" dirty="0">
                <a:solidFill>
                  <a:schemeClr val="accent6"/>
                </a:solidFill>
              </a:rPr>
              <a:t>Run order, job design, rollback and the path to AAP, all through Catalyst Center</a:t>
            </a:r>
            <a:endParaRPr lang="en-US" sz="2000" dirty="0"/>
          </a:p>
          <a:p>
            <a:pPr algn="l" indent="0" marL="0">
              <a:buNone/>
            </a:pPr>
            <a:r>
              <a:rPr lang="en-US" sz="1600" dirty="0">
                <a:solidFill>
                  <a:schemeClr val="accent3"/>
                </a:solidFill>
              </a:rPr>
              <a:t>Sahban Khan  ·  October 2026</a:t>
            </a:r>
            <a:endParaRPr lang="en-US" sz="2000" dirty="0"/>
          </a:p>
        </p:txBody>
      </p:sp>
      <p:sp>
        <p:nvSpPr>
          <p:cNvPr id="4" name="Shape 2"/>
          <p:cNvSpPr/>
          <p:nvPr/>
        </p:nvSpPr>
        <p:spPr>
          <a:xfrm>
            <a:off x="8732520" y="3017520"/>
            <a:ext cx="566928" cy="566928"/>
          </a:xfrm>
          <a:prstGeom prst="roundRect">
            <a:avLst>
              <a:gd name="adj" fmla="val 12903"/>
            </a:avLst>
          </a:prstGeom>
          <a:solidFill>
            <a:schemeClr val="accent1">
              <a:alpha val="75000"/>
            </a:schemeClr>
          </a:solidFill>
          <a:ln/>
        </p:spPr>
      </p:sp>
      <p:sp>
        <p:nvSpPr>
          <p:cNvPr id="5" name="Shape 3"/>
          <p:cNvSpPr/>
          <p:nvPr/>
        </p:nvSpPr>
        <p:spPr>
          <a:xfrm>
            <a:off x="9299448" y="3300984"/>
            <a:ext cx="210312" cy="0"/>
          </a:xfrm>
          <a:prstGeom prst="line">
            <a:avLst/>
          </a:prstGeom>
          <a:noFill/>
          <a:ln w="19050">
            <a:solidFill>
              <a:schemeClr val="accent6"/>
            </a:solidFill>
            <a:prstDash val="solid"/>
          </a:ln>
        </p:spPr>
      </p:sp>
      <p:sp>
        <p:nvSpPr>
          <p:cNvPr id="6" name="Text 4"/>
          <p:cNvSpPr txBox="1"/>
          <p:nvPr/>
        </p:nvSpPr>
        <p:spPr>
          <a:xfrm>
            <a:off x="8595360" y="3657600"/>
            <a:ext cx="841248" cy="274320"/>
          </a:xfrm>
          <a:prstGeom prst="rect">
            <a:avLst/>
          </a:prstGeom>
          <a:noFill/>
          <a:ln/>
        </p:spPr>
        <p:txBody>
          <a:bodyPr wrap="square" lIns="0" tIns="0" rIns="0" bIns="0" rtlCol="0" anchor="ctr"/>
          <a:lstStyle/>
          <a:p>
            <a:pPr algn="ctr" indent="0" marL="0">
              <a:buNone/>
            </a:pPr>
            <a:r>
              <a:rPr lang="en-US" sz="1100" dirty="0">
                <a:solidFill>
                  <a:schemeClr val="accent6"/>
                </a:solidFill>
              </a:rPr>
              <a:t>Git</a:t>
            </a:r>
            <a:endParaRPr lang="en-US" sz="1100" dirty="0"/>
          </a:p>
        </p:txBody>
      </p:sp>
      <p:sp>
        <p:nvSpPr>
          <p:cNvPr id="7" name="Shape 5"/>
          <p:cNvSpPr/>
          <p:nvPr/>
        </p:nvSpPr>
        <p:spPr>
          <a:xfrm>
            <a:off x="9509760" y="3017520"/>
            <a:ext cx="566928" cy="566928"/>
          </a:xfrm>
          <a:prstGeom prst="roundRect">
            <a:avLst>
              <a:gd name="adj" fmla="val 12903"/>
            </a:avLst>
          </a:prstGeom>
          <a:solidFill>
            <a:schemeClr val="accent1">
              <a:alpha val="75000"/>
            </a:schemeClr>
          </a:solidFill>
          <a:ln/>
        </p:spPr>
      </p:sp>
      <p:sp>
        <p:nvSpPr>
          <p:cNvPr id="8" name="Shape 6"/>
          <p:cNvSpPr/>
          <p:nvPr/>
        </p:nvSpPr>
        <p:spPr>
          <a:xfrm>
            <a:off x="10076688" y="3300984"/>
            <a:ext cx="210312" cy="0"/>
          </a:xfrm>
          <a:prstGeom prst="line">
            <a:avLst/>
          </a:prstGeom>
          <a:noFill/>
          <a:ln w="19050">
            <a:solidFill>
              <a:schemeClr val="accent6"/>
            </a:solidFill>
            <a:prstDash val="solid"/>
          </a:ln>
        </p:spPr>
      </p:sp>
      <p:sp>
        <p:nvSpPr>
          <p:cNvPr id="9" name="Text 7"/>
          <p:cNvSpPr txBox="1"/>
          <p:nvPr/>
        </p:nvSpPr>
        <p:spPr>
          <a:xfrm>
            <a:off x="9372600" y="3657600"/>
            <a:ext cx="841248" cy="274320"/>
          </a:xfrm>
          <a:prstGeom prst="rect">
            <a:avLst/>
          </a:prstGeom>
          <a:noFill/>
          <a:ln/>
        </p:spPr>
        <p:txBody>
          <a:bodyPr wrap="square" lIns="0" tIns="0" rIns="0" bIns="0" rtlCol="0" anchor="ctr"/>
          <a:lstStyle/>
          <a:p>
            <a:pPr algn="ctr" indent="0" marL="0">
              <a:buNone/>
            </a:pPr>
            <a:r>
              <a:rPr lang="en-US" sz="1100" dirty="0">
                <a:solidFill>
                  <a:schemeClr val="accent6"/>
                </a:solidFill>
              </a:rPr>
              <a:t>Helios</a:t>
            </a:r>
            <a:endParaRPr lang="en-US" sz="1100" dirty="0"/>
          </a:p>
        </p:txBody>
      </p:sp>
      <p:sp>
        <p:nvSpPr>
          <p:cNvPr id="10" name="Shape 8"/>
          <p:cNvSpPr/>
          <p:nvPr/>
        </p:nvSpPr>
        <p:spPr>
          <a:xfrm>
            <a:off x="10287000" y="3017520"/>
            <a:ext cx="566928" cy="566928"/>
          </a:xfrm>
          <a:prstGeom prst="roundRect">
            <a:avLst>
              <a:gd name="adj" fmla="val 12903"/>
            </a:avLst>
          </a:prstGeom>
          <a:solidFill>
            <a:schemeClr val="accent1">
              <a:alpha val="75000"/>
            </a:schemeClr>
          </a:solidFill>
          <a:ln/>
        </p:spPr>
      </p:sp>
      <p:sp>
        <p:nvSpPr>
          <p:cNvPr id="11" name="Shape 9"/>
          <p:cNvSpPr/>
          <p:nvPr/>
        </p:nvSpPr>
        <p:spPr>
          <a:xfrm>
            <a:off x="10853928" y="3300984"/>
            <a:ext cx="210312" cy="0"/>
          </a:xfrm>
          <a:prstGeom prst="line">
            <a:avLst/>
          </a:prstGeom>
          <a:noFill/>
          <a:ln w="19050">
            <a:solidFill>
              <a:schemeClr val="accent6"/>
            </a:solidFill>
            <a:prstDash val="solid"/>
          </a:ln>
        </p:spPr>
      </p:sp>
      <p:sp>
        <p:nvSpPr>
          <p:cNvPr id="12" name="Text 10"/>
          <p:cNvSpPr txBox="1"/>
          <p:nvPr/>
        </p:nvSpPr>
        <p:spPr>
          <a:xfrm>
            <a:off x="10149840" y="3657600"/>
            <a:ext cx="841248" cy="274320"/>
          </a:xfrm>
          <a:prstGeom prst="rect">
            <a:avLst/>
          </a:prstGeom>
          <a:noFill/>
          <a:ln/>
        </p:spPr>
        <p:txBody>
          <a:bodyPr wrap="square" lIns="0" tIns="0" rIns="0" bIns="0" rtlCol="0" anchor="ctr"/>
          <a:lstStyle/>
          <a:p>
            <a:pPr algn="ctr" indent="0" marL="0">
              <a:buNone/>
            </a:pPr>
            <a:r>
              <a:rPr lang="en-US" sz="1100" dirty="0">
                <a:solidFill>
                  <a:schemeClr val="accent6"/>
                </a:solidFill>
              </a:rPr>
              <a:t>AAP</a:t>
            </a:r>
            <a:endParaRPr lang="en-US" sz="1100" dirty="0"/>
          </a:p>
        </p:txBody>
      </p:sp>
      <p:sp>
        <p:nvSpPr>
          <p:cNvPr id="13" name="Shape 11"/>
          <p:cNvSpPr/>
          <p:nvPr/>
        </p:nvSpPr>
        <p:spPr>
          <a:xfrm>
            <a:off x="11064240" y="3017520"/>
            <a:ext cx="566928" cy="566928"/>
          </a:xfrm>
          <a:prstGeom prst="roundRect">
            <a:avLst>
              <a:gd name="adj" fmla="val 12903"/>
            </a:avLst>
          </a:prstGeom>
          <a:solidFill>
            <a:schemeClr val="accent2"/>
          </a:solidFill>
          <a:ln/>
        </p:spPr>
      </p:sp>
      <p:sp>
        <p:nvSpPr>
          <p:cNvPr id="14" name="Text 12"/>
          <p:cNvSpPr txBox="1"/>
          <p:nvPr/>
        </p:nvSpPr>
        <p:spPr>
          <a:xfrm>
            <a:off x="10927080" y="3657600"/>
            <a:ext cx="841248" cy="274320"/>
          </a:xfrm>
          <a:prstGeom prst="rect">
            <a:avLst/>
          </a:prstGeom>
          <a:noFill/>
          <a:ln/>
        </p:spPr>
        <p:txBody>
          <a:bodyPr wrap="square" lIns="0" tIns="0" rIns="0" bIns="0" rtlCol="0" anchor="ctr"/>
          <a:lstStyle/>
          <a:p>
            <a:pPr algn="ctr" indent="0" marL="0">
              <a:buNone/>
            </a:pPr>
            <a:r>
              <a:rPr lang="en-US" sz="1100" dirty="0">
                <a:solidFill>
                  <a:schemeClr val="accent6"/>
                </a:solidFill>
              </a:rPr>
              <a:t>DNAC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Eight steps, run in a fixed order around each site</a:t>
            </a:r>
            <a:endParaRPr lang="en-US" sz="2800" dirty="0"/>
          </a:p>
        </p:txBody>
      </p:sp>
      <p:sp>
        <p:nvSpPr>
          <p:cNvPr id="3" name="Shape 1"/>
          <p:cNvSpPr/>
          <p:nvPr/>
        </p:nvSpPr>
        <p:spPr>
          <a:xfrm>
            <a:off x="1188720" y="2194560"/>
            <a:ext cx="9601200" cy="0"/>
          </a:xfrm>
          <a:prstGeom prst="line">
            <a:avLst/>
          </a:prstGeom>
          <a:noFill/>
          <a:ln w="19050">
            <a:solidFill>
              <a:schemeClr val="accent6"/>
            </a:solidFill>
            <a:prstDash val="solid"/>
          </a:ln>
        </p:spPr>
      </p:sp>
      <p:sp>
        <p:nvSpPr>
          <p:cNvPr id="4" name="Shape 2"/>
          <p:cNvSpPr/>
          <p:nvPr/>
        </p:nvSpPr>
        <p:spPr>
          <a:xfrm>
            <a:off x="914400" y="1920240"/>
            <a:ext cx="548640" cy="548640"/>
          </a:xfrm>
          <a:prstGeom prst="ellipse">
            <a:avLst/>
          </a:prstGeom>
          <a:solidFill>
            <a:schemeClr val="accent1"/>
          </a:solidFill>
          <a:ln/>
        </p:spPr>
      </p:sp>
      <p:sp>
        <p:nvSpPr>
          <p:cNvPr id="5" name="Text 3"/>
          <p:cNvSpPr txBox="1"/>
          <p:nvPr/>
        </p:nvSpPr>
        <p:spPr>
          <a:xfrm>
            <a:off x="914400" y="19202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6" name="job-0"/>
          <p:cNvSpPr/>
          <p:nvPr/>
        </p:nvSpPr>
        <p:spPr>
          <a:xfrm>
            <a:off x="548640" y="2697480"/>
            <a:ext cx="1280160" cy="2331720"/>
          </a:xfrm>
          <a:prstGeom prst="roundRect">
            <a:avLst>
              <a:gd name="adj" fmla="val 5714"/>
            </a:avLst>
          </a:prstGeom>
          <a:solidFill>
            <a:schemeClr val="bg2"/>
          </a:solidFill>
          <a:ln/>
        </p:spPr>
      </p:sp>
      <p:sp>
        <p:nvSpPr>
          <p:cNvPr id="7" name="Text 5"/>
          <p:cNvSpPr txBox="1"/>
          <p:nvPr/>
        </p:nvSpPr>
        <p:spPr>
          <a:xfrm>
            <a:off x="658368" y="2834640"/>
            <a:ext cx="1060704"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Discovery</a:t>
            </a:r>
            <a:endParaRPr lang="en-US" sz="1600" dirty="0"/>
          </a:p>
        </p:txBody>
      </p:sp>
      <p:sp>
        <p:nvSpPr>
          <p:cNvPr id="8" name="Text 6"/>
          <p:cNvSpPr txBox="1"/>
          <p:nvPr/>
        </p:nvSpPr>
        <p:spPr>
          <a:xfrm>
            <a:off x="658368" y="3246120"/>
            <a:ext cx="1060704" cy="457200"/>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laptop script</a:t>
            </a:r>
            <a:endParaRPr lang="en-US" sz="900" dirty="0"/>
          </a:p>
        </p:txBody>
      </p:sp>
      <p:sp>
        <p:nvSpPr>
          <p:cNvPr id="9" name="Text 7"/>
          <p:cNvSpPr txBox="1"/>
          <p:nvPr/>
        </p:nvSpPr>
        <p:spPr>
          <a:xfrm>
            <a:off x="658368" y="3749040"/>
            <a:ext cx="1060704" cy="548640"/>
          </a:xfrm>
          <a:prstGeom prst="rect">
            <a:avLst/>
          </a:prstGeom>
          <a:noFill/>
          <a:ln/>
        </p:spPr>
        <p:txBody>
          <a:bodyPr wrap="square" lIns="0" tIns="0" rIns="0" bIns="0" rtlCol="0" anchor="t"/>
          <a:lstStyle/>
          <a:p>
            <a:pPr indent="0" marL="0">
              <a:buNone/>
            </a:pPr>
            <a:r>
              <a:rPr lang="en-US" sz="1200" dirty="0">
                <a:solidFill>
                  <a:schemeClr val="tx1"/>
                </a:solidFill>
              </a:rPr>
              <a:t>Before anything</a:t>
            </a:r>
            <a:endParaRPr lang="en-US" sz="1200" dirty="0"/>
          </a:p>
        </p:txBody>
      </p:sp>
      <p:sp>
        <p:nvSpPr>
          <p:cNvPr id="10" name="Text 8"/>
          <p:cNvSpPr txBox="1"/>
          <p:nvPr/>
        </p:nvSpPr>
        <p:spPr>
          <a:xfrm>
            <a:off x="658368" y="4617720"/>
            <a:ext cx="1060704" cy="274320"/>
          </a:xfrm>
          <a:prstGeom prst="rect">
            <a:avLst/>
          </a:prstGeom>
          <a:noFill/>
          <a:ln/>
        </p:spPr>
        <p:txBody>
          <a:bodyPr wrap="square" lIns="0" tIns="0" rIns="0" bIns="0" rtlCol="0" anchor="t"/>
          <a:lstStyle/>
          <a:p>
            <a:pPr indent="0" marL="0">
              <a:buNone/>
            </a:pPr>
            <a:r>
              <a:rPr lang="en-US" sz="1100" b="1" dirty="0">
                <a:solidFill>
                  <a:schemeClr val="accent1"/>
                </a:solidFill>
              </a:rPr>
              <a:t>Read-only</a:t>
            </a:r>
            <a:endParaRPr lang="en-US" sz="1100" dirty="0"/>
          </a:p>
        </p:txBody>
      </p:sp>
      <p:sp>
        <p:nvSpPr>
          <p:cNvPr id="11" name="Shape 9"/>
          <p:cNvSpPr/>
          <p:nvPr/>
        </p:nvSpPr>
        <p:spPr>
          <a:xfrm>
            <a:off x="2286000" y="1920240"/>
            <a:ext cx="548640" cy="548640"/>
          </a:xfrm>
          <a:prstGeom prst="ellipse">
            <a:avLst/>
          </a:prstGeom>
          <a:solidFill>
            <a:schemeClr val="accent1"/>
          </a:solidFill>
          <a:ln/>
        </p:spPr>
      </p:sp>
      <p:sp>
        <p:nvSpPr>
          <p:cNvPr id="12" name="Text 10"/>
          <p:cNvSpPr txBox="1"/>
          <p:nvPr/>
        </p:nvSpPr>
        <p:spPr>
          <a:xfrm>
            <a:off x="2286000" y="19202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0b</a:t>
            </a:r>
            <a:endParaRPr lang="en-US" sz="1400" dirty="0"/>
          </a:p>
        </p:txBody>
      </p:sp>
      <p:sp>
        <p:nvSpPr>
          <p:cNvPr id="13" name="job-0b"/>
          <p:cNvSpPr/>
          <p:nvPr/>
        </p:nvSpPr>
        <p:spPr>
          <a:xfrm>
            <a:off x="1920240" y="2697480"/>
            <a:ext cx="1280160" cy="2331720"/>
          </a:xfrm>
          <a:prstGeom prst="roundRect">
            <a:avLst>
              <a:gd name="adj" fmla="val 5714"/>
            </a:avLst>
          </a:prstGeom>
          <a:solidFill>
            <a:schemeClr val="bg2"/>
          </a:solidFill>
          <a:ln/>
        </p:spPr>
      </p:sp>
      <p:sp>
        <p:nvSpPr>
          <p:cNvPr id="14" name="Text 12"/>
          <p:cNvSpPr txBox="1"/>
          <p:nvPr/>
        </p:nvSpPr>
        <p:spPr>
          <a:xfrm>
            <a:off x="2029968" y="2834640"/>
            <a:ext cx="1060704"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Classify</a:t>
            </a:r>
            <a:endParaRPr lang="en-US" sz="1600" dirty="0"/>
          </a:p>
        </p:txBody>
      </p:sp>
      <p:sp>
        <p:nvSpPr>
          <p:cNvPr id="15" name="Text 13"/>
          <p:cNvSpPr txBox="1"/>
          <p:nvPr/>
        </p:nvSpPr>
        <p:spPr>
          <a:xfrm>
            <a:off x="2029968" y="3246120"/>
            <a:ext cx="1060704" cy="457200"/>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classify</a:t>
            </a:r>
            <a:endParaRPr lang="en-US" sz="900" dirty="0"/>
          </a:p>
        </p:txBody>
      </p:sp>
      <p:sp>
        <p:nvSpPr>
          <p:cNvPr id="16" name="Text 14"/>
          <p:cNvSpPr txBox="1"/>
          <p:nvPr/>
        </p:nvSpPr>
        <p:spPr>
          <a:xfrm>
            <a:off x="2029968" y="3749040"/>
            <a:ext cx="1060704" cy="548640"/>
          </a:xfrm>
          <a:prstGeom prst="rect">
            <a:avLst/>
          </a:prstGeom>
          <a:noFill/>
          <a:ln/>
        </p:spPr>
        <p:txBody>
          <a:bodyPr wrap="square" lIns="0" tIns="0" rIns="0" bIns="0" rtlCol="0" anchor="t"/>
          <a:lstStyle/>
          <a:p>
            <a:pPr indent="0" marL="0">
              <a:buNone/>
            </a:pPr>
            <a:r>
              <a:rPr lang="en-US" sz="1200" dirty="0">
                <a:solidFill>
                  <a:schemeClr val="tx1"/>
                </a:solidFill>
              </a:rPr>
              <a:t>Before each site</a:t>
            </a:r>
            <a:endParaRPr lang="en-US" sz="1200" dirty="0"/>
          </a:p>
        </p:txBody>
      </p:sp>
      <p:sp>
        <p:nvSpPr>
          <p:cNvPr id="17" name="Text 15"/>
          <p:cNvSpPr txBox="1"/>
          <p:nvPr/>
        </p:nvSpPr>
        <p:spPr>
          <a:xfrm>
            <a:off x="2029968" y="4617720"/>
            <a:ext cx="1060704" cy="274320"/>
          </a:xfrm>
          <a:prstGeom prst="rect">
            <a:avLst/>
          </a:prstGeom>
          <a:noFill/>
          <a:ln/>
        </p:spPr>
        <p:txBody>
          <a:bodyPr wrap="square" lIns="0" tIns="0" rIns="0" bIns="0" rtlCol="0" anchor="t"/>
          <a:lstStyle/>
          <a:p>
            <a:pPr indent="0" marL="0">
              <a:buNone/>
            </a:pPr>
            <a:r>
              <a:rPr lang="en-US" sz="1100" b="1" dirty="0">
                <a:solidFill>
                  <a:schemeClr val="accent1"/>
                </a:solidFill>
              </a:rPr>
              <a:t>Read-only</a:t>
            </a:r>
            <a:endParaRPr lang="en-US" sz="1100" dirty="0"/>
          </a:p>
        </p:txBody>
      </p:sp>
      <p:sp>
        <p:nvSpPr>
          <p:cNvPr id="18" name="Shape 16"/>
          <p:cNvSpPr/>
          <p:nvPr/>
        </p:nvSpPr>
        <p:spPr>
          <a:xfrm>
            <a:off x="3657600" y="1920240"/>
            <a:ext cx="548640" cy="548640"/>
          </a:xfrm>
          <a:prstGeom prst="ellipse">
            <a:avLst/>
          </a:prstGeom>
          <a:solidFill>
            <a:schemeClr val="accent1"/>
          </a:solidFill>
          <a:ln/>
        </p:spPr>
      </p:sp>
      <p:sp>
        <p:nvSpPr>
          <p:cNvPr id="19" name="Text 17"/>
          <p:cNvSpPr txBox="1"/>
          <p:nvPr/>
        </p:nvSpPr>
        <p:spPr>
          <a:xfrm>
            <a:off x="3657600" y="19202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0" name="job-1"/>
          <p:cNvSpPr/>
          <p:nvPr/>
        </p:nvSpPr>
        <p:spPr>
          <a:xfrm>
            <a:off x="3291840" y="2697480"/>
            <a:ext cx="1280160" cy="2331720"/>
          </a:xfrm>
          <a:prstGeom prst="roundRect">
            <a:avLst>
              <a:gd name="adj" fmla="val 5714"/>
            </a:avLst>
          </a:prstGeom>
          <a:solidFill>
            <a:schemeClr val="bg2"/>
          </a:solidFill>
          <a:ln/>
        </p:spPr>
      </p:sp>
      <p:sp>
        <p:nvSpPr>
          <p:cNvPr id="21" name="Text 19"/>
          <p:cNvSpPr txBox="1"/>
          <p:nvPr/>
        </p:nvSpPr>
        <p:spPr>
          <a:xfrm>
            <a:off x="3401568" y="2834640"/>
            <a:ext cx="1060704"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Baseline</a:t>
            </a:r>
            <a:endParaRPr lang="en-US" sz="1600" dirty="0"/>
          </a:p>
        </p:txBody>
      </p:sp>
      <p:sp>
        <p:nvSpPr>
          <p:cNvPr id="22" name="Text 20"/>
          <p:cNvSpPr txBox="1"/>
          <p:nvPr/>
        </p:nvSpPr>
        <p:spPr>
          <a:xfrm>
            <a:off x="3401568" y="3246120"/>
            <a:ext cx="1060704" cy="457200"/>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baseline</a:t>
            </a:r>
            <a:endParaRPr lang="en-US" sz="900" dirty="0"/>
          </a:p>
        </p:txBody>
      </p:sp>
      <p:sp>
        <p:nvSpPr>
          <p:cNvPr id="23" name="Text 21"/>
          <p:cNvSpPr txBox="1"/>
          <p:nvPr/>
        </p:nvSpPr>
        <p:spPr>
          <a:xfrm>
            <a:off x="3401568" y="3749040"/>
            <a:ext cx="1060704" cy="548640"/>
          </a:xfrm>
          <a:prstGeom prst="rect">
            <a:avLst/>
          </a:prstGeom>
          <a:noFill/>
          <a:ln/>
        </p:spPr>
        <p:txBody>
          <a:bodyPr wrap="square" lIns="0" tIns="0" rIns="0" bIns="0" rtlCol="0" anchor="t"/>
          <a:lstStyle/>
          <a:p>
            <a:pPr indent="0" marL="0">
              <a:buNone/>
            </a:pPr>
            <a:r>
              <a:rPr lang="en-US" sz="1200" dirty="0">
                <a:solidFill>
                  <a:schemeClr val="tx1"/>
                </a:solidFill>
              </a:rPr>
              <a:t>1-2 days before, daytime</a:t>
            </a:r>
            <a:endParaRPr lang="en-US" sz="1200" dirty="0"/>
          </a:p>
        </p:txBody>
      </p:sp>
      <p:sp>
        <p:nvSpPr>
          <p:cNvPr id="24" name="Text 22"/>
          <p:cNvSpPr txBox="1"/>
          <p:nvPr/>
        </p:nvSpPr>
        <p:spPr>
          <a:xfrm>
            <a:off x="3401568" y="4617720"/>
            <a:ext cx="1060704" cy="274320"/>
          </a:xfrm>
          <a:prstGeom prst="rect">
            <a:avLst/>
          </a:prstGeom>
          <a:noFill/>
          <a:ln/>
        </p:spPr>
        <p:txBody>
          <a:bodyPr wrap="square" lIns="0" tIns="0" rIns="0" bIns="0" rtlCol="0" anchor="t"/>
          <a:lstStyle/>
          <a:p>
            <a:pPr indent="0" marL="0">
              <a:buNone/>
            </a:pPr>
            <a:r>
              <a:rPr lang="en-US" sz="1100" b="1" dirty="0">
                <a:solidFill>
                  <a:schemeClr val="accent1"/>
                </a:solidFill>
              </a:rPr>
              <a:t>Read-only</a:t>
            </a:r>
            <a:endParaRPr lang="en-US" sz="1100" dirty="0"/>
          </a:p>
        </p:txBody>
      </p:sp>
      <p:sp>
        <p:nvSpPr>
          <p:cNvPr id="25" name="Shape 23"/>
          <p:cNvSpPr/>
          <p:nvPr/>
        </p:nvSpPr>
        <p:spPr>
          <a:xfrm>
            <a:off x="5029200" y="1920240"/>
            <a:ext cx="548640" cy="548640"/>
          </a:xfrm>
          <a:prstGeom prst="ellipse">
            <a:avLst/>
          </a:prstGeom>
          <a:solidFill>
            <a:schemeClr val="accent1"/>
          </a:solidFill>
          <a:ln/>
        </p:spPr>
      </p:sp>
      <p:sp>
        <p:nvSpPr>
          <p:cNvPr id="26" name="Text 24"/>
          <p:cNvSpPr txBox="1"/>
          <p:nvPr/>
        </p:nvSpPr>
        <p:spPr>
          <a:xfrm>
            <a:off x="5029200" y="19202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7" name="job-2"/>
          <p:cNvSpPr/>
          <p:nvPr/>
        </p:nvSpPr>
        <p:spPr>
          <a:xfrm>
            <a:off x="4663440" y="2697480"/>
            <a:ext cx="1280160" cy="2331720"/>
          </a:xfrm>
          <a:prstGeom prst="roundRect">
            <a:avLst>
              <a:gd name="adj" fmla="val 5714"/>
            </a:avLst>
          </a:prstGeom>
          <a:solidFill>
            <a:schemeClr val="bg2"/>
          </a:solidFill>
          <a:ln/>
        </p:spPr>
      </p:sp>
      <p:sp>
        <p:nvSpPr>
          <p:cNvPr id="28" name="Text 26"/>
          <p:cNvSpPr txBox="1"/>
          <p:nvPr/>
        </p:nvSpPr>
        <p:spPr>
          <a:xfrm>
            <a:off x="4773168" y="2834640"/>
            <a:ext cx="1060704"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Pre-check</a:t>
            </a:r>
            <a:endParaRPr lang="en-US" sz="1600" dirty="0"/>
          </a:p>
        </p:txBody>
      </p:sp>
      <p:sp>
        <p:nvSpPr>
          <p:cNvPr id="29" name="Text 27"/>
          <p:cNvSpPr txBox="1"/>
          <p:nvPr/>
        </p:nvSpPr>
        <p:spPr>
          <a:xfrm>
            <a:off x="4773168" y="3246120"/>
            <a:ext cx="1060704" cy="457200"/>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precheck</a:t>
            </a:r>
            <a:endParaRPr lang="en-US" sz="900" dirty="0"/>
          </a:p>
        </p:txBody>
      </p:sp>
      <p:sp>
        <p:nvSpPr>
          <p:cNvPr id="30" name="Text 28"/>
          <p:cNvSpPr txBox="1"/>
          <p:nvPr/>
        </p:nvSpPr>
        <p:spPr>
          <a:xfrm>
            <a:off x="4773168" y="3749040"/>
            <a:ext cx="1060704" cy="548640"/>
          </a:xfrm>
          <a:prstGeom prst="rect">
            <a:avLst/>
          </a:prstGeom>
          <a:noFill/>
          <a:ln/>
        </p:spPr>
        <p:txBody>
          <a:bodyPr wrap="square" lIns="0" tIns="0" rIns="0" bIns="0" rtlCol="0" anchor="t"/>
          <a:lstStyle/>
          <a:p>
            <a:pPr indent="0" marL="0">
              <a:buNone/>
            </a:pPr>
            <a:r>
              <a:rPr lang="en-US" sz="1200" dirty="0">
                <a:solidFill>
                  <a:schemeClr val="tx1"/>
                </a:solidFill>
              </a:rPr>
              <a:t>Day of change</a:t>
            </a:r>
            <a:endParaRPr lang="en-US" sz="1200" dirty="0"/>
          </a:p>
        </p:txBody>
      </p:sp>
      <p:sp>
        <p:nvSpPr>
          <p:cNvPr id="31" name="Text 29"/>
          <p:cNvSpPr txBox="1"/>
          <p:nvPr/>
        </p:nvSpPr>
        <p:spPr>
          <a:xfrm>
            <a:off x="4773168" y="4617720"/>
            <a:ext cx="1060704" cy="274320"/>
          </a:xfrm>
          <a:prstGeom prst="rect">
            <a:avLst/>
          </a:prstGeom>
          <a:noFill/>
          <a:ln/>
        </p:spPr>
        <p:txBody>
          <a:bodyPr wrap="square" lIns="0" tIns="0" rIns="0" bIns="0" rtlCol="0" anchor="t"/>
          <a:lstStyle/>
          <a:p>
            <a:pPr indent="0" marL="0">
              <a:buNone/>
            </a:pPr>
            <a:r>
              <a:rPr lang="en-US" sz="1100" b="1" dirty="0">
                <a:solidFill>
                  <a:schemeClr val="accent1"/>
                </a:solidFill>
              </a:rPr>
              <a:t>Read-only</a:t>
            </a:r>
            <a:endParaRPr lang="en-US" sz="1100" dirty="0"/>
          </a:p>
        </p:txBody>
      </p:sp>
      <p:sp>
        <p:nvSpPr>
          <p:cNvPr id="32" name="Shape 30"/>
          <p:cNvSpPr/>
          <p:nvPr/>
        </p:nvSpPr>
        <p:spPr>
          <a:xfrm>
            <a:off x="6400800" y="1920240"/>
            <a:ext cx="548640" cy="548640"/>
          </a:xfrm>
          <a:prstGeom prst="ellipse">
            <a:avLst/>
          </a:prstGeom>
          <a:solidFill>
            <a:schemeClr val="accent2"/>
          </a:solidFill>
          <a:ln/>
        </p:spPr>
      </p:sp>
      <p:sp>
        <p:nvSpPr>
          <p:cNvPr id="33" name="Text 31"/>
          <p:cNvSpPr txBox="1"/>
          <p:nvPr/>
        </p:nvSpPr>
        <p:spPr>
          <a:xfrm>
            <a:off x="6400800" y="19202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4" name="job-3"/>
          <p:cNvSpPr/>
          <p:nvPr/>
        </p:nvSpPr>
        <p:spPr>
          <a:xfrm>
            <a:off x="6035040" y="2697480"/>
            <a:ext cx="1280160" cy="2331720"/>
          </a:xfrm>
          <a:prstGeom prst="roundRect">
            <a:avLst>
              <a:gd name="adj" fmla="val 5714"/>
            </a:avLst>
          </a:prstGeom>
          <a:solidFill>
            <a:schemeClr val="accent6"/>
          </a:solidFill>
          <a:ln/>
        </p:spPr>
      </p:sp>
      <p:sp>
        <p:nvSpPr>
          <p:cNvPr id="35" name="Text 33"/>
          <p:cNvSpPr txBox="1"/>
          <p:nvPr/>
        </p:nvSpPr>
        <p:spPr>
          <a:xfrm>
            <a:off x="6144768" y="2834640"/>
            <a:ext cx="1060704"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Stage 1</a:t>
            </a:r>
            <a:endParaRPr lang="en-US" sz="1600" dirty="0"/>
          </a:p>
        </p:txBody>
      </p:sp>
      <p:sp>
        <p:nvSpPr>
          <p:cNvPr id="36" name="Text 34"/>
          <p:cNvSpPr txBox="1"/>
          <p:nvPr/>
        </p:nvSpPr>
        <p:spPr>
          <a:xfrm>
            <a:off x="6144768" y="3246120"/>
            <a:ext cx="1060704" cy="457200"/>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stage1_convert</a:t>
            </a:r>
            <a:endParaRPr lang="en-US" sz="900" dirty="0"/>
          </a:p>
        </p:txBody>
      </p:sp>
      <p:sp>
        <p:nvSpPr>
          <p:cNvPr id="37" name="Text 35"/>
          <p:cNvSpPr txBox="1"/>
          <p:nvPr/>
        </p:nvSpPr>
        <p:spPr>
          <a:xfrm>
            <a:off x="6144768" y="3749040"/>
            <a:ext cx="1060704" cy="548640"/>
          </a:xfrm>
          <a:prstGeom prst="rect">
            <a:avLst/>
          </a:prstGeom>
          <a:noFill/>
          <a:ln/>
        </p:spPr>
        <p:txBody>
          <a:bodyPr wrap="square" lIns="0" tIns="0" rIns="0" bIns="0" rtlCol="0" anchor="t"/>
          <a:lstStyle/>
          <a:p>
            <a:pPr indent="0" marL="0">
              <a:buNone/>
            </a:pPr>
            <a:r>
              <a:rPr lang="en-US" sz="1200" dirty="0">
                <a:solidFill>
                  <a:schemeClr val="tx1"/>
                </a:solidFill>
              </a:rPr>
              <a:t>Change window</a:t>
            </a:r>
            <a:endParaRPr lang="en-US" sz="1200" dirty="0"/>
          </a:p>
        </p:txBody>
      </p:sp>
      <p:sp>
        <p:nvSpPr>
          <p:cNvPr id="38" name="Text 36"/>
          <p:cNvSpPr txBox="1"/>
          <p:nvPr/>
        </p:nvSpPr>
        <p:spPr>
          <a:xfrm>
            <a:off x="6144768" y="4617720"/>
            <a:ext cx="1060704" cy="274320"/>
          </a:xfrm>
          <a:prstGeom prst="rect">
            <a:avLst/>
          </a:prstGeom>
          <a:noFill/>
          <a:ln/>
        </p:spPr>
        <p:txBody>
          <a:bodyPr wrap="square" lIns="0" tIns="0" rIns="0" bIns="0" rtlCol="0" anchor="t"/>
          <a:lstStyle/>
          <a:p>
            <a:pPr indent="0" marL="0">
              <a:buNone/>
            </a:pPr>
            <a:r>
              <a:rPr lang="en-US" sz="1100" b="1" dirty="0">
                <a:solidFill>
                  <a:schemeClr val="accent5"/>
                </a:solidFill>
              </a:rPr>
              <a:t>Changes config</a:t>
            </a:r>
            <a:endParaRPr lang="en-US" sz="1100" dirty="0"/>
          </a:p>
        </p:txBody>
      </p:sp>
      <p:sp>
        <p:nvSpPr>
          <p:cNvPr id="39" name="Shape 37"/>
          <p:cNvSpPr/>
          <p:nvPr/>
        </p:nvSpPr>
        <p:spPr>
          <a:xfrm>
            <a:off x="7772400" y="1920240"/>
            <a:ext cx="548640" cy="548640"/>
          </a:xfrm>
          <a:prstGeom prst="ellipse">
            <a:avLst/>
          </a:prstGeom>
          <a:solidFill>
            <a:schemeClr val="accent2"/>
          </a:solidFill>
          <a:ln/>
        </p:spPr>
      </p:sp>
      <p:sp>
        <p:nvSpPr>
          <p:cNvPr id="40" name="Text 38"/>
          <p:cNvSpPr txBox="1"/>
          <p:nvPr/>
        </p:nvSpPr>
        <p:spPr>
          <a:xfrm>
            <a:off x="7772400" y="19202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1" name="job-4"/>
          <p:cNvSpPr/>
          <p:nvPr/>
        </p:nvSpPr>
        <p:spPr>
          <a:xfrm>
            <a:off x="7406640" y="2697480"/>
            <a:ext cx="1280160" cy="2331720"/>
          </a:xfrm>
          <a:prstGeom prst="roundRect">
            <a:avLst>
              <a:gd name="adj" fmla="val 5714"/>
            </a:avLst>
          </a:prstGeom>
          <a:solidFill>
            <a:schemeClr val="accent6"/>
          </a:solidFill>
          <a:ln/>
        </p:spPr>
      </p:sp>
      <p:sp>
        <p:nvSpPr>
          <p:cNvPr id="42" name="Text 40"/>
          <p:cNvSpPr txBox="1"/>
          <p:nvPr/>
        </p:nvSpPr>
        <p:spPr>
          <a:xfrm>
            <a:off x="7516368" y="2834640"/>
            <a:ext cx="1060704"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Stage 2</a:t>
            </a:r>
            <a:endParaRPr lang="en-US" sz="1600" dirty="0"/>
          </a:p>
        </p:txBody>
      </p:sp>
      <p:sp>
        <p:nvSpPr>
          <p:cNvPr id="43" name="Text 41"/>
          <p:cNvSpPr txBox="1"/>
          <p:nvPr/>
        </p:nvSpPr>
        <p:spPr>
          <a:xfrm>
            <a:off x="7516368" y="3246120"/>
            <a:ext cx="1060704" cy="457200"/>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stage2_golden</a:t>
            </a:r>
            <a:endParaRPr lang="en-US" sz="900" dirty="0"/>
          </a:p>
        </p:txBody>
      </p:sp>
      <p:sp>
        <p:nvSpPr>
          <p:cNvPr id="44" name="Text 42"/>
          <p:cNvSpPr txBox="1"/>
          <p:nvPr/>
        </p:nvSpPr>
        <p:spPr>
          <a:xfrm>
            <a:off x="7516368" y="3749040"/>
            <a:ext cx="1060704" cy="548640"/>
          </a:xfrm>
          <a:prstGeom prst="rect">
            <a:avLst/>
          </a:prstGeom>
          <a:noFill/>
          <a:ln/>
        </p:spPr>
        <p:txBody>
          <a:bodyPr wrap="square" lIns="0" tIns="0" rIns="0" bIns="0" rtlCol="0" anchor="t"/>
          <a:lstStyle/>
          <a:p>
            <a:pPr indent="0" marL="0">
              <a:buNone/>
            </a:pPr>
            <a:r>
              <a:rPr lang="en-US" sz="1200" dirty="0">
                <a:solidFill>
                  <a:schemeClr val="tx1"/>
                </a:solidFill>
              </a:rPr>
              <a:t>Same window</a:t>
            </a:r>
            <a:endParaRPr lang="en-US" sz="1200" dirty="0"/>
          </a:p>
        </p:txBody>
      </p:sp>
      <p:sp>
        <p:nvSpPr>
          <p:cNvPr id="45" name="Text 43"/>
          <p:cNvSpPr txBox="1"/>
          <p:nvPr/>
        </p:nvSpPr>
        <p:spPr>
          <a:xfrm>
            <a:off x="7516368" y="4617720"/>
            <a:ext cx="1060704" cy="274320"/>
          </a:xfrm>
          <a:prstGeom prst="rect">
            <a:avLst/>
          </a:prstGeom>
          <a:noFill/>
          <a:ln/>
        </p:spPr>
        <p:txBody>
          <a:bodyPr wrap="square" lIns="0" tIns="0" rIns="0" bIns="0" rtlCol="0" anchor="t"/>
          <a:lstStyle/>
          <a:p>
            <a:pPr indent="0" marL="0">
              <a:buNone/>
            </a:pPr>
            <a:r>
              <a:rPr lang="en-US" sz="1100" b="1" dirty="0">
                <a:solidFill>
                  <a:schemeClr val="accent5"/>
                </a:solidFill>
              </a:rPr>
              <a:t>Changes config</a:t>
            </a:r>
            <a:endParaRPr lang="en-US" sz="1100" dirty="0"/>
          </a:p>
        </p:txBody>
      </p:sp>
      <p:sp>
        <p:nvSpPr>
          <p:cNvPr id="46" name="Shape 44"/>
          <p:cNvSpPr/>
          <p:nvPr/>
        </p:nvSpPr>
        <p:spPr>
          <a:xfrm>
            <a:off x="9144000" y="1920240"/>
            <a:ext cx="548640" cy="548640"/>
          </a:xfrm>
          <a:prstGeom prst="ellipse">
            <a:avLst/>
          </a:prstGeom>
          <a:solidFill>
            <a:schemeClr val="accent1"/>
          </a:solidFill>
          <a:ln/>
        </p:spPr>
      </p:sp>
      <p:sp>
        <p:nvSpPr>
          <p:cNvPr id="47" name="Text 45"/>
          <p:cNvSpPr txBox="1"/>
          <p:nvPr/>
        </p:nvSpPr>
        <p:spPr>
          <a:xfrm>
            <a:off x="9144000" y="19202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48" name="job-5"/>
          <p:cNvSpPr/>
          <p:nvPr/>
        </p:nvSpPr>
        <p:spPr>
          <a:xfrm>
            <a:off x="8778240" y="2697480"/>
            <a:ext cx="1280160" cy="2331720"/>
          </a:xfrm>
          <a:prstGeom prst="roundRect">
            <a:avLst>
              <a:gd name="adj" fmla="val 5714"/>
            </a:avLst>
          </a:prstGeom>
          <a:solidFill>
            <a:schemeClr val="bg2"/>
          </a:solidFill>
          <a:ln/>
        </p:spPr>
      </p:sp>
      <p:sp>
        <p:nvSpPr>
          <p:cNvPr id="49" name="Text 47"/>
          <p:cNvSpPr txBox="1"/>
          <p:nvPr/>
        </p:nvSpPr>
        <p:spPr>
          <a:xfrm>
            <a:off x="8887968" y="2834640"/>
            <a:ext cx="1060704"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Next-day</a:t>
            </a:r>
            <a:endParaRPr lang="en-US" sz="1600" dirty="0"/>
          </a:p>
        </p:txBody>
      </p:sp>
      <p:sp>
        <p:nvSpPr>
          <p:cNvPr id="50" name="Text 48"/>
          <p:cNvSpPr txBox="1"/>
          <p:nvPr/>
        </p:nvSpPr>
        <p:spPr>
          <a:xfrm>
            <a:off x="8887968" y="3246120"/>
            <a:ext cx="1060704" cy="457200"/>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nextday_check</a:t>
            </a:r>
            <a:endParaRPr lang="en-US" sz="900" dirty="0"/>
          </a:p>
        </p:txBody>
      </p:sp>
      <p:sp>
        <p:nvSpPr>
          <p:cNvPr id="51" name="Text 49"/>
          <p:cNvSpPr txBox="1"/>
          <p:nvPr/>
        </p:nvSpPr>
        <p:spPr>
          <a:xfrm>
            <a:off x="8887968" y="3749040"/>
            <a:ext cx="1060704" cy="548640"/>
          </a:xfrm>
          <a:prstGeom prst="rect">
            <a:avLst/>
          </a:prstGeom>
          <a:noFill/>
          <a:ln/>
        </p:spPr>
        <p:txBody>
          <a:bodyPr wrap="square" lIns="0" tIns="0" rIns="0" bIns="0" rtlCol="0" anchor="t"/>
          <a:lstStyle/>
          <a:p>
            <a:pPr indent="0" marL="0">
              <a:buNone/>
            </a:pPr>
            <a:r>
              <a:rPr lang="en-US" sz="1200" dirty="0">
                <a:solidFill>
                  <a:schemeClr val="tx1"/>
                </a:solidFill>
              </a:rPr>
              <a:t>Next morning</a:t>
            </a:r>
            <a:endParaRPr lang="en-US" sz="1200" dirty="0"/>
          </a:p>
        </p:txBody>
      </p:sp>
      <p:sp>
        <p:nvSpPr>
          <p:cNvPr id="52" name="Text 50"/>
          <p:cNvSpPr txBox="1"/>
          <p:nvPr/>
        </p:nvSpPr>
        <p:spPr>
          <a:xfrm>
            <a:off x="8887968" y="4617720"/>
            <a:ext cx="1060704" cy="274320"/>
          </a:xfrm>
          <a:prstGeom prst="rect">
            <a:avLst/>
          </a:prstGeom>
          <a:noFill/>
          <a:ln/>
        </p:spPr>
        <p:txBody>
          <a:bodyPr wrap="square" lIns="0" tIns="0" rIns="0" bIns="0" rtlCol="0" anchor="t"/>
          <a:lstStyle/>
          <a:p>
            <a:pPr indent="0" marL="0">
              <a:buNone/>
            </a:pPr>
            <a:r>
              <a:rPr lang="en-US" sz="1100" b="1" dirty="0">
                <a:solidFill>
                  <a:schemeClr val="accent1"/>
                </a:solidFill>
              </a:rPr>
              <a:t>Read-only</a:t>
            </a:r>
            <a:endParaRPr lang="en-US" sz="1100" dirty="0"/>
          </a:p>
        </p:txBody>
      </p:sp>
      <p:sp>
        <p:nvSpPr>
          <p:cNvPr id="53" name="Shape 51"/>
          <p:cNvSpPr/>
          <p:nvPr/>
        </p:nvSpPr>
        <p:spPr>
          <a:xfrm>
            <a:off x="10515600" y="1920240"/>
            <a:ext cx="548640" cy="548640"/>
          </a:xfrm>
          <a:prstGeom prst="ellipse">
            <a:avLst/>
          </a:prstGeom>
          <a:solidFill>
            <a:schemeClr val="accent2"/>
          </a:solidFill>
          <a:ln/>
        </p:spPr>
      </p:sp>
      <p:sp>
        <p:nvSpPr>
          <p:cNvPr id="54" name="Text 52"/>
          <p:cNvSpPr txBox="1"/>
          <p:nvPr/>
        </p:nvSpPr>
        <p:spPr>
          <a:xfrm>
            <a:off x="10515600" y="19202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55" name="job-6"/>
          <p:cNvSpPr/>
          <p:nvPr/>
        </p:nvSpPr>
        <p:spPr>
          <a:xfrm>
            <a:off x="10149840" y="2697480"/>
            <a:ext cx="1280160" cy="2331720"/>
          </a:xfrm>
          <a:prstGeom prst="roundRect">
            <a:avLst>
              <a:gd name="adj" fmla="val 5714"/>
            </a:avLst>
          </a:prstGeom>
          <a:solidFill>
            <a:schemeClr val="accent6"/>
          </a:solidFill>
          <a:ln/>
        </p:spPr>
      </p:sp>
      <p:sp>
        <p:nvSpPr>
          <p:cNvPr id="56" name="Text 54"/>
          <p:cNvSpPr txBox="1"/>
          <p:nvPr/>
        </p:nvSpPr>
        <p:spPr>
          <a:xfrm>
            <a:off x="10259568" y="2834640"/>
            <a:ext cx="1060704"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Stage 3</a:t>
            </a:r>
            <a:endParaRPr lang="en-US" sz="1600" dirty="0"/>
          </a:p>
        </p:txBody>
      </p:sp>
      <p:sp>
        <p:nvSpPr>
          <p:cNvPr id="57" name="Text 55"/>
          <p:cNvSpPr txBox="1"/>
          <p:nvPr/>
        </p:nvSpPr>
        <p:spPr>
          <a:xfrm>
            <a:off x="10259568" y="3246120"/>
            <a:ext cx="1060704" cy="457200"/>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stage3_cleanup</a:t>
            </a:r>
            <a:endParaRPr lang="en-US" sz="900" dirty="0"/>
          </a:p>
        </p:txBody>
      </p:sp>
      <p:sp>
        <p:nvSpPr>
          <p:cNvPr id="58" name="Text 56"/>
          <p:cNvSpPr txBox="1"/>
          <p:nvPr/>
        </p:nvSpPr>
        <p:spPr>
          <a:xfrm>
            <a:off x="10259568" y="3749040"/>
            <a:ext cx="1060704" cy="548640"/>
          </a:xfrm>
          <a:prstGeom prst="rect">
            <a:avLst/>
          </a:prstGeom>
          <a:noFill/>
          <a:ln/>
        </p:spPr>
        <p:txBody>
          <a:bodyPr wrap="square" lIns="0" tIns="0" rIns="0" bIns="0" rtlCol="0" anchor="t"/>
          <a:lstStyle/>
          <a:p>
            <a:pPr indent="0" marL="0">
              <a:buNone/>
            </a:pPr>
            <a:r>
              <a:rPr lang="en-US" sz="1200" dirty="0">
                <a:solidFill>
                  <a:schemeClr val="tx1"/>
                </a:solidFill>
              </a:rPr>
              <a:t>After soak</a:t>
            </a:r>
            <a:endParaRPr lang="en-US" sz="1200" dirty="0"/>
          </a:p>
        </p:txBody>
      </p:sp>
      <p:sp>
        <p:nvSpPr>
          <p:cNvPr id="59" name="Text 57"/>
          <p:cNvSpPr txBox="1"/>
          <p:nvPr/>
        </p:nvSpPr>
        <p:spPr>
          <a:xfrm>
            <a:off x="10259568" y="4617720"/>
            <a:ext cx="1060704" cy="274320"/>
          </a:xfrm>
          <a:prstGeom prst="rect">
            <a:avLst/>
          </a:prstGeom>
          <a:noFill/>
          <a:ln/>
        </p:spPr>
        <p:txBody>
          <a:bodyPr wrap="square" lIns="0" tIns="0" rIns="0" bIns="0" rtlCol="0" anchor="t"/>
          <a:lstStyle/>
          <a:p>
            <a:pPr indent="0" marL="0">
              <a:buNone/>
            </a:pPr>
            <a:r>
              <a:rPr lang="en-US" sz="1100" b="1" dirty="0">
                <a:solidFill>
                  <a:schemeClr val="accent5"/>
                </a:solidFill>
              </a:rPr>
              <a:t>Changes config</a:t>
            </a:r>
            <a:endParaRPr lang="en-US" sz="1100" dirty="0"/>
          </a:p>
        </p:txBody>
      </p:sp>
      <p:sp>
        <p:nvSpPr>
          <p:cNvPr id="60" name="rollback-note"/>
          <p:cNvSpPr/>
          <p:nvPr/>
        </p:nvSpPr>
        <p:spPr>
          <a:xfrm>
            <a:off x="548640" y="5349240"/>
            <a:ext cx="11064240" cy="731520"/>
          </a:xfrm>
          <a:prstGeom prst="roundRect">
            <a:avLst>
              <a:gd name="adj" fmla="val 10000"/>
            </a:avLst>
          </a:prstGeom>
          <a:solidFill>
            <a:schemeClr val="bg2"/>
          </a:solidFill>
          <a:ln/>
        </p:spPr>
      </p:sp>
      <p:sp>
        <p:nvSpPr>
          <p:cNvPr id="61" name="Text 59"/>
          <p:cNvSpPr txBox="1"/>
          <p:nvPr/>
        </p:nvSpPr>
        <p:spPr>
          <a:xfrm>
            <a:off x="777240" y="5349240"/>
            <a:ext cx="10607040" cy="731520"/>
          </a:xfrm>
          <a:prstGeom prst="rect">
            <a:avLst/>
          </a:prstGeom>
          <a:noFill/>
          <a:ln/>
        </p:spPr>
        <p:txBody>
          <a:bodyPr wrap="square" lIns="0" tIns="0" rIns="0" bIns="0" rtlCol="0" anchor="ctr"/>
          <a:lstStyle/>
          <a:p>
            <a:pPr indent="0" marL="0">
              <a:buNone/>
            </a:pPr>
            <a:r>
              <a:rPr lang="en-US" sz="1400" b="1" dirty="0">
                <a:solidFill>
                  <a:schemeClr val="tx2"/>
                </a:solidFill>
              </a:rPr>
              <a:t>Job names above drop the ibns_ prefix. Plus one on-demand job: </a:t>
            </a:r>
            <a:pPr indent="0" marL="0">
              <a:buNone/>
            </a:pPr>
            <a:r>
              <a:rPr lang="en-US" sz="1400" dirty="0">
                <a:solidFill>
                  <a:schemeClr val="tx2"/>
                </a:solidFill>
                <a:latin typeface="Courier New" pitchFamily="34" charset="0"/>
                <a:ea typeface="Courier New" pitchFamily="34" charset="-122"/>
                <a:cs typeface="Courier New" pitchFamily="34" charset="-120"/>
              </a:rPr>
              <a:t>ibns_rollback_golden</a:t>
            </a:r>
            <a:pPr indent="0" marL="0">
              <a:buNone/>
            </a:pPr>
            <a:r>
              <a:rPr lang="en-US" sz="1400" dirty="0">
                <a:solidFill>
                  <a:schemeClr val="tx1"/>
                </a:solidFill>
              </a:rPr>
              <a:t> re-points ports from the golden config back to the converted config, no reload. Stage 2 also does this automatically on failure.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Every job starts by locking down its targets</a:t>
            </a:r>
            <a:endParaRPr lang="en-US" sz="2800" dirty="0"/>
          </a:p>
        </p:txBody>
      </p:sp>
      <p:sp>
        <p:nvSpPr>
          <p:cNvPr id="3" name="target-0"/>
          <p:cNvSpPr/>
          <p:nvPr/>
        </p:nvSpPr>
        <p:spPr>
          <a:xfrm>
            <a:off x="548640" y="1554480"/>
            <a:ext cx="2057400" cy="3017520"/>
          </a:xfrm>
          <a:prstGeom prst="roundRect">
            <a:avLst>
              <a:gd name="adj" fmla="val 3556"/>
            </a:avLst>
          </a:prstGeom>
          <a:solidFill>
            <a:schemeClr val="bg2"/>
          </a:solidFill>
          <a:ln/>
        </p:spPr>
      </p:sp>
      <p:sp>
        <p:nvSpPr>
          <p:cNvPr id="4" name="Shape 2"/>
          <p:cNvSpPr/>
          <p:nvPr/>
        </p:nvSpPr>
        <p:spPr>
          <a:xfrm>
            <a:off x="731520" y="1737360"/>
            <a:ext cx="411480" cy="411480"/>
          </a:xfrm>
          <a:prstGeom prst="ellipse">
            <a:avLst/>
          </a:prstGeom>
          <a:solidFill>
            <a:schemeClr val="accent2"/>
          </a:solidFill>
          <a:ln/>
        </p:spPr>
      </p:sp>
      <p:sp>
        <p:nvSpPr>
          <p:cNvPr id="5" name="Text 3"/>
          <p:cNvSpPr txBox="1"/>
          <p:nvPr/>
        </p:nvSpPr>
        <p:spPr>
          <a:xfrm>
            <a:off x="731520"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280160" y="1764792"/>
            <a:ext cx="11887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Parse</a:t>
            </a:r>
            <a:endParaRPr lang="en-US" sz="1800" dirty="0"/>
          </a:p>
        </p:txBody>
      </p:sp>
      <p:sp>
        <p:nvSpPr>
          <p:cNvPr id="7" name="Text 5"/>
          <p:cNvSpPr txBox="1"/>
          <p:nvPr/>
        </p:nvSpPr>
        <p:spPr>
          <a:xfrm>
            <a:off x="731520" y="2377440"/>
            <a:ext cx="1691640" cy="548640"/>
          </a:xfrm>
          <a:prstGeom prst="rect">
            <a:avLst/>
          </a:prstGeom>
          <a:noFill/>
          <a:ln/>
        </p:spPr>
        <p:txBody>
          <a:bodyPr wrap="square" lIns="0" tIns="0" rIns="0" bIns="0" rtlCol="0" anchor="t"/>
          <a:lstStyle/>
          <a:p>
            <a:pPr indent="0" marL="0">
              <a:buNone/>
            </a:pPr>
            <a:r>
              <a:rPr lang="en-US" sz="1000" dirty="0">
                <a:solidFill>
                  <a:schemeClr val="accent1"/>
                </a:solidFill>
                <a:latin typeface="Courier New" pitchFamily="34" charset="0"/>
                <a:ea typeface="Courier New" pitchFamily="34" charset="-122"/>
                <a:cs typeface="Courier New" pitchFamily="34" charset="-120"/>
              </a:rPr>
              <a:t>odyssey_parse_devices</a:t>
            </a:r>
            <a:endParaRPr lang="en-US" sz="1000" dirty="0"/>
          </a:p>
        </p:txBody>
      </p:sp>
      <p:sp>
        <p:nvSpPr>
          <p:cNvPr id="8" name="Text 6"/>
          <p:cNvSpPr txBox="1"/>
          <p:nvPr/>
        </p:nvSpPr>
        <p:spPr>
          <a:xfrm>
            <a:off x="731520" y="2971800"/>
            <a:ext cx="1691640" cy="1097280"/>
          </a:xfrm>
          <a:prstGeom prst="rect">
            <a:avLst/>
          </a:prstGeom>
          <a:noFill/>
          <a:ln/>
        </p:spPr>
        <p:txBody>
          <a:bodyPr wrap="square" lIns="0" tIns="0" rIns="0" bIns="0" rtlCol="0" anchor="t"/>
          <a:lstStyle/>
          <a:p>
            <a:pPr indent="0" marL="0">
              <a:buNone/>
            </a:pPr>
            <a:r>
              <a:rPr lang="en-US" sz="1400" dirty="0">
                <a:solidFill>
                  <a:schemeClr val="tx1"/>
                </a:solidFill>
              </a:rPr>
              <a:t>Survey string to a hostname list</a:t>
            </a:r>
            <a:endParaRPr lang="en-US" sz="1400" dirty="0"/>
          </a:p>
        </p:txBody>
      </p:sp>
      <p:sp>
        <p:nvSpPr>
          <p:cNvPr id="9" name="Text 7"/>
          <p:cNvSpPr txBox="1"/>
          <p:nvPr/>
        </p:nvSpPr>
        <p:spPr>
          <a:xfrm>
            <a:off x="731520" y="4160520"/>
            <a:ext cx="1691640" cy="274320"/>
          </a:xfrm>
          <a:prstGeom prst="rect">
            <a:avLst/>
          </a:prstGeom>
          <a:noFill/>
          <a:ln/>
        </p:spPr>
        <p:txBody>
          <a:bodyPr wrap="square" lIns="0" tIns="0" rIns="0" bIns="0" rtlCol="0" anchor="t"/>
          <a:lstStyle/>
          <a:p>
            <a:pPr indent="0" marL="0">
              <a:buNone/>
            </a:pPr>
            <a:r>
              <a:rPr lang="en-US" sz="1100" i="1" dirty="0">
                <a:solidFill>
                  <a:schemeClr val="accent3"/>
                </a:solidFill>
              </a:rPr>
              <a:t>reused</a:t>
            </a:r>
            <a:endParaRPr lang="en-US" sz="1100" dirty="0"/>
          </a:p>
        </p:txBody>
      </p:sp>
      <p:sp>
        <p:nvSpPr>
          <p:cNvPr id="10" name="Shape 8"/>
          <p:cNvSpPr/>
          <p:nvPr/>
        </p:nvSpPr>
        <p:spPr>
          <a:xfrm>
            <a:off x="2606040" y="3063240"/>
            <a:ext cx="192024" cy="0"/>
          </a:xfrm>
          <a:prstGeom prst="line">
            <a:avLst/>
          </a:prstGeom>
          <a:noFill/>
          <a:ln w="19050">
            <a:solidFill>
              <a:schemeClr val="accent3"/>
            </a:solidFill>
            <a:prstDash val="solid"/>
            <a:tailEnd type="triangle"/>
          </a:ln>
        </p:spPr>
      </p:sp>
      <p:sp>
        <p:nvSpPr>
          <p:cNvPr id="11" name="target-1"/>
          <p:cNvSpPr/>
          <p:nvPr/>
        </p:nvSpPr>
        <p:spPr>
          <a:xfrm>
            <a:off x="2798064" y="1554480"/>
            <a:ext cx="2057400" cy="3017520"/>
          </a:xfrm>
          <a:prstGeom prst="roundRect">
            <a:avLst>
              <a:gd name="adj" fmla="val 3556"/>
            </a:avLst>
          </a:prstGeom>
          <a:solidFill>
            <a:schemeClr val="bg2"/>
          </a:solidFill>
          <a:ln/>
        </p:spPr>
      </p:sp>
      <p:sp>
        <p:nvSpPr>
          <p:cNvPr id="12" name="Shape 10"/>
          <p:cNvSpPr/>
          <p:nvPr/>
        </p:nvSpPr>
        <p:spPr>
          <a:xfrm>
            <a:off x="2980944" y="1737360"/>
            <a:ext cx="411480" cy="411480"/>
          </a:xfrm>
          <a:prstGeom prst="ellipse">
            <a:avLst/>
          </a:prstGeom>
          <a:solidFill>
            <a:schemeClr val="accent2"/>
          </a:solidFill>
          <a:ln/>
        </p:spPr>
      </p:sp>
      <p:sp>
        <p:nvSpPr>
          <p:cNvPr id="13" name="Text 11"/>
          <p:cNvSpPr txBox="1"/>
          <p:nvPr/>
        </p:nvSpPr>
        <p:spPr>
          <a:xfrm>
            <a:off x="2980944"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2"/>
          <p:cNvSpPr txBox="1"/>
          <p:nvPr/>
        </p:nvSpPr>
        <p:spPr>
          <a:xfrm>
            <a:off x="3529584" y="1764792"/>
            <a:ext cx="11887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Validate</a:t>
            </a:r>
            <a:endParaRPr lang="en-US" sz="1800" dirty="0"/>
          </a:p>
        </p:txBody>
      </p:sp>
      <p:sp>
        <p:nvSpPr>
          <p:cNvPr id="15" name="Text 13"/>
          <p:cNvSpPr txBox="1"/>
          <p:nvPr/>
        </p:nvSpPr>
        <p:spPr>
          <a:xfrm>
            <a:off x="2980944" y="2377440"/>
            <a:ext cx="1691640" cy="548640"/>
          </a:xfrm>
          <a:prstGeom prst="rect">
            <a:avLst/>
          </a:prstGeom>
          <a:noFill/>
          <a:ln/>
        </p:spPr>
        <p:txBody>
          <a:bodyPr wrap="square" lIns="0" tIns="0" rIns="0" bIns="0" rtlCol="0" anchor="t"/>
          <a:lstStyle/>
          <a:p>
            <a:pPr indent="0" marL="0">
              <a:buNone/>
            </a:pPr>
            <a:r>
              <a:rPr lang="en-US" sz="1000" dirty="0">
                <a:solidFill>
                  <a:schemeClr val="accent1"/>
                </a:solidFill>
                <a:latin typeface="Courier New" pitchFamily="34" charset="0"/>
                <a:ea typeface="Courier New" pitchFamily="34" charset="-122"/>
                <a:cs typeface="Courier New" pitchFamily="34" charset="-120"/>
              </a:rPr>
              <a:t>input_validation + ibns_input_validation</a:t>
            </a:r>
            <a:endParaRPr lang="en-US" sz="1000" dirty="0"/>
          </a:p>
        </p:txBody>
      </p:sp>
      <p:sp>
        <p:nvSpPr>
          <p:cNvPr id="16" name="Text 14"/>
          <p:cNvSpPr txBox="1"/>
          <p:nvPr/>
        </p:nvSpPr>
        <p:spPr>
          <a:xfrm>
            <a:off x="2980944" y="2971800"/>
            <a:ext cx="1691640" cy="1097280"/>
          </a:xfrm>
          <a:prstGeom prst="rect">
            <a:avLst/>
          </a:prstGeom>
          <a:noFill/>
          <a:ln/>
        </p:spPr>
        <p:txBody>
          <a:bodyPr wrap="square" lIns="0" tIns="0" rIns="0" bIns="0" rtlCol="0" anchor="t"/>
          <a:lstStyle/>
          <a:p>
            <a:pPr indent="0" marL="0">
              <a:buNone/>
            </a:pPr>
            <a:r>
              <a:rPr lang="en-US" sz="1400" dirty="0">
                <a:solidFill>
                  <a:schemeClr val="tx1"/>
                </a:solidFill>
              </a:rPr>
              <a:t>Hostname format, change number, max switches per job</a:t>
            </a:r>
            <a:endParaRPr lang="en-US" sz="1400" dirty="0"/>
          </a:p>
        </p:txBody>
      </p:sp>
      <p:sp>
        <p:nvSpPr>
          <p:cNvPr id="17" name="Text 15"/>
          <p:cNvSpPr txBox="1"/>
          <p:nvPr/>
        </p:nvSpPr>
        <p:spPr>
          <a:xfrm>
            <a:off x="2980944" y="4160520"/>
            <a:ext cx="1691640" cy="274320"/>
          </a:xfrm>
          <a:prstGeom prst="rect">
            <a:avLst/>
          </a:prstGeom>
          <a:noFill/>
          <a:ln/>
        </p:spPr>
        <p:txBody>
          <a:bodyPr wrap="square" lIns="0" tIns="0" rIns="0" bIns="0" rtlCol="0" anchor="t"/>
          <a:lstStyle/>
          <a:p>
            <a:pPr indent="0" marL="0">
              <a:buNone/>
            </a:pPr>
            <a:r>
              <a:rPr lang="en-US" sz="1100" i="1" dirty="0">
                <a:solidFill>
                  <a:schemeClr val="accent3"/>
                </a:solidFill>
              </a:rPr>
              <a:t>reused + new</a:t>
            </a:r>
            <a:endParaRPr lang="en-US" sz="1100" dirty="0"/>
          </a:p>
        </p:txBody>
      </p:sp>
      <p:sp>
        <p:nvSpPr>
          <p:cNvPr id="18" name="Shape 16"/>
          <p:cNvSpPr/>
          <p:nvPr/>
        </p:nvSpPr>
        <p:spPr>
          <a:xfrm>
            <a:off x="4855464" y="3063240"/>
            <a:ext cx="192024" cy="0"/>
          </a:xfrm>
          <a:prstGeom prst="line">
            <a:avLst/>
          </a:prstGeom>
          <a:noFill/>
          <a:ln w="19050">
            <a:solidFill>
              <a:schemeClr val="accent3"/>
            </a:solidFill>
            <a:prstDash val="solid"/>
            <a:tailEnd type="triangle"/>
          </a:ln>
        </p:spPr>
      </p:sp>
      <p:sp>
        <p:nvSpPr>
          <p:cNvPr id="19" name="target-2"/>
          <p:cNvSpPr/>
          <p:nvPr/>
        </p:nvSpPr>
        <p:spPr>
          <a:xfrm>
            <a:off x="5047488" y="1554480"/>
            <a:ext cx="2057400" cy="3017520"/>
          </a:xfrm>
          <a:prstGeom prst="roundRect">
            <a:avLst>
              <a:gd name="adj" fmla="val 3556"/>
            </a:avLst>
          </a:prstGeom>
          <a:solidFill>
            <a:schemeClr val="bg2"/>
          </a:solidFill>
          <a:ln/>
        </p:spPr>
      </p:sp>
      <p:sp>
        <p:nvSpPr>
          <p:cNvPr id="20" name="Shape 18"/>
          <p:cNvSpPr/>
          <p:nvPr/>
        </p:nvSpPr>
        <p:spPr>
          <a:xfrm>
            <a:off x="5230368" y="1737360"/>
            <a:ext cx="411480" cy="411480"/>
          </a:xfrm>
          <a:prstGeom prst="ellipse">
            <a:avLst/>
          </a:prstGeom>
          <a:solidFill>
            <a:schemeClr val="accent2"/>
          </a:solidFill>
          <a:ln/>
        </p:spPr>
      </p:sp>
      <p:sp>
        <p:nvSpPr>
          <p:cNvPr id="21" name="Text 19"/>
          <p:cNvSpPr txBox="1"/>
          <p:nvPr/>
        </p:nvSpPr>
        <p:spPr>
          <a:xfrm>
            <a:off x="5230368"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Text 20"/>
          <p:cNvSpPr txBox="1"/>
          <p:nvPr/>
        </p:nvSpPr>
        <p:spPr>
          <a:xfrm>
            <a:off x="5779008" y="1764792"/>
            <a:ext cx="11887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Match</a:t>
            </a:r>
            <a:endParaRPr lang="en-US" sz="1800" dirty="0"/>
          </a:p>
        </p:txBody>
      </p:sp>
      <p:sp>
        <p:nvSpPr>
          <p:cNvPr id="23" name="Text 21"/>
          <p:cNvSpPr txBox="1"/>
          <p:nvPr/>
        </p:nvSpPr>
        <p:spPr>
          <a:xfrm>
            <a:off x="5230368" y="2377440"/>
            <a:ext cx="1691640" cy="548640"/>
          </a:xfrm>
          <a:prstGeom prst="rect">
            <a:avLst/>
          </a:prstGeom>
          <a:noFill/>
          <a:ln/>
        </p:spPr>
        <p:txBody>
          <a:bodyPr wrap="square" lIns="0" tIns="0" rIns="0" bIns="0" rtlCol="0" anchor="t"/>
          <a:lstStyle/>
          <a:p>
            <a:pPr indent="0" marL="0">
              <a:buNone/>
            </a:pPr>
            <a:r>
              <a:rPr lang="en-US" sz="1000" dirty="0">
                <a:solidFill>
                  <a:schemeClr val="accent1"/>
                </a:solidFill>
                <a:latin typeface="Courier New" pitchFamily="34" charset="0"/>
                <a:ea typeface="Courier New" pitchFamily="34" charset="-122"/>
                <a:cs typeface="Courier New" pitchFamily="34" charset="-120"/>
              </a:rPr>
              <a:t>inventory_lookup</a:t>
            </a:r>
            <a:endParaRPr lang="en-US" sz="1000" dirty="0"/>
          </a:p>
        </p:txBody>
      </p:sp>
      <p:sp>
        <p:nvSpPr>
          <p:cNvPr id="24" name="Text 22"/>
          <p:cNvSpPr txBox="1"/>
          <p:nvPr/>
        </p:nvSpPr>
        <p:spPr>
          <a:xfrm>
            <a:off x="5230368" y="2971800"/>
            <a:ext cx="1691640" cy="1097280"/>
          </a:xfrm>
          <a:prstGeom prst="rect">
            <a:avLst/>
          </a:prstGeom>
          <a:noFill/>
          <a:ln/>
        </p:spPr>
        <p:txBody>
          <a:bodyPr wrap="square" lIns="0" tIns="0" rIns="0" bIns="0" rtlCol="0" anchor="t"/>
          <a:lstStyle/>
          <a:p>
            <a:pPr indent="0" marL="0">
              <a:buNone/>
            </a:pPr>
            <a:r>
              <a:rPr lang="en-US" sz="1400" dirty="0">
                <a:solidFill>
                  <a:schemeClr val="tx1"/>
                </a:solidFill>
              </a:rPr>
              <a:t>Exactly one inventory match per hostname; empty list refused</a:t>
            </a:r>
            <a:endParaRPr lang="en-US" sz="1400" dirty="0"/>
          </a:p>
        </p:txBody>
      </p:sp>
      <p:sp>
        <p:nvSpPr>
          <p:cNvPr id="25" name="Text 23"/>
          <p:cNvSpPr txBox="1"/>
          <p:nvPr/>
        </p:nvSpPr>
        <p:spPr>
          <a:xfrm>
            <a:off x="5230368" y="4160520"/>
            <a:ext cx="1691640" cy="274320"/>
          </a:xfrm>
          <a:prstGeom prst="rect">
            <a:avLst/>
          </a:prstGeom>
          <a:noFill/>
          <a:ln/>
        </p:spPr>
        <p:txBody>
          <a:bodyPr wrap="square" lIns="0" tIns="0" rIns="0" bIns="0" rtlCol="0" anchor="t"/>
          <a:lstStyle/>
          <a:p>
            <a:pPr indent="0" marL="0">
              <a:buNone/>
            </a:pPr>
            <a:r>
              <a:rPr lang="en-US" sz="1100" i="1" dirty="0">
                <a:solidFill>
                  <a:schemeClr val="accent3"/>
                </a:solidFill>
              </a:rPr>
              <a:t>edited</a:t>
            </a:r>
            <a:endParaRPr lang="en-US" sz="1100" dirty="0"/>
          </a:p>
        </p:txBody>
      </p:sp>
      <p:sp>
        <p:nvSpPr>
          <p:cNvPr id="26" name="Shape 24"/>
          <p:cNvSpPr/>
          <p:nvPr/>
        </p:nvSpPr>
        <p:spPr>
          <a:xfrm>
            <a:off x="7104888" y="3063240"/>
            <a:ext cx="192024" cy="0"/>
          </a:xfrm>
          <a:prstGeom prst="line">
            <a:avLst/>
          </a:prstGeom>
          <a:noFill/>
          <a:ln w="19050">
            <a:solidFill>
              <a:schemeClr val="accent3"/>
            </a:solidFill>
            <a:prstDash val="solid"/>
            <a:tailEnd type="triangle"/>
          </a:ln>
        </p:spPr>
      </p:sp>
      <p:sp>
        <p:nvSpPr>
          <p:cNvPr id="27" name="target-3"/>
          <p:cNvSpPr/>
          <p:nvPr/>
        </p:nvSpPr>
        <p:spPr>
          <a:xfrm>
            <a:off x="7296912" y="1554480"/>
            <a:ext cx="2057400" cy="3017520"/>
          </a:xfrm>
          <a:prstGeom prst="roundRect">
            <a:avLst>
              <a:gd name="adj" fmla="val 3556"/>
            </a:avLst>
          </a:prstGeom>
          <a:solidFill>
            <a:schemeClr val="bg2"/>
          </a:solidFill>
          <a:ln/>
        </p:spPr>
      </p:sp>
      <p:sp>
        <p:nvSpPr>
          <p:cNvPr id="28" name="Shape 26"/>
          <p:cNvSpPr/>
          <p:nvPr/>
        </p:nvSpPr>
        <p:spPr>
          <a:xfrm>
            <a:off x="7479792" y="1737360"/>
            <a:ext cx="411480" cy="411480"/>
          </a:xfrm>
          <a:prstGeom prst="ellipse">
            <a:avLst/>
          </a:prstGeom>
          <a:solidFill>
            <a:schemeClr val="accent2"/>
          </a:solidFill>
          <a:ln/>
        </p:spPr>
      </p:sp>
      <p:sp>
        <p:nvSpPr>
          <p:cNvPr id="29" name="Text 27"/>
          <p:cNvSpPr txBox="1"/>
          <p:nvPr/>
        </p:nvSpPr>
        <p:spPr>
          <a:xfrm>
            <a:off x="7479792"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Text 28"/>
          <p:cNvSpPr txBox="1"/>
          <p:nvPr/>
        </p:nvSpPr>
        <p:spPr>
          <a:xfrm>
            <a:off x="8028432" y="1764792"/>
            <a:ext cx="11887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One site</a:t>
            </a:r>
            <a:endParaRPr lang="en-US" sz="1800" dirty="0"/>
          </a:p>
        </p:txBody>
      </p:sp>
      <p:sp>
        <p:nvSpPr>
          <p:cNvPr id="31" name="Text 29"/>
          <p:cNvSpPr txBox="1"/>
          <p:nvPr/>
        </p:nvSpPr>
        <p:spPr>
          <a:xfrm>
            <a:off x="7479792" y="2377440"/>
            <a:ext cx="1691640" cy="548640"/>
          </a:xfrm>
          <a:prstGeom prst="rect">
            <a:avLst/>
          </a:prstGeom>
          <a:noFill/>
          <a:ln/>
        </p:spPr>
        <p:txBody>
          <a:bodyPr wrap="square" lIns="0" tIns="0" rIns="0" bIns="0" rtlCol="0" anchor="t"/>
          <a:lstStyle/>
          <a:p>
            <a:pPr indent="0" marL="0">
              <a:buNone/>
            </a:pPr>
            <a:r>
              <a:rPr lang="en-US" sz="1000" dirty="0">
                <a:solidFill>
                  <a:schemeClr val="accent1"/>
                </a:solidFill>
                <a:latin typeface="Courier New" pitchFamily="34" charset="0"/>
                <a:ea typeface="Courier New" pitchFamily="34" charset="-122"/>
                <a:cs typeface="Courier New" pitchFamily="34" charset="-120"/>
              </a:rPr>
              <a:t>ibns_target.yml</a:t>
            </a:r>
            <a:endParaRPr lang="en-US" sz="1000" dirty="0"/>
          </a:p>
        </p:txBody>
      </p:sp>
      <p:sp>
        <p:nvSpPr>
          <p:cNvPr id="32" name="Text 30"/>
          <p:cNvSpPr txBox="1"/>
          <p:nvPr/>
        </p:nvSpPr>
        <p:spPr>
          <a:xfrm>
            <a:off x="7479792" y="2971800"/>
            <a:ext cx="1691640" cy="1097280"/>
          </a:xfrm>
          <a:prstGeom prst="rect">
            <a:avLst/>
          </a:prstGeom>
          <a:noFill/>
          <a:ln/>
        </p:spPr>
        <p:txBody>
          <a:bodyPr wrap="square" lIns="0" tIns="0" rIns="0" bIns="0" rtlCol="0" anchor="t"/>
          <a:lstStyle/>
          <a:p>
            <a:pPr indent="0" marL="0">
              <a:buNone/>
            </a:pPr>
            <a:r>
              <a:rPr lang="en-US" sz="1400" dirty="0">
                <a:solidFill>
                  <a:schemeClr val="tx1"/>
                </a:solidFill>
              </a:rPr>
              <a:t>Refuses targets spread over more than one site</a:t>
            </a:r>
            <a:endParaRPr lang="en-US" sz="1400" dirty="0"/>
          </a:p>
        </p:txBody>
      </p:sp>
      <p:sp>
        <p:nvSpPr>
          <p:cNvPr id="33" name="Text 31"/>
          <p:cNvSpPr txBox="1"/>
          <p:nvPr/>
        </p:nvSpPr>
        <p:spPr>
          <a:xfrm>
            <a:off x="7479792" y="4160520"/>
            <a:ext cx="1691640" cy="274320"/>
          </a:xfrm>
          <a:prstGeom prst="rect">
            <a:avLst/>
          </a:prstGeom>
          <a:noFill/>
          <a:ln/>
        </p:spPr>
        <p:txBody>
          <a:bodyPr wrap="square" lIns="0" tIns="0" rIns="0" bIns="0" rtlCol="0" anchor="t"/>
          <a:lstStyle/>
          <a:p>
            <a:pPr indent="0" marL="0">
              <a:buNone/>
            </a:pPr>
            <a:r>
              <a:rPr lang="en-US" sz="1100" i="1" dirty="0">
                <a:solidFill>
                  <a:schemeClr val="accent3"/>
                </a:solidFill>
              </a:rPr>
              <a:t>new</a:t>
            </a:r>
            <a:endParaRPr lang="en-US" sz="1100" dirty="0"/>
          </a:p>
        </p:txBody>
      </p:sp>
      <p:sp>
        <p:nvSpPr>
          <p:cNvPr id="34" name="Shape 32"/>
          <p:cNvSpPr/>
          <p:nvPr/>
        </p:nvSpPr>
        <p:spPr>
          <a:xfrm>
            <a:off x="9354312" y="3063240"/>
            <a:ext cx="192024" cy="0"/>
          </a:xfrm>
          <a:prstGeom prst="line">
            <a:avLst/>
          </a:prstGeom>
          <a:noFill/>
          <a:ln w="19050">
            <a:solidFill>
              <a:schemeClr val="accent3"/>
            </a:solidFill>
            <a:prstDash val="solid"/>
            <a:tailEnd type="triangle"/>
          </a:ln>
        </p:spPr>
      </p:sp>
      <p:sp>
        <p:nvSpPr>
          <p:cNvPr id="35" name="target-4"/>
          <p:cNvSpPr/>
          <p:nvPr/>
        </p:nvSpPr>
        <p:spPr>
          <a:xfrm>
            <a:off x="9546336" y="1554480"/>
            <a:ext cx="2057400" cy="3017520"/>
          </a:xfrm>
          <a:prstGeom prst="roundRect">
            <a:avLst>
              <a:gd name="adj" fmla="val 3556"/>
            </a:avLst>
          </a:prstGeom>
          <a:solidFill>
            <a:schemeClr val="bg2"/>
          </a:solidFill>
          <a:ln/>
        </p:spPr>
      </p:sp>
      <p:sp>
        <p:nvSpPr>
          <p:cNvPr id="36" name="Shape 34"/>
          <p:cNvSpPr/>
          <p:nvPr/>
        </p:nvSpPr>
        <p:spPr>
          <a:xfrm>
            <a:off x="9729216" y="1737360"/>
            <a:ext cx="411480" cy="411480"/>
          </a:xfrm>
          <a:prstGeom prst="ellipse">
            <a:avLst/>
          </a:prstGeom>
          <a:solidFill>
            <a:schemeClr val="accent2"/>
          </a:solidFill>
          <a:ln/>
        </p:spPr>
      </p:sp>
      <p:sp>
        <p:nvSpPr>
          <p:cNvPr id="37" name="Text 35"/>
          <p:cNvSpPr txBox="1"/>
          <p:nvPr/>
        </p:nvSpPr>
        <p:spPr>
          <a:xfrm>
            <a:off x="9729216"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8" name="Text 36"/>
          <p:cNvSpPr txBox="1"/>
          <p:nvPr/>
        </p:nvSpPr>
        <p:spPr>
          <a:xfrm>
            <a:off x="10277856" y="1764792"/>
            <a:ext cx="11887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Run id</a:t>
            </a:r>
            <a:endParaRPr lang="en-US" sz="1800" dirty="0"/>
          </a:p>
        </p:txBody>
      </p:sp>
      <p:sp>
        <p:nvSpPr>
          <p:cNvPr id="39" name="Text 37"/>
          <p:cNvSpPr txBox="1"/>
          <p:nvPr/>
        </p:nvSpPr>
        <p:spPr>
          <a:xfrm>
            <a:off x="9729216" y="2377440"/>
            <a:ext cx="1691640" cy="548640"/>
          </a:xfrm>
          <a:prstGeom prst="rect">
            <a:avLst/>
          </a:prstGeom>
          <a:noFill/>
          <a:ln/>
        </p:spPr>
        <p:txBody>
          <a:bodyPr wrap="square" lIns="0" tIns="0" rIns="0" bIns="0" rtlCol="0" anchor="t"/>
          <a:lstStyle/>
          <a:p>
            <a:pPr indent="0" marL="0">
              <a:buNone/>
            </a:pPr>
            <a:r>
              <a:rPr lang="en-US" sz="1000" dirty="0">
                <a:solidFill>
                  <a:schemeClr val="accent1"/>
                </a:solidFill>
                <a:latin typeface="Courier New" pitchFamily="34" charset="0"/>
                <a:ea typeface="Courier New" pitchFamily="34" charset="-122"/>
                <a:cs typeface="Courier New" pitchFamily="34" charset="-120"/>
              </a:rPr>
              <a:t>ibns_target.yml</a:t>
            </a:r>
            <a:endParaRPr lang="en-US" sz="1000" dirty="0"/>
          </a:p>
        </p:txBody>
      </p:sp>
      <p:sp>
        <p:nvSpPr>
          <p:cNvPr id="40" name="Text 38"/>
          <p:cNvSpPr txBox="1"/>
          <p:nvPr/>
        </p:nvSpPr>
        <p:spPr>
          <a:xfrm>
            <a:off x="9729216" y="2971800"/>
            <a:ext cx="1691640" cy="1097280"/>
          </a:xfrm>
          <a:prstGeom prst="rect">
            <a:avLst/>
          </a:prstGeom>
          <a:noFill/>
          <a:ln/>
        </p:spPr>
        <p:txBody>
          <a:bodyPr wrap="square" lIns="0" tIns="0" rIns="0" bIns="0" rtlCol="0" anchor="t"/>
          <a:lstStyle/>
          <a:p>
            <a:pPr indent="0" marL="0">
              <a:buNone/>
            </a:pPr>
            <a:r>
              <a:rPr lang="en-US" sz="1400" dirty="0">
                <a:solidFill>
                  <a:schemeClr val="tx1"/>
                </a:solidFill>
              </a:rPr>
              <a:t>One id per job; names every snapshot and backup</a:t>
            </a:r>
            <a:endParaRPr lang="en-US" sz="1400" dirty="0"/>
          </a:p>
        </p:txBody>
      </p:sp>
      <p:sp>
        <p:nvSpPr>
          <p:cNvPr id="41" name="Text 39"/>
          <p:cNvSpPr txBox="1"/>
          <p:nvPr/>
        </p:nvSpPr>
        <p:spPr>
          <a:xfrm>
            <a:off x="9729216" y="4160520"/>
            <a:ext cx="1691640" cy="274320"/>
          </a:xfrm>
          <a:prstGeom prst="rect">
            <a:avLst/>
          </a:prstGeom>
          <a:noFill/>
          <a:ln/>
        </p:spPr>
        <p:txBody>
          <a:bodyPr wrap="square" lIns="0" tIns="0" rIns="0" bIns="0" rtlCol="0" anchor="t"/>
          <a:lstStyle/>
          <a:p>
            <a:pPr indent="0" marL="0">
              <a:buNone/>
            </a:pPr>
            <a:r>
              <a:rPr lang="en-US" sz="1100" i="1" dirty="0">
                <a:solidFill>
                  <a:schemeClr val="accent3"/>
                </a:solidFill>
              </a:rPr>
              <a:t>new</a:t>
            </a:r>
            <a:endParaRPr lang="en-US" sz="1100" dirty="0"/>
          </a:p>
        </p:txBody>
      </p:sp>
      <p:sp>
        <p:nvSpPr>
          <p:cNvPr id="42" name="Shape 40"/>
          <p:cNvSpPr/>
          <p:nvPr/>
        </p:nvSpPr>
        <p:spPr>
          <a:xfrm>
            <a:off x="548640" y="4846320"/>
            <a:ext cx="11064240" cy="1234440"/>
          </a:xfrm>
          <a:prstGeom prst="roundRect">
            <a:avLst>
              <a:gd name="adj" fmla="val 5926"/>
            </a:avLst>
          </a:prstGeom>
          <a:solidFill>
            <a:schemeClr val="tx2"/>
          </a:solidFill>
          <a:ln/>
        </p:spPr>
      </p:sp>
      <p:sp>
        <p:nvSpPr>
          <p:cNvPr id="43" name="Text 41"/>
          <p:cNvSpPr txBox="1"/>
          <p:nvPr/>
        </p:nvSpPr>
        <p:spPr>
          <a:xfrm>
            <a:off x="731520" y="4983480"/>
            <a:ext cx="10698480" cy="96012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ansible-playbook ansible/playbooks/ibns_precheck.yml -e device_hostnames=SW1,SW2</a:t>
            </a:r>
            <a:endParaRPr lang="en-US" sz="1200" dirty="0"/>
          </a:p>
          <a:p>
            <a:pPr indent="0" marL="0">
              <a:buNone/>
            </a:pP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 every playbook begins with:</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 ansible.builtin.import_playbook: ibns_target.yml</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Every read and every change goes through Catalyst Center</a:t>
            </a:r>
            <a:endParaRPr lang="en-US" sz="2800" dirty="0"/>
          </a:p>
        </p:txBody>
      </p:sp>
      <p:sp>
        <p:nvSpPr>
          <p:cNvPr id="3" name="dnac-ansible"/>
          <p:cNvSpPr/>
          <p:nvPr/>
        </p:nvSpPr>
        <p:spPr>
          <a:xfrm>
            <a:off x="548640" y="1554480"/>
            <a:ext cx="2377440" cy="2834640"/>
          </a:xfrm>
          <a:prstGeom prst="roundRect">
            <a:avLst>
              <a:gd name="adj" fmla="val 3077"/>
            </a:avLst>
          </a:prstGeom>
          <a:solidFill>
            <a:schemeClr val="bg2"/>
          </a:solidFill>
          <a:ln/>
        </p:spPr>
      </p:sp>
      <p:sp>
        <p:nvSpPr>
          <p:cNvPr id="4" name="Text 2"/>
          <p:cNvSpPr txBox="1"/>
          <p:nvPr/>
        </p:nvSpPr>
        <p:spPr>
          <a:xfrm>
            <a:off x="777240" y="1691640"/>
            <a:ext cx="20116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Ansible job</a:t>
            </a:r>
            <a:endParaRPr lang="en-US" sz="1800" dirty="0"/>
          </a:p>
        </p:txBody>
      </p:sp>
      <p:sp>
        <p:nvSpPr>
          <p:cNvPr id="5" name="Text 3"/>
          <p:cNvSpPr txBox="1"/>
          <p:nvPr/>
        </p:nvSpPr>
        <p:spPr>
          <a:xfrm>
            <a:off x="777240" y="2103120"/>
            <a:ext cx="2011680" cy="548640"/>
          </a:xfrm>
          <a:prstGeom prst="rect">
            <a:avLst/>
          </a:prstGeom>
          <a:noFill/>
          <a:ln/>
        </p:spPr>
        <p:txBody>
          <a:bodyPr wrap="square" lIns="0" tIns="0" rIns="0" bIns="0" rtlCol="0" anchor="t"/>
          <a:lstStyle/>
          <a:p>
            <a:pPr indent="0" marL="0">
              <a:buNone/>
            </a:pPr>
            <a:r>
              <a:rPr lang="en-US" sz="1200" i="1" dirty="0">
                <a:solidFill>
                  <a:schemeClr val="accent3"/>
                </a:solidFill>
              </a:rPr>
              <a:t>AAP execution environment, runs locally</a:t>
            </a:r>
            <a:endParaRPr lang="en-US" sz="1200" dirty="0"/>
          </a:p>
        </p:txBody>
      </p:sp>
      <p:sp>
        <p:nvSpPr>
          <p:cNvPr id="6" name="Text 4"/>
          <p:cNvSpPr txBox="1"/>
          <p:nvPr/>
        </p:nvSpPr>
        <p:spPr>
          <a:xfrm>
            <a:off x="777240" y="2743200"/>
            <a:ext cx="201168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Renders the CLI from repo templates and filters</a:t>
            </a:r>
            <a:endParaRPr lang="en-US" sz="1300" dirty="0"/>
          </a:p>
          <a:p>
            <a:pPr marL="342900" indent="-342900">
              <a:spcAft>
                <a:spcPts val="600"/>
              </a:spcAft>
              <a:buSzPct val="100000"/>
              <a:buChar char="•"/>
            </a:pPr>
            <a:r>
              <a:rPr lang="en-US" sz="1300" dirty="0">
                <a:solidFill>
                  <a:schemeClr val="tx1"/>
                </a:solidFill>
              </a:rPr>
              <a:t>No SSH, no switch login</a:t>
            </a:r>
            <a:endParaRPr lang="en-US" sz="1300" dirty="0"/>
          </a:p>
        </p:txBody>
      </p:sp>
      <p:sp>
        <p:nvSpPr>
          <p:cNvPr id="7" name="Shape 5"/>
          <p:cNvSpPr/>
          <p:nvPr/>
        </p:nvSpPr>
        <p:spPr>
          <a:xfrm>
            <a:off x="2926080" y="1965960"/>
            <a:ext cx="365760" cy="0"/>
          </a:xfrm>
          <a:prstGeom prst="line">
            <a:avLst/>
          </a:prstGeom>
          <a:noFill/>
          <a:ln w="19050">
            <a:solidFill>
              <a:schemeClr val="accent3"/>
            </a:solidFill>
            <a:prstDash val="solid"/>
            <a:tailEnd type="triangle"/>
          </a:ln>
        </p:spPr>
      </p:sp>
      <p:sp>
        <p:nvSpPr>
          <p:cNvPr id="8" name="dnac-mod-0"/>
          <p:cNvSpPr/>
          <p:nvPr/>
        </p:nvSpPr>
        <p:spPr>
          <a:xfrm>
            <a:off x="3291840" y="1554480"/>
            <a:ext cx="2148840" cy="822960"/>
          </a:xfrm>
          <a:prstGeom prst="roundRect">
            <a:avLst>
              <a:gd name="adj" fmla="val 8889"/>
            </a:avLst>
          </a:prstGeom>
          <a:solidFill>
            <a:schemeClr val="accent6"/>
          </a:solidFill>
          <a:ln/>
        </p:spPr>
      </p:sp>
      <p:sp>
        <p:nvSpPr>
          <p:cNvPr id="9" name="Text 7"/>
          <p:cNvSpPr txBox="1"/>
          <p:nvPr/>
        </p:nvSpPr>
        <p:spPr>
          <a:xfrm>
            <a:off x="3291840" y="1554480"/>
            <a:ext cx="2148840" cy="822960"/>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catc_device</a:t>
            </a:r>
            <a:endParaRPr lang="en-US" sz="1300" dirty="0"/>
          </a:p>
        </p:txBody>
      </p:sp>
      <p:sp>
        <p:nvSpPr>
          <p:cNvPr id="10" name="Shape 8"/>
          <p:cNvSpPr/>
          <p:nvPr/>
        </p:nvSpPr>
        <p:spPr>
          <a:xfrm>
            <a:off x="5440680" y="1965960"/>
            <a:ext cx="365760" cy="0"/>
          </a:xfrm>
          <a:prstGeom prst="line">
            <a:avLst/>
          </a:prstGeom>
          <a:noFill/>
          <a:ln w="19050">
            <a:solidFill>
              <a:schemeClr val="accent3"/>
            </a:solidFill>
            <a:prstDash val="solid"/>
            <a:tailEnd type="triangle"/>
          </a:ln>
        </p:spPr>
      </p:sp>
      <p:sp>
        <p:nvSpPr>
          <p:cNvPr id="11" name="dnac-feat-0"/>
          <p:cNvSpPr/>
          <p:nvPr/>
        </p:nvSpPr>
        <p:spPr>
          <a:xfrm>
            <a:off x="5806440" y="1554480"/>
            <a:ext cx="5806440" cy="822960"/>
          </a:xfrm>
          <a:prstGeom prst="roundRect">
            <a:avLst>
              <a:gd name="adj" fmla="val 8889"/>
            </a:avLst>
          </a:prstGeom>
          <a:solidFill>
            <a:schemeClr val="bg2"/>
          </a:solidFill>
          <a:ln/>
        </p:spPr>
      </p:sp>
      <p:sp>
        <p:nvSpPr>
          <p:cNvPr id="12" name="Text 10"/>
          <p:cNvSpPr txBox="1"/>
          <p:nvPr/>
        </p:nvSpPr>
        <p:spPr>
          <a:xfrm>
            <a:off x="6035040" y="1645920"/>
            <a:ext cx="2194560" cy="640080"/>
          </a:xfrm>
          <a:prstGeom prst="rect">
            <a:avLst/>
          </a:prstGeom>
          <a:noFill/>
          <a:ln/>
        </p:spPr>
        <p:txBody>
          <a:bodyPr wrap="square" lIns="0" tIns="0" rIns="0" bIns="0" rtlCol="0" anchor="ctr"/>
          <a:lstStyle/>
          <a:p>
            <a:pPr indent="0" marL="0">
              <a:buNone/>
            </a:pPr>
            <a:r>
              <a:rPr lang="en-US" sz="1500" b="1" dirty="0">
                <a:solidFill>
                  <a:schemeClr val="accent1"/>
                </a:solidFill>
              </a:rPr>
              <a:t>Inventory</a:t>
            </a:r>
            <a:endParaRPr lang="en-US" sz="1500" dirty="0"/>
          </a:p>
        </p:txBody>
      </p:sp>
      <p:sp>
        <p:nvSpPr>
          <p:cNvPr id="13" name="Text 11"/>
          <p:cNvSpPr txBox="1"/>
          <p:nvPr/>
        </p:nvSpPr>
        <p:spPr>
          <a:xfrm>
            <a:off x="8229600" y="1645920"/>
            <a:ext cx="3246120" cy="640080"/>
          </a:xfrm>
          <a:prstGeom prst="rect">
            <a:avLst/>
          </a:prstGeom>
          <a:noFill/>
          <a:ln/>
        </p:spPr>
        <p:txBody>
          <a:bodyPr wrap="square" lIns="0" tIns="0" rIns="0" bIns="0" rtlCol="0" anchor="ctr"/>
          <a:lstStyle/>
          <a:p>
            <a:pPr indent="0" marL="0">
              <a:buNone/>
            </a:pPr>
            <a:r>
              <a:rPr lang="en-US" sz="1200" dirty="0">
                <a:solidFill>
                  <a:schemeClr val="tx1"/>
                </a:solidFill>
              </a:rPr>
              <a:t>Find switch, version, reachability; resync after a change</a:t>
            </a:r>
            <a:endParaRPr lang="en-US" sz="1200" dirty="0"/>
          </a:p>
        </p:txBody>
      </p:sp>
      <p:sp>
        <p:nvSpPr>
          <p:cNvPr id="14" name="Shape 12"/>
          <p:cNvSpPr/>
          <p:nvPr/>
        </p:nvSpPr>
        <p:spPr>
          <a:xfrm>
            <a:off x="2926080" y="2944368"/>
            <a:ext cx="365760" cy="0"/>
          </a:xfrm>
          <a:prstGeom prst="line">
            <a:avLst/>
          </a:prstGeom>
          <a:noFill/>
          <a:ln w="19050">
            <a:solidFill>
              <a:schemeClr val="accent3"/>
            </a:solidFill>
            <a:prstDash val="solid"/>
            <a:tailEnd type="triangle"/>
          </a:ln>
        </p:spPr>
      </p:sp>
      <p:sp>
        <p:nvSpPr>
          <p:cNvPr id="15" name="dnac-mod-1"/>
          <p:cNvSpPr/>
          <p:nvPr/>
        </p:nvSpPr>
        <p:spPr>
          <a:xfrm>
            <a:off x="3291840" y="2532888"/>
            <a:ext cx="2148840" cy="822960"/>
          </a:xfrm>
          <a:prstGeom prst="roundRect">
            <a:avLst>
              <a:gd name="adj" fmla="val 8889"/>
            </a:avLst>
          </a:prstGeom>
          <a:solidFill>
            <a:schemeClr val="accent6"/>
          </a:solidFill>
          <a:ln/>
        </p:spPr>
      </p:sp>
      <p:sp>
        <p:nvSpPr>
          <p:cNvPr id="16" name="Text 14"/>
          <p:cNvSpPr txBox="1"/>
          <p:nvPr/>
        </p:nvSpPr>
        <p:spPr>
          <a:xfrm>
            <a:off x="3291840" y="2532888"/>
            <a:ext cx="2148840" cy="822960"/>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catc_cli_read</a:t>
            </a:r>
            <a:endParaRPr lang="en-US" sz="1300" dirty="0"/>
          </a:p>
        </p:txBody>
      </p:sp>
      <p:sp>
        <p:nvSpPr>
          <p:cNvPr id="17" name="Shape 15"/>
          <p:cNvSpPr/>
          <p:nvPr/>
        </p:nvSpPr>
        <p:spPr>
          <a:xfrm>
            <a:off x="5440680" y="2944368"/>
            <a:ext cx="365760" cy="0"/>
          </a:xfrm>
          <a:prstGeom prst="line">
            <a:avLst/>
          </a:prstGeom>
          <a:noFill/>
          <a:ln w="19050">
            <a:solidFill>
              <a:schemeClr val="accent3"/>
            </a:solidFill>
            <a:prstDash val="solid"/>
            <a:tailEnd type="triangle"/>
          </a:ln>
        </p:spPr>
      </p:sp>
      <p:sp>
        <p:nvSpPr>
          <p:cNvPr id="18" name="dnac-feat-1"/>
          <p:cNvSpPr/>
          <p:nvPr/>
        </p:nvSpPr>
        <p:spPr>
          <a:xfrm>
            <a:off x="5806440" y="2532888"/>
            <a:ext cx="5806440" cy="822960"/>
          </a:xfrm>
          <a:prstGeom prst="roundRect">
            <a:avLst>
              <a:gd name="adj" fmla="val 8889"/>
            </a:avLst>
          </a:prstGeom>
          <a:solidFill>
            <a:schemeClr val="bg2"/>
          </a:solidFill>
          <a:ln/>
        </p:spPr>
      </p:sp>
      <p:sp>
        <p:nvSpPr>
          <p:cNvPr id="19" name="Text 17"/>
          <p:cNvSpPr txBox="1"/>
          <p:nvPr/>
        </p:nvSpPr>
        <p:spPr>
          <a:xfrm>
            <a:off x="6035040" y="2624328"/>
            <a:ext cx="2194560" cy="640080"/>
          </a:xfrm>
          <a:prstGeom prst="rect">
            <a:avLst/>
          </a:prstGeom>
          <a:noFill/>
          <a:ln/>
        </p:spPr>
        <p:txBody>
          <a:bodyPr wrap="square" lIns="0" tIns="0" rIns="0" bIns="0" rtlCol="0" anchor="ctr"/>
          <a:lstStyle/>
          <a:p>
            <a:pPr indent="0" marL="0">
              <a:buNone/>
            </a:pPr>
            <a:r>
              <a:rPr lang="en-US" sz="1500" b="1" dirty="0">
                <a:solidFill>
                  <a:schemeClr val="accent1"/>
                </a:solidFill>
              </a:rPr>
              <a:t>Command Runner</a:t>
            </a:r>
            <a:endParaRPr lang="en-US" sz="1500" dirty="0"/>
          </a:p>
        </p:txBody>
      </p:sp>
      <p:sp>
        <p:nvSpPr>
          <p:cNvPr id="20" name="Text 18"/>
          <p:cNvSpPr txBox="1"/>
          <p:nvPr/>
        </p:nvSpPr>
        <p:spPr>
          <a:xfrm>
            <a:off x="8229600" y="2624328"/>
            <a:ext cx="3246120" cy="640080"/>
          </a:xfrm>
          <a:prstGeom prst="rect">
            <a:avLst/>
          </a:prstGeom>
          <a:noFill/>
          <a:ln/>
        </p:spPr>
        <p:txBody>
          <a:bodyPr wrap="square" lIns="0" tIns="0" rIns="0" bIns="0" rtlCol="0" anchor="ctr"/>
          <a:lstStyle/>
          <a:p>
            <a:pPr indent="0" marL="0">
              <a:buNone/>
            </a:pPr>
            <a:r>
              <a:rPr lang="en-US" sz="1200" dirty="0">
                <a:solidFill>
                  <a:schemeClr val="tx1"/>
                </a:solidFill>
              </a:rPr>
              <a:t>show running-config, sessions, AAA, flash (read-only)</a:t>
            </a:r>
            <a:endParaRPr lang="en-US" sz="1200" dirty="0"/>
          </a:p>
        </p:txBody>
      </p:sp>
      <p:sp>
        <p:nvSpPr>
          <p:cNvPr id="21" name="Shape 19"/>
          <p:cNvSpPr/>
          <p:nvPr/>
        </p:nvSpPr>
        <p:spPr>
          <a:xfrm>
            <a:off x="2926080" y="3922776"/>
            <a:ext cx="365760" cy="0"/>
          </a:xfrm>
          <a:prstGeom prst="line">
            <a:avLst/>
          </a:prstGeom>
          <a:noFill/>
          <a:ln w="19050">
            <a:solidFill>
              <a:schemeClr val="accent3"/>
            </a:solidFill>
            <a:prstDash val="solid"/>
            <a:tailEnd type="triangle"/>
          </a:ln>
        </p:spPr>
      </p:sp>
      <p:sp>
        <p:nvSpPr>
          <p:cNvPr id="22" name="dnac-mod-2"/>
          <p:cNvSpPr/>
          <p:nvPr/>
        </p:nvSpPr>
        <p:spPr>
          <a:xfrm>
            <a:off x="3291840" y="3511296"/>
            <a:ext cx="2148840" cy="822960"/>
          </a:xfrm>
          <a:prstGeom prst="roundRect">
            <a:avLst>
              <a:gd name="adj" fmla="val 8889"/>
            </a:avLst>
          </a:prstGeom>
          <a:solidFill>
            <a:schemeClr val="accent6"/>
          </a:solidFill>
          <a:ln/>
        </p:spPr>
      </p:sp>
      <p:sp>
        <p:nvSpPr>
          <p:cNvPr id="23" name="Text 21"/>
          <p:cNvSpPr txBox="1"/>
          <p:nvPr/>
        </p:nvSpPr>
        <p:spPr>
          <a:xfrm>
            <a:off x="3291840" y="3511296"/>
            <a:ext cx="2148840" cy="822960"/>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catc_cli_push</a:t>
            </a:r>
            <a:endParaRPr lang="en-US" sz="1300" dirty="0"/>
          </a:p>
        </p:txBody>
      </p:sp>
      <p:sp>
        <p:nvSpPr>
          <p:cNvPr id="24" name="Shape 22"/>
          <p:cNvSpPr/>
          <p:nvPr/>
        </p:nvSpPr>
        <p:spPr>
          <a:xfrm>
            <a:off x="5440680" y="3922776"/>
            <a:ext cx="365760" cy="0"/>
          </a:xfrm>
          <a:prstGeom prst="line">
            <a:avLst/>
          </a:prstGeom>
          <a:noFill/>
          <a:ln w="19050">
            <a:solidFill>
              <a:schemeClr val="accent3"/>
            </a:solidFill>
            <a:prstDash val="solid"/>
            <a:tailEnd type="triangle"/>
          </a:ln>
        </p:spPr>
      </p:sp>
      <p:sp>
        <p:nvSpPr>
          <p:cNvPr id="25" name="dnac-feat-2"/>
          <p:cNvSpPr/>
          <p:nvPr/>
        </p:nvSpPr>
        <p:spPr>
          <a:xfrm>
            <a:off x="5806440" y="3511296"/>
            <a:ext cx="5806440" cy="822960"/>
          </a:xfrm>
          <a:prstGeom prst="roundRect">
            <a:avLst>
              <a:gd name="adj" fmla="val 8889"/>
            </a:avLst>
          </a:prstGeom>
          <a:solidFill>
            <a:schemeClr val="bg2"/>
          </a:solidFill>
          <a:ln/>
        </p:spPr>
      </p:sp>
      <p:sp>
        <p:nvSpPr>
          <p:cNvPr id="26" name="Text 24"/>
          <p:cNvSpPr txBox="1"/>
          <p:nvPr/>
        </p:nvSpPr>
        <p:spPr>
          <a:xfrm>
            <a:off x="6035040" y="3602736"/>
            <a:ext cx="2194560" cy="640080"/>
          </a:xfrm>
          <a:prstGeom prst="rect">
            <a:avLst/>
          </a:prstGeom>
          <a:noFill/>
          <a:ln/>
        </p:spPr>
        <p:txBody>
          <a:bodyPr wrap="square" lIns="0" tIns="0" rIns="0" bIns="0" rtlCol="0" anchor="ctr"/>
          <a:lstStyle/>
          <a:p>
            <a:pPr indent="0" marL="0">
              <a:buNone/>
            </a:pPr>
            <a:r>
              <a:rPr lang="en-US" sz="1500" b="1" dirty="0">
                <a:solidFill>
                  <a:schemeClr val="accent1"/>
                </a:solidFill>
              </a:rPr>
              <a:t>Template Programmer</a:t>
            </a:r>
            <a:endParaRPr lang="en-US" sz="1500" dirty="0"/>
          </a:p>
        </p:txBody>
      </p:sp>
      <p:sp>
        <p:nvSpPr>
          <p:cNvPr id="27" name="Text 25"/>
          <p:cNvSpPr txBox="1"/>
          <p:nvPr/>
        </p:nvSpPr>
        <p:spPr>
          <a:xfrm>
            <a:off x="8229600" y="3602736"/>
            <a:ext cx="3246120" cy="640080"/>
          </a:xfrm>
          <a:prstGeom prst="rect">
            <a:avLst/>
          </a:prstGeom>
          <a:noFill/>
          <a:ln/>
        </p:spPr>
        <p:txBody>
          <a:bodyPr wrap="square" lIns="0" tIns="0" rIns="0" bIns="0" rtlCol="0" anchor="ctr"/>
          <a:lstStyle/>
          <a:p>
            <a:pPr indent="0" marL="0">
              <a:buNone/>
            </a:pPr>
            <a:r>
              <a:rPr lang="en-US" sz="1200" dirty="0">
                <a:solidFill>
                  <a:schemeClr val="tx1"/>
                </a:solidFill>
              </a:rPr>
              <a:t>Every change: backup copy, convert, golden, re-point, rollback, cleanup, write memory</a:t>
            </a:r>
            <a:endParaRPr lang="en-US" sz="1200" dirty="0"/>
          </a:p>
        </p:txBody>
      </p:sp>
      <p:sp>
        <p:nvSpPr>
          <p:cNvPr id="28" name="dnac-template"/>
          <p:cNvSpPr/>
          <p:nvPr/>
        </p:nvSpPr>
        <p:spPr>
          <a:xfrm>
            <a:off x="548640" y="4663440"/>
            <a:ext cx="11064240" cy="1417320"/>
          </a:xfrm>
          <a:prstGeom prst="roundRect">
            <a:avLst>
              <a:gd name="adj" fmla="val 5161"/>
            </a:avLst>
          </a:prstGeom>
          <a:solidFill>
            <a:schemeClr val="tx2"/>
          </a:solidFill>
          <a:ln/>
        </p:spPr>
      </p:sp>
      <p:sp>
        <p:nvSpPr>
          <p:cNvPr id="29" name="Text 27"/>
          <p:cNvSpPr txBox="1"/>
          <p:nvPr/>
        </p:nvSpPr>
        <p:spPr>
          <a:xfrm>
            <a:off x="822960" y="4773168"/>
            <a:ext cx="10515600" cy="365760"/>
          </a:xfrm>
          <a:prstGeom prst="rect">
            <a:avLst/>
          </a:prstGeom>
          <a:noFill/>
          <a:ln/>
        </p:spPr>
        <p:txBody>
          <a:bodyPr wrap="square" lIns="0" tIns="0" rIns="0" bIns="0"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One template per switch: IBNS2_&lt;hostname&gt;</a:t>
            </a:r>
            <a:endParaRPr lang="en-US" sz="1700" dirty="0"/>
          </a:p>
        </p:txBody>
      </p:sp>
      <p:sp>
        <p:nvSpPr>
          <p:cNvPr id="30" name="Text 28"/>
          <p:cNvSpPr txBox="1"/>
          <p:nvPr/>
        </p:nvSpPr>
        <p:spPr>
          <a:xfrm>
            <a:off x="822960" y="5166360"/>
            <a:ext cx="10515600" cy="822960"/>
          </a:xfrm>
          <a:prstGeom prst="rect">
            <a:avLst/>
          </a:prstGeom>
          <a:noFill/>
          <a:ln/>
        </p:spPr>
        <p:txBody>
          <a:bodyPr wrap="square" lIns="0" tIns="0" rIns="0" bIns="0" rtlCol="0" anchor="t"/>
          <a:lstStyle/>
          <a:p>
            <a:pPr indent="0" marL="0">
              <a:buNone/>
            </a:pPr>
            <a:r>
              <a:rPr lang="en-US" sz="1300" dirty="0">
                <a:solidFill>
                  <a:schemeClr val="bg1"/>
                </a:solidFill>
              </a:rPr>
              <a:t>Each push replaces the template content, commits a new version (comment: run id, stage, step) and deploys it. The version history in Catalyst Center is the change record for that switch; the same CLI and its result are also saved with the run's snapshots.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Every change stage follows the same five steps</a:t>
            </a:r>
            <a:endParaRPr lang="en-US" sz="2800" dirty="0"/>
          </a:p>
        </p:txBody>
      </p:sp>
      <p:sp>
        <p:nvSpPr>
          <p:cNvPr id="3" name="pattern-0"/>
          <p:cNvSpPr/>
          <p:nvPr/>
        </p:nvSpPr>
        <p:spPr>
          <a:xfrm>
            <a:off x="548640" y="1554480"/>
            <a:ext cx="2057400" cy="2148840"/>
          </a:xfrm>
          <a:prstGeom prst="roundRect">
            <a:avLst>
              <a:gd name="adj" fmla="val 3556"/>
            </a:avLst>
          </a:prstGeom>
          <a:solidFill>
            <a:schemeClr val="bg2"/>
          </a:solidFill>
          <a:ln/>
        </p:spPr>
      </p:sp>
      <p:sp>
        <p:nvSpPr>
          <p:cNvPr id="4" name="Shape 2"/>
          <p:cNvSpPr/>
          <p:nvPr/>
        </p:nvSpPr>
        <p:spPr>
          <a:xfrm>
            <a:off x="731520" y="1737360"/>
            <a:ext cx="411480" cy="411480"/>
          </a:xfrm>
          <a:prstGeom prst="ellipse">
            <a:avLst/>
          </a:prstGeom>
          <a:solidFill>
            <a:schemeClr val="accent1"/>
          </a:solidFill>
          <a:ln/>
        </p:spPr>
      </p:sp>
      <p:sp>
        <p:nvSpPr>
          <p:cNvPr id="5" name="Text 3"/>
          <p:cNvSpPr txBox="1"/>
          <p:nvPr/>
        </p:nvSpPr>
        <p:spPr>
          <a:xfrm>
            <a:off x="731520"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280160" y="1764792"/>
            <a:ext cx="1188720"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Pre-check</a:t>
            </a:r>
            <a:endParaRPr lang="en-US" sz="1700" dirty="0"/>
          </a:p>
        </p:txBody>
      </p:sp>
      <p:sp>
        <p:nvSpPr>
          <p:cNvPr id="7" name="Text 5"/>
          <p:cNvSpPr txBox="1"/>
          <p:nvPr/>
        </p:nvSpPr>
        <p:spPr>
          <a:xfrm>
            <a:off x="731520" y="2331720"/>
            <a:ext cx="1691640" cy="1280160"/>
          </a:xfrm>
          <a:prstGeom prst="rect">
            <a:avLst/>
          </a:prstGeom>
          <a:noFill/>
          <a:ln/>
        </p:spPr>
        <p:txBody>
          <a:bodyPr wrap="square" lIns="0" tIns="0" rIns="0" bIns="0" rtlCol="0" anchor="t"/>
          <a:lstStyle/>
          <a:p>
            <a:pPr indent="0" marL="0">
              <a:buNone/>
            </a:pPr>
            <a:r>
              <a:rPr lang="en-US" sz="1300" dirty="0">
                <a:solidFill>
                  <a:schemeClr val="tx1"/>
                </a:solidFill>
              </a:rPr>
              <a:t>Version, ClearPass UP, config mode, flash, held ports. Fails = switch skipped</a:t>
            </a:r>
            <a:endParaRPr lang="en-US" sz="1300" dirty="0"/>
          </a:p>
        </p:txBody>
      </p:sp>
      <p:sp>
        <p:nvSpPr>
          <p:cNvPr id="8" name="Shape 6"/>
          <p:cNvSpPr/>
          <p:nvPr/>
        </p:nvSpPr>
        <p:spPr>
          <a:xfrm>
            <a:off x="2606040" y="2606040"/>
            <a:ext cx="192024" cy="0"/>
          </a:xfrm>
          <a:prstGeom prst="line">
            <a:avLst/>
          </a:prstGeom>
          <a:noFill/>
          <a:ln w="19050">
            <a:solidFill>
              <a:schemeClr val="accent3"/>
            </a:solidFill>
            <a:prstDash val="solid"/>
            <a:tailEnd type="triangle"/>
          </a:ln>
        </p:spPr>
      </p:sp>
      <p:sp>
        <p:nvSpPr>
          <p:cNvPr id="9" name="pattern-1"/>
          <p:cNvSpPr/>
          <p:nvPr/>
        </p:nvSpPr>
        <p:spPr>
          <a:xfrm>
            <a:off x="2798064" y="1554480"/>
            <a:ext cx="2057400" cy="2148840"/>
          </a:xfrm>
          <a:prstGeom prst="roundRect">
            <a:avLst>
              <a:gd name="adj" fmla="val 3556"/>
            </a:avLst>
          </a:prstGeom>
          <a:solidFill>
            <a:schemeClr val="bg2"/>
          </a:solidFill>
          <a:ln/>
        </p:spPr>
      </p:sp>
      <p:sp>
        <p:nvSpPr>
          <p:cNvPr id="10" name="Shape 8"/>
          <p:cNvSpPr/>
          <p:nvPr/>
        </p:nvSpPr>
        <p:spPr>
          <a:xfrm>
            <a:off x="2980944" y="1737360"/>
            <a:ext cx="411480" cy="411480"/>
          </a:xfrm>
          <a:prstGeom prst="ellipse">
            <a:avLst/>
          </a:prstGeom>
          <a:solidFill>
            <a:schemeClr val="accent1"/>
          </a:solidFill>
          <a:ln/>
        </p:spPr>
      </p:sp>
      <p:sp>
        <p:nvSpPr>
          <p:cNvPr id="11" name="Text 9"/>
          <p:cNvSpPr txBox="1"/>
          <p:nvPr/>
        </p:nvSpPr>
        <p:spPr>
          <a:xfrm>
            <a:off x="2980944"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3529584" y="1764792"/>
            <a:ext cx="1188720"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Backup</a:t>
            </a:r>
            <a:endParaRPr lang="en-US" sz="1700" dirty="0"/>
          </a:p>
        </p:txBody>
      </p:sp>
      <p:sp>
        <p:nvSpPr>
          <p:cNvPr id="13" name="Text 11"/>
          <p:cNvSpPr txBox="1"/>
          <p:nvPr/>
        </p:nvSpPr>
        <p:spPr>
          <a:xfrm>
            <a:off x="2980944" y="2331720"/>
            <a:ext cx="1691640" cy="1280160"/>
          </a:xfrm>
          <a:prstGeom prst="rect">
            <a:avLst/>
          </a:prstGeom>
          <a:noFill/>
          <a:ln/>
        </p:spPr>
        <p:txBody>
          <a:bodyPr wrap="square" lIns="0" tIns="0" rIns="0" bIns="0" rtlCol="0" anchor="t"/>
          <a:lstStyle/>
          <a:p>
            <a:pPr indent="0" marL="0">
              <a:buNone/>
            </a:pPr>
            <a:r>
              <a:rPr lang="en-US" sz="1300" dirty="0">
                <a:solidFill>
                  <a:schemeClr val="tx1"/>
                </a:solidFill>
              </a:rPr>
              <a:t>Running config to the snapshot store and to switch flash</a:t>
            </a:r>
            <a:endParaRPr lang="en-US" sz="1300" dirty="0"/>
          </a:p>
        </p:txBody>
      </p:sp>
      <p:sp>
        <p:nvSpPr>
          <p:cNvPr id="14" name="Shape 12"/>
          <p:cNvSpPr/>
          <p:nvPr/>
        </p:nvSpPr>
        <p:spPr>
          <a:xfrm>
            <a:off x="4855464" y="2606040"/>
            <a:ext cx="192024" cy="0"/>
          </a:xfrm>
          <a:prstGeom prst="line">
            <a:avLst/>
          </a:prstGeom>
          <a:noFill/>
          <a:ln w="19050">
            <a:solidFill>
              <a:schemeClr val="accent3"/>
            </a:solidFill>
            <a:prstDash val="solid"/>
            <a:tailEnd type="triangle"/>
          </a:ln>
        </p:spPr>
      </p:sp>
      <p:sp>
        <p:nvSpPr>
          <p:cNvPr id="15" name="pattern-2"/>
          <p:cNvSpPr/>
          <p:nvPr/>
        </p:nvSpPr>
        <p:spPr>
          <a:xfrm>
            <a:off x="5047488" y="1554480"/>
            <a:ext cx="2057400" cy="2148840"/>
          </a:xfrm>
          <a:prstGeom prst="roundRect">
            <a:avLst>
              <a:gd name="adj" fmla="val 3556"/>
            </a:avLst>
          </a:prstGeom>
          <a:solidFill>
            <a:schemeClr val="bg2"/>
          </a:solidFill>
          <a:ln/>
        </p:spPr>
      </p:sp>
      <p:sp>
        <p:nvSpPr>
          <p:cNvPr id="16" name="Shape 14"/>
          <p:cNvSpPr/>
          <p:nvPr/>
        </p:nvSpPr>
        <p:spPr>
          <a:xfrm>
            <a:off x="5230368" y="1737360"/>
            <a:ext cx="411480" cy="411480"/>
          </a:xfrm>
          <a:prstGeom prst="ellipse">
            <a:avLst/>
          </a:prstGeom>
          <a:solidFill>
            <a:schemeClr val="accent1"/>
          </a:solidFill>
          <a:ln/>
        </p:spPr>
      </p:sp>
      <p:sp>
        <p:nvSpPr>
          <p:cNvPr id="17" name="Text 15"/>
          <p:cNvSpPr txBox="1"/>
          <p:nvPr/>
        </p:nvSpPr>
        <p:spPr>
          <a:xfrm>
            <a:off x="5230368"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5779008" y="1764792"/>
            <a:ext cx="1188720"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Change</a:t>
            </a:r>
            <a:endParaRPr lang="en-US" sz="1700" dirty="0"/>
          </a:p>
        </p:txBody>
      </p:sp>
      <p:sp>
        <p:nvSpPr>
          <p:cNvPr id="19" name="Text 17"/>
          <p:cNvSpPr txBox="1"/>
          <p:nvPr/>
        </p:nvSpPr>
        <p:spPr>
          <a:xfrm>
            <a:off x="5230368" y="2331720"/>
            <a:ext cx="1691640" cy="1280160"/>
          </a:xfrm>
          <a:prstGeom prst="rect">
            <a:avLst/>
          </a:prstGeom>
          <a:noFill/>
          <a:ln/>
        </p:spPr>
        <p:txBody>
          <a:bodyPr wrap="square" lIns="0" tIns="0" rIns="0" bIns="0" rtlCol="0" anchor="t"/>
          <a:lstStyle/>
          <a:p>
            <a:pPr indent="0" marL="0">
              <a:buNone/>
            </a:pPr>
            <a:r>
              <a:rPr lang="en-US" sz="1300" dirty="0">
                <a:solidFill>
                  <a:schemeClr val="tx1"/>
                </a:solidFill>
              </a:rPr>
              <a:t>Convert, or golden + re-point, or cleanup. Dry run stops here</a:t>
            </a:r>
            <a:endParaRPr lang="en-US" sz="1300" dirty="0"/>
          </a:p>
        </p:txBody>
      </p:sp>
      <p:sp>
        <p:nvSpPr>
          <p:cNvPr id="20" name="Shape 18"/>
          <p:cNvSpPr/>
          <p:nvPr/>
        </p:nvSpPr>
        <p:spPr>
          <a:xfrm>
            <a:off x="7104888" y="2606040"/>
            <a:ext cx="192024" cy="0"/>
          </a:xfrm>
          <a:prstGeom prst="line">
            <a:avLst/>
          </a:prstGeom>
          <a:noFill/>
          <a:ln w="19050">
            <a:solidFill>
              <a:schemeClr val="accent3"/>
            </a:solidFill>
            <a:prstDash val="solid"/>
            <a:tailEnd type="triangle"/>
          </a:ln>
        </p:spPr>
      </p:sp>
      <p:sp>
        <p:nvSpPr>
          <p:cNvPr id="21" name="pattern-3"/>
          <p:cNvSpPr/>
          <p:nvPr/>
        </p:nvSpPr>
        <p:spPr>
          <a:xfrm>
            <a:off x="7296912" y="1554480"/>
            <a:ext cx="2057400" cy="2148840"/>
          </a:xfrm>
          <a:prstGeom prst="roundRect">
            <a:avLst>
              <a:gd name="adj" fmla="val 3556"/>
            </a:avLst>
          </a:prstGeom>
          <a:solidFill>
            <a:schemeClr val="bg2"/>
          </a:solidFill>
          <a:ln/>
        </p:spPr>
      </p:sp>
      <p:sp>
        <p:nvSpPr>
          <p:cNvPr id="22" name="Shape 20"/>
          <p:cNvSpPr/>
          <p:nvPr/>
        </p:nvSpPr>
        <p:spPr>
          <a:xfrm>
            <a:off x="7479792" y="1737360"/>
            <a:ext cx="411480" cy="411480"/>
          </a:xfrm>
          <a:prstGeom prst="ellipse">
            <a:avLst/>
          </a:prstGeom>
          <a:solidFill>
            <a:schemeClr val="accent1"/>
          </a:solidFill>
          <a:ln/>
        </p:spPr>
      </p:sp>
      <p:sp>
        <p:nvSpPr>
          <p:cNvPr id="23" name="Text 21"/>
          <p:cNvSpPr txBox="1"/>
          <p:nvPr/>
        </p:nvSpPr>
        <p:spPr>
          <a:xfrm>
            <a:off x="7479792"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txBox="1"/>
          <p:nvPr/>
        </p:nvSpPr>
        <p:spPr>
          <a:xfrm>
            <a:off x="8028432" y="1764792"/>
            <a:ext cx="1188720"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Post-check</a:t>
            </a:r>
            <a:endParaRPr lang="en-US" sz="1700" dirty="0"/>
          </a:p>
        </p:txBody>
      </p:sp>
      <p:sp>
        <p:nvSpPr>
          <p:cNvPr id="25" name="Text 23"/>
          <p:cNvSpPr txBox="1"/>
          <p:nvPr/>
        </p:nvSpPr>
        <p:spPr>
          <a:xfrm>
            <a:off x="7479792" y="2331720"/>
            <a:ext cx="1691640" cy="1280160"/>
          </a:xfrm>
          <a:prstGeom prst="rect">
            <a:avLst/>
          </a:prstGeom>
          <a:noFill/>
          <a:ln/>
        </p:spPr>
        <p:txBody>
          <a:bodyPr wrap="square" lIns="0" tIns="0" rIns="0" bIns="0" rtlCol="0" anchor="t"/>
          <a:lstStyle/>
          <a:p>
            <a:pPr indent="0" marL="0">
              <a:buNone/>
            </a:pPr>
            <a:r>
              <a:rPr lang="en-US" sz="1300" dirty="0">
                <a:solidFill>
                  <a:schemeClr val="tx1"/>
                </a:solidFill>
              </a:rPr>
              <a:t>Config checks, RADIUS UP, per-endpoint session compare</a:t>
            </a:r>
            <a:endParaRPr lang="en-US" sz="1300" dirty="0"/>
          </a:p>
        </p:txBody>
      </p:sp>
      <p:sp>
        <p:nvSpPr>
          <p:cNvPr id="26" name="Shape 24"/>
          <p:cNvSpPr/>
          <p:nvPr/>
        </p:nvSpPr>
        <p:spPr>
          <a:xfrm>
            <a:off x="9354312" y="2606040"/>
            <a:ext cx="192024" cy="0"/>
          </a:xfrm>
          <a:prstGeom prst="line">
            <a:avLst/>
          </a:prstGeom>
          <a:noFill/>
          <a:ln w="19050">
            <a:solidFill>
              <a:schemeClr val="accent3"/>
            </a:solidFill>
            <a:prstDash val="solid"/>
            <a:tailEnd type="triangle"/>
          </a:ln>
        </p:spPr>
      </p:sp>
      <p:sp>
        <p:nvSpPr>
          <p:cNvPr id="27" name="pattern-4"/>
          <p:cNvSpPr/>
          <p:nvPr/>
        </p:nvSpPr>
        <p:spPr>
          <a:xfrm>
            <a:off x="9546336" y="1554480"/>
            <a:ext cx="2057400" cy="2148840"/>
          </a:xfrm>
          <a:prstGeom prst="roundRect">
            <a:avLst>
              <a:gd name="adj" fmla="val 3556"/>
            </a:avLst>
          </a:prstGeom>
          <a:solidFill>
            <a:schemeClr val="accent6"/>
          </a:solidFill>
          <a:ln/>
        </p:spPr>
      </p:sp>
      <p:sp>
        <p:nvSpPr>
          <p:cNvPr id="28" name="Shape 26"/>
          <p:cNvSpPr/>
          <p:nvPr/>
        </p:nvSpPr>
        <p:spPr>
          <a:xfrm>
            <a:off x="9729216" y="1737360"/>
            <a:ext cx="411480" cy="411480"/>
          </a:xfrm>
          <a:prstGeom prst="ellipse">
            <a:avLst/>
          </a:prstGeom>
          <a:solidFill>
            <a:schemeClr val="accent2"/>
          </a:solidFill>
          <a:ln/>
        </p:spPr>
      </p:sp>
      <p:sp>
        <p:nvSpPr>
          <p:cNvPr id="29" name="Text 27"/>
          <p:cNvSpPr txBox="1"/>
          <p:nvPr/>
        </p:nvSpPr>
        <p:spPr>
          <a:xfrm>
            <a:off x="9729216"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8"/>
          <p:cNvSpPr txBox="1"/>
          <p:nvPr/>
        </p:nvSpPr>
        <p:spPr>
          <a:xfrm>
            <a:off x="10277856" y="1764792"/>
            <a:ext cx="1188720"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Save or act</a:t>
            </a:r>
            <a:endParaRPr lang="en-US" sz="1700" dirty="0"/>
          </a:p>
        </p:txBody>
      </p:sp>
      <p:sp>
        <p:nvSpPr>
          <p:cNvPr id="31" name="Text 29"/>
          <p:cNvSpPr txBox="1"/>
          <p:nvPr/>
        </p:nvSpPr>
        <p:spPr>
          <a:xfrm>
            <a:off x="9729216" y="2331720"/>
            <a:ext cx="1691640" cy="1280160"/>
          </a:xfrm>
          <a:prstGeom prst="rect">
            <a:avLst/>
          </a:prstGeom>
          <a:noFill/>
          <a:ln/>
        </p:spPr>
        <p:txBody>
          <a:bodyPr wrap="square" lIns="0" tIns="0" rIns="0" bIns="0" rtlCol="0" anchor="t"/>
          <a:lstStyle/>
          <a:p>
            <a:pPr indent="0" marL="0">
              <a:buNone/>
            </a:pPr>
            <a:r>
              <a:rPr lang="en-US" sz="1300" dirty="0">
                <a:solidFill>
                  <a:schemeClr val="tx1"/>
                </a:solidFill>
              </a:rPr>
              <a:t>Pass: write memory. Fail: stage-specific action, never a blind save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2011680"/>
                <a:gridCol w="2194560"/>
                <a:gridCol w="6858000"/>
              </a:tblGrid>
              <a:tr h="457200">
                <a:tc>
                  <a:txBody>
                    <a:bodyPr/>
                    <a:lstStyle/>
                    <a:p>
                      <a:pPr indent="0" marL="0">
                        <a:buNone/>
                      </a:pPr>
                      <a:r>
                        <a:rPr lang="en-US" sz="1400" b="1" dirty="0">
                          <a:solidFill>
                            <a:schemeClr val="bg1"/>
                          </a:solidFill>
                        </a:rPr>
                        <a:t>Stage</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On pass</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On fail</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chemeClr val="accent1"/>
                    </a:solidFill>
                  </a:tcPr>
                </a:tc>
              </a:tr>
              <a:tr h="457200">
                <a:tc>
                  <a:txBody>
                    <a:bodyPr/>
                    <a:lstStyle/>
                    <a:p>
                      <a:pPr indent="0" marL="0">
                        <a:buNone/>
                      </a:pPr>
                      <a:r>
                        <a:rPr lang="en-US" sz="1400" b="1" dirty="0">
                          <a:solidFill>
                            <a:schemeClr val="tx1"/>
                          </a:solidFill>
                        </a:rPr>
                        <a:t>1 Convert</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write memory</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5"/>
                          </a:solidFill>
                        </a:rPr>
                        <a:t>Not saved; FIX-FORWARD-REQUIRED (no reload)</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1"/>
                          </a:solidFill>
                        </a:rPr>
                        <a:t>2 Golden</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write memory</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5"/>
                          </a:solidFill>
                        </a:rPr>
                        <a:t>Automatic re-point back to converted, re-check</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1"/>
                          </a:solidFill>
                        </a:rPr>
                        <a:t>3 Cleanup</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write memory</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5"/>
                          </a:solidFill>
                        </a:rPr>
                        <a:t>Not saved; restore objects from backup</a:t>
                      </a:r>
                      <a:endParaRPr lang="en-US" sz="14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Stage 1 converts in place; stage 2 moves ports onto golden</a:t>
            </a:r>
            <a:endParaRPr lang="en-US" sz="2800" dirty="0"/>
          </a:p>
        </p:txBody>
      </p:sp>
      <p:sp>
        <p:nvSpPr>
          <p:cNvPr id="3" name="Shape 1"/>
          <p:cNvSpPr/>
          <p:nvPr/>
        </p:nvSpPr>
        <p:spPr>
          <a:xfrm>
            <a:off x="548640" y="1508760"/>
            <a:ext cx="5440680" cy="3611880"/>
          </a:xfrm>
          <a:prstGeom prst="roundRect">
            <a:avLst>
              <a:gd name="adj" fmla="val 2025"/>
            </a:avLst>
          </a:prstGeom>
          <a:solidFill>
            <a:schemeClr val="bg2"/>
          </a:solidFill>
          <a:ln/>
        </p:spPr>
      </p:sp>
      <p:sp>
        <p:nvSpPr>
          <p:cNvPr id="4" name="Text 2"/>
          <p:cNvSpPr txBox="1"/>
          <p:nvPr/>
        </p:nvSpPr>
        <p:spPr>
          <a:xfrm>
            <a:off x="822960" y="1691640"/>
            <a:ext cx="48920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Stage 1: convert</a:t>
            </a:r>
            <a:endParaRPr lang="en-US" sz="2000" dirty="0"/>
          </a:p>
        </p:txBody>
      </p:sp>
      <p:sp>
        <p:nvSpPr>
          <p:cNvPr id="5" name="Text 3"/>
          <p:cNvSpPr txBox="1"/>
          <p:nvPr/>
        </p:nvSpPr>
        <p:spPr>
          <a:xfrm>
            <a:off x="822960" y="2103120"/>
            <a:ext cx="4892040" cy="320040"/>
          </a:xfrm>
          <a:prstGeom prst="rect">
            <a:avLst/>
          </a:prstGeom>
          <a:noFill/>
          <a:ln/>
        </p:spPr>
        <p:txBody>
          <a:bodyPr wrap="square" lIns="0" tIns="0" rIns="0" bIns="0" rtlCol="0" anchor="t"/>
          <a:lstStyle/>
          <a:p>
            <a:pPr indent="0" marL="0">
              <a:buNone/>
            </a:pPr>
            <a:r>
              <a:rPr lang="en-US" sz="1200" i="1" dirty="0">
                <a:solidFill>
                  <a:schemeClr val="tx1"/>
                </a:solidFill>
              </a:rPr>
              <a:t>ibns_stage1_convert.yml · one-way</a:t>
            </a:r>
            <a:endParaRPr lang="en-US" sz="1200" dirty="0"/>
          </a:p>
        </p:txBody>
      </p:sp>
      <p:sp>
        <p:nvSpPr>
          <p:cNvPr id="6" name="Text 4"/>
          <p:cNvSpPr txBox="1"/>
          <p:nvPr/>
        </p:nvSpPr>
        <p:spPr>
          <a:xfrm>
            <a:off x="822960" y="2514600"/>
            <a:ext cx="489204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Runs authentication convert-to new-style</a:t>
            </a:r>
            <a:endParaRPr lang="en-US" sz="1400" dirty="0"/>
          </a:p>
          <a:p>
            <a:pPr marL="342900" indent="-342900">
              <a:spcAft>
                <a:spcPts val="400"/>
              </a:spcAft>
              <a:buSzPct val="100000"/>
              <a:buChar char="•"/>
            </a:pPr>
            <a:r>
              <a:rPr lang="en-US" sz="1400" dirty="0">
                <a:solidFill>
                  <a:schemeClr val="tx1"/>
                </a:solidFill>
              </a:rPr>
              <a:t>Converted config behaves like the legacy config</a:t>
            </a:r>
            <a:endParaRPr lang="en-US" sz="1400" dirty="0"/>
          </a:p>
          <a:p>
            <a:pPr marL="342900" indent="-342900">
              <a:spcAft>
                <a:spcPts val="400"/>
              </a:spcAft>
              <a:buSzPct val="100000"/>
              <a:buChar char="•"/>
            </a:pPr>
            <a:r>
              <a:rPr lang="en-US" sz="1400" dirty="0">
                <a:solidFill>
                  <a:schemeClr val="tx1"/>
                </a:solidFill>
              </a:rPr>
              <a:t>write memory only after the post-check passes</a:t>
            </a:r>
            <a:endParaRPr lang="en-US" sz="1400" dirty="0"/>
          </a:p>
          <a:p>
            <a:pPr marL="342900" indent="-342900">
              <a:spcAft>
                <a:spcPts val="400"/>
              </a:spcAft>
              <a:buSzPct val="100000"/>
              <a:buChar char="•"/>
            </a:pPr>
            <a:r>
              <a:rPr lang="en-US" sz="1400" dirty="0">
                <a:solidFill>
                  <a:schemeClr val="tx1"/>
                </a:solidFill>
              </a:rPr>
              <a:t>Failure: fix forward in new-style; console restore last</a:t>
            </a:r>
            <a:endParaRPr lang="en-US" sz="1400" dirty="0"/>
          </a:p>
        </p:txBody>
      </p:sp>
      <p:sp>
        <p:nvSpPr>
          <p:cNvPr id="7" name="Shape 5"/>
          <p:cNvSpPr/>
          <p:nvPr/>
        </p:nvSpPr>
        <p:spPr>
          <a:xfrm>
            <a:off x="822960" y="3886200"/>
            <a:ext cx="4892040" cy="1005840"/>
          </a:xfrm>
          <a:prstGeom prst="roundRect">
            <a:avLst>
              <a:gd name="adj" fmla="val 7273"/>
            </a:avLst>
          </a:prstGeom>
          <a:solidFill>
            <a:schemeClr val="tx1"/>
          </a:solidFill>
          <a:ln/>
        </p:spPr>
      </p:sp>
      <p:sp>
        <p:nvSpPr>
          <p:cNvPr id="8" name="Text 6"/>
          <p:cNvSpPr txBox="1"/>
          <p:nvPr/>
        </p:nvSpPr>
        <p:spPr>
          <a:xfrm>
            <a:off x="1005840" y="3977640"/>
            <a:ext cx="4526280" cy="82296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#MODE_ENABLE + #INTERACTIVE</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authentication convert-to new-style</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  &lt;IQ&gt;continue&lt;R&gt;yes</a:t>
            </a:r>
            <a:endParaRPr lang="en-US" sz="1100" dirty="0"/>
          </a:p>
        </p:txBody>
      </p:sp>
      <p:sp>
        <p:nvSpPr>
          <p:cNvPr id="9" name="Shape 7"/>
          <p:cNvSpPr/>
          <p:nvPr/>
        </p:nvSpPr>
        <p:spPr>
          <a:xfrm>
            <a:off x="6172200" y="1508760"/>
            <a:ext cx="5440680" cy="3611880"/>
          </a:xfrm>
          <a:prstGeom prst="roundRect">
            <a:avLst>
              <a:gd name="adj" fmla="val 2025"/>
            </a:avLst>
          </a:prstGeom>
          <a:solidFill>
            <a:schemeClr val="accent6"/>
          </a:solidFill>
          <a:ln/>
        </p:spPr>
      </p:sp>
      <p:sp>
        <p:nvSpPr>
          <p:cNvPr id="10" name="Text 8"/>
          <p:cNvSpPr txBox="1"/>
          <p:nvPr/>
        </p:nvSpPr>
        <p:spPr>
          <a:xfrm>
            <a:off x="6446520" y="1691640"/>
            <a:ext cx="48920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Stage 2: golden</a:t>
            </a:r>
            <a:endParaRPr lang="en-US" sz="2000" dirty="0"/>
          </a:p>
        </p:txBody>
      </p:sp>
      <p:sp>
        <p:nvSpPr>
          <p:cNvPr id="11" name="Text 9"/>
          <p:cNvSpPr txBox="1"/>
          <p:nvPr/>
        </p:nvSpPr>
        <p:spPr>
          <a:xfrm>
            <a:off x="6446520" y="2103120"/>
            <a:ext cx="4892040" cy="320040"/>
          </a:xfrm>
          <a:prstGeom prst="rect">
            <a:avLst/>
          </a:prstGeom>
          <a:noFill/>
          <a:ln/>
        </p:spPr>
        <p:txBody>
          <a:bodyPr wrap="square" lIns="0" tIns="0" rIns="0" bIns="0" rtlCol="0" anchor="t"/>
          <a:lstStyle/>
          <a:p>
            <a:pPr indent="0" marL="0">
              <a:buNone/>
            </a:pPr>
            <a:r>
              <a:rPr lang="en-US" sz="1200" i="1" dirty="0">
                <a:solidFill>
                  <a:schemeClr val="tx1"/>
                </a:solidFill>
              </a:rPr>
              <a:t>ibns_stage2_golden.yml · reversible per port</a:t>
            </a:r>
            <a:endParaRPr lang="en-US" sz="1200" dirty="0"/>
          </a:p>
        </p:txBody>
      </p:sp>
      <p:sp>
        <p:nvSpPr>
          <p:cNvPr id="12" name="Text 10"/>
          <p:cNvSpPr txBox="1"/>
          <p:nvPr/>
        </p:nvSpPr>
        <p:spPr>
          <a:xfrm>
            <a:off x="6446520" y="2514600"/>
            <a:ext cx="489204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Golden global config added alongside the converted one</a:t>
            </a:r>
            <a:endParaRPr lang="en-US" sz="1400" dirty="0"/>
          </a:p>
          <a:p>
            <a:pPr marL="342900" indent="-342900">
              <a:spcAft>
                <a:spcPts val="400"/>
              </a:spcAft>
              <a:buSzPct val="100000"/>
              <a:buChar char="•"/>
            </a:pPr>
            <a:r>
              <a:rPr lang="en-US" sz="1400" dirty="0">
                <a:solidFill>
                  <a:schemeClr val="tx1"/>
                </a:solidFill>
              </a:rPr>
              <a:t>One golden template per port class</a:t>
            </a:r>
            <a:endParaRPr lang="en-US" sz="1400" dirty="0"/>
          </a:p>
          <a:p>
            <a:pPr marL="342900" indent="-342900">
              <a:spcAft>
                <a:spcPts val="400"/>
              </a:spcAft>
              <a:buSzPct val="100000"/>
              <a:buChar char="•"/>
            </a:pPr>
            <a:r>
              <a:rPr lang="en-US" sz="1400" dirty="0">
                <a:solidFill>
                  <a:schemeClr val="tx1"/>
                </a:solidFill>
              </a:rPr>
              <a:t>Each access port re-pointed in one push</a:t>
            </a:r>
            <a:endParaRPr lang="en-US" sz="1400" dirty="0"/>
          </a:p>
          <a:p>
            <a:pPr marL="342900" indent="-342900">
              <a:spcAft>
                <a:spcPts val="400"/>
              </a:spcAft>
              <a:buSzPct val="100000"/>
              <a:buChar char="•"/>
            </a:pPr>
            <a:r>
              <a:rPr lang="en-US" sz="1400" dirty="0">
                <a:solidFill>
                  <a:schemeClr val="tx1"/>
                </a:solidFill>
              </a:rPr>
              <a:t>Failure: automatic re-point back, then re-check</a:t>
            </a:r>
            <a:endParaRPr lang="en-US" sz="1400" dirty="0"/>
          </a:p>
        </p:txBody>
      </p:sp>
      <p:sp>
        <p:nvSpPr>
          <p:cNvPr id="13" name="Shape 11"/>
          <p:cNvSpPr/>
          <p:nvPr/>
        </p:nvSpPr>
        <p:spPr>
          <a:xfrm>
            <a:off x="6446520" y="3886200"/>
            <a:ext cx="4892040" cy="1005840"/>
          </a:xfrm>
          <a:prstGeom prst="roundRect">
            <a:avLst>
              <a:gd name="adj" fmla="val 7273"/>
            </a:avLst>
          </a:prstGeom>
          <a:solidFill>
            <a:schemeClr val="tx1"/>
          </a:solidFill>
          <a:ln/>
        </p:spPr>
      </p:sp>
      <p:sp>
        <p:nvSpPr>
          <p:cNvPr id="14" name="Text 12"/>
          <p:cNvSpPr txBox="1"/>
          <p:nvPr/>
        </p:nvSpPr>
        <p:spPr>
          <a:xfrm>
            <a:off x="6629400" y="3977640"/>
            <a:ext cx="4526280" cy="82296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interface Gi1/0/5</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 source template IBNS2_MAB</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 no service-policy type control ...</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 no access-session ...</a:t>
            </a:r>
            <a:endParaRPr lang="en-US" sz="1100" dirty="0"/>
          </a:p>
        </p:txBody>
      </p:sp>
      <p:sp>
        <p:nvSpPr>
          <p:cNvPr id="15" name="s5-note"/>
          <p:cNvSpPr/>
          <p:nvPr/>
        </p:nvSpPr>
        <p:spPr>
          <a:xfrm>
            <a:off x="548640" y="5349240"/>
            <a:ext cx="11064240" cy="731520"/>
          </a:xfrm>
          <a:prstGeom prst="roundRect">
            <a:avLst>
              <a:gd name="adj" fmla="val 10000"/>
            </a:avLst>
          </a:prstGeom>
          <a:solidFill>
            <a:schemeClr val="bg2"/>
          </a:solidFill>
          <a:ln/>
        </p:spPr>
      </p:sp>
      <p:sp>
        <p:nvSpPr>
          <p:cNvPr id="16" name="Text 14"/>
          <p:cNvSpPr txBox="1"/>
          <p:nvPr/>
        </p:nvSpPr>
        <p:spPr>
          <a:xfrm>
            <a:off x="777240" y="5349240"/>
            <a:ext cx="10607040" cy="731520"/>
          </a:xfrm>
          <a:prstGeom prst="rect">
            <a:avLst/>
          </a:prstGeom>
          <a:noFill/>
          <a:ln/>
        </p:spPr>
        <p:txBody>
          <a:bodyPr wrap="square" lIns="0" tIns="0" rIns="0" bIns="0" rtlCol="0" anchor="ctr"/>
          <a:lstStyle/>
          <a:p>
            <a:pPr indent="0" marL="0">
              <a:buNone/>
            </a:pPr>
            <a:r>
              <a:rPr lang="en-US" sz="1400" dirty="0">
                <a:solidFill>
                  <a:schemeClr val="tx2"/>
                </a:solidFill>
              </a:rPr>
              <a:t>The RADIUS server group is read from each switch's own config, so one golden template set works across every site.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 port is never without authentication, even mid-change</a:t>
            </a:r>
            <a:endParaRPr lang="en-US" sz="2800" dirty="0"/>
          </a:p>
        </p:txBody>
      </p:sp>
      <p:sp>
        <p:nvSpPr>
          <p:cNvPr id="3" name="port-0"/>
          <p:cNvSpPr/>
          <p:nvPr/>
        </p:nvSpPr>
        <p:spPr>
          <a:xfrm>
            <a:off x="548640" y="1554480"/>
            <a:ext cx="3429000" cy="2377440"/>
          </a:xfrm>
          <a:prstGeom prst="roundRect">
            <a:avLst>
              <a:gd name="adj" fmla="val 3077"/>
            </a:avLst>
          </a:prstGeom>
          <a:solidFill>
            <a:schemeClr val="bg2"/>
          </a:solidFill>
          <a:ln/>
        </p:spPr>
      </p:sp>
      <p:sp>
        <p:nvSpPr>
          <p:cNvPr id="4" name="Text 2"/>
          <p:cNvSpPr txBox="1"/>
          <p:nvPr/>
        </p:nvSpPr>
        <p:spPr>
          <a:xfrm>
            <a:off x="777240" y="1691640"/>
            <a:ext cx="29718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Converted</a:t>
            </a:r>
            <a:endParaRPr lang="en-US" sz="1800" dirty="0"/>
          </a:p>
        </p:txBody>
      </p:sp>
      <p:sp>
        <p:nvSpPr>
          <p:cNvPr id="5" name="Text 3"/>
          <p:cNvSpPr txBox="1"/>
          <p:nvPr/>
        </p:nvSpPr>
        <p:spPr>
          <a:xfrm>
            <a:off x="777240" y="2057400"/>
            <a:ext cx="2971800" cy="274320"/>
          </a:xfrm>
          <a:prstGeom prst="rect">
            <a:avLst/>
          </a:prstGeom>
          <a:noFill/>
          <a:ln/>
        </p:spPr>
        <p:txBody>
          <a:bodyPr wrap="square" lIns="0" tIns="0" rIns="0" bIns="0" rtlCol="0" anchor="t"/>
          <a:lstStyle/>
          <a:p>
            <a:pPr indent="0" marL="0">
              <a:buNone/>
            </a:pPr>
            <a:r>
              <a:rPr lang="en-US" sz="1200" i="1" dirty="0">
                <a:solidFill>
                  <a:schemeClr val="accent3"/>
                </a:solidFill>
              </a:rPr>
              <a:t>after stage 1</a:t>
            </a:r>
            <a:endParaRPr lang="en-US" sz="1200" dirty="0"/>
          </a:p>
        </p:txBody>
      </p:sp>
      <p:sp>
        <p:nvSpPr>
          <p:cNvPr id="6" name="Text 4"/>
          <p:cNvSpPr txBox="1"/>
          <p:nvPr/>
        </p:nvSpPr>
        <p:spPr>
          <a:xfrm>
            <a:off x="777240" y="2468880"/>
            <a:ext cx="2971800" cy="18288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access-session port-control auto</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mab</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dot1x pae authenticator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service-policy type control</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subscriber POLICY_Gi1/0/5</a:t>
            </a:r>
            <a:endParaRPr lang="en-US" sz="1200" dirty="0"/>
          </a:p>
        </p:txBody>
      </p:sp>
      <p:sp>
        <p:nvSpPr>
          <p:cNvPr id="7" name="Shape 5"/>
          <p:cNvSpPr/>
          <p:nvPr/>
        </p:nvSpPr>
        <p:spPr>
          <a:xfrm>
            <a:off x="3977640" y="2743200"/>
            <a:ext cx="388620" cy="0"/>
          </a:xfrm>
          <a:prstGeom prst="line">
            <a:avLst/>
          </a:prstGeom>
          <a:noFill/>
          <a:ln w="19050">
            <a:solidFill>
              <a:schemeClr val="accent3"/>
            </a:solidFill>
            <a:prstDash val="solid"/>
            <a:tailEnd type="triangle"/>
          </a:ln>
        </p:spPr>
      </p:sp>
      <p:sp>
        <p:nvSpPr>
          <p:cNvPr id="8" name="port-1"/>
          <p:cNvSpPr/>
          <p:nvPr/>
        </p:nvSpPr>
        <p:spPr>
          <a:xfrm>
            <a:off x="4366260" y="1554480"/>
            <a:ext cx="3429000" cy="2377440"/>
          </a:xfrm>
          <a:prstGeom prst="roundRect">
            <a:avLst>
              <a:gd name="adj" fmla="val 3077"/>
            </a:avLst>
          </a:prstGeom>
          <a:solidFill>
            <a:schemeClr val="bg2"/>
          </a:solidFill>
          <a:ln/>
        </p:spPr>
      </p:sp>
      <p:sp>
        <p:nvSpPr>
          <p:cNvPr id="9" name="Text 7"/>
          <p:cNvSpPr txBox="1"/>
          <p:nvPr/>
        </p:nvSpPr>
        <p:spPr>
          <a:xfrm>
            <a:off x="4594860" y="1691640"/>
            <a:ext cx="29718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Template attached</a:t>
            </a:r>
            <a:endParaRPr lang="en-US" sz="1800" dirty="0"/>
          </a:p>
        </p:txBody>
      </p:sp>
      <p:sp>
        <p:nvSpPr>
          <p:cNvPr id="10" name="Text 8"/>
          <p:cNvSpPr txBox="1"/>
          <p:nvPr/>
        </p:nvSpPr>
        <p:spPr>
          <a:xfrm>
            <a:off x="4594860" y="2057400"/>
            <a:ext cx="2971800" cy="274320"/>
          </a:xfrm>
          <a:prstGeom prst="rect">
            <a:avLst/>
          </a:prstGeom>
          <a:noFill/>
          <a:ln/>
        </p:spPr>
        <p:txBody>
          <a:bodyPr wrap="square" lIns="0" tIns="0" rIns="0" bIns="0" rtlCol="0" anchor="t"/>
          <a:lstStyle/>
          <a:p>
            <a:pPr indent="0" marL="0">
              <a:buNone/>
            </a:pPr>
            <a:r>
              <a:rPr lang="en-US" sz="1200" i="1" dirty="0">
                <a:solidFill>
                  <a:schemeClr val="accent3"/>
                </a:solidFill>
              </a:rPr>
              <a:t>first command</a:t>
            </a:r>
            <a:endParaRPr lang="en-US" sz="1200" dirty="0"/>
          </a:p>
        </p:txBody>
      </p:sp>
      <p:sp>
        <p:nvSpPr>
          <p:cNvPr id="11" name="Text 9"/>
          <p:cNvSpPr txBox="1"/>
          <p:nvPr/>
        </p:nvSpPr>
        <p:spPr>
          <a:xfrm>
            <a:off x="4594860" y="2468880"/>
            <a:ext cx="2971800" cy="18288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source template IBNS2_MAB</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converted lines still there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(interface lines win)</a:t>
            </a:r>
            <a:endParaRPr lang="en-US" sz="1200" dirty="0"/>
          </a:p>
        </p:txBody>
      </p:sp>
      <p:sp>
        <p:nvSpPr>
          <p:cNvPr id="12" name="Shape 10"/>
          <p:cNvSpPr/>
          <p:nvPr/>
        </p:nvSpPr>
        <p:spPr>
          <a:xfrm>
            <a:off x="7795260" y="2743200"/>
            <a:ext cx="388620" cy="0"/>
          </a:xfrm>
          <a:prstGeom prst="line">
            <a:avLst/>
          </a:prstGeom>
          <a:noFill/>
          <a:ln w="19050">
            <a:solidFill>
              <a:schemeClr val="accent3"/>
            </a:solidFill>
            <a:prstDash val="solid"/>
            <a:tailEnd type="triangle"/>
          </a:ln>
        </p:spPr>
      </p:sp>
      <p:sp>
        <p:nvSpPr>
          <p:cNvPr id="13" name="port-2"/>
          <p:cNvSpPr/>
          <p:nvPr/>
        </p:nvSpPr>
        <p:spPr>
          <a:xfrm>
            <a:off x="8183880" y="1554480"/>
            <a:ext cx="3429000" cy="2377440"/>
          </a:xfrm>
          <a:prstGeom prst="roundRect">
            <a:avLst>
              <a:gd name="adj" fmla="val 3077"/>
            </a:avLst>
          </a:prstGeom>
          <a:solidFill>
            <a:schemeClr val="accent6"/>
          </a:solidFill>
          <a:ln/>
        </p:spPr>
      </p:sp>
      <p:sp>
        <p:nvSpPr>
          <p:cNvPr id="14" name="Text 12"/>
          <p:cNvSpPr txBox="1"/>
          <p:nvPr/>
        </p:nvSpPr>
        <p:spPr>
          <a:xfrm>
            <a:off x="8412480" y="1691640"/>
            <a:ext cx="29718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Golden</a:t>
            </a:r>
            <a:endParaRPr lang="en-US" sz="1800" dirty="0"/>
          </a:p>
        </p:txBody>
      </p:sp>
      <p:sp>
        <p:nvSpPr>
          <p:cNvPr id="15" name="Text 13"/>
          <p:cNvSpPr txBox="1"/>
          <p:nvPr/>
        </p:nvSpPr>
        <p:spPr>
          <a:xfrm>
            <a:off x="8412480" y="2057400"/>
            <a:ext cx="2971800" cy="274320"/>
          </a:xfrm>
          <a:prstGeom prst="rect">
            <a:avLst/>
          </a:prstGeom>
          <a:noFill/>
          <a:ln/>
        </p:spPr>
        <p:txBody>
          <a:bodyPr wrap="square" lIns="0" tIns="0" rIns="0" bIns="0" rtlCol="0" anchor="t"/>
          <a:lstStyle/>
          <a:p>
            <a:pPr indent="0" marL="0">
              <a:buNone/>
            </a:pPr>
            <a:r>
              <a:rPr lang="en-US" sz="1200" i="1" dirty="0">
                <a:solidFill>
                  <a:schemeClr val="accent3"/>
                </a:solidFill>
              </a:rPr>
              <a:t>lines stripped</a:t>
            </a:r>
            <a:endParaRPr lang="en-US" sz="1200" dirty="0"/>
          </a:p>
        </p:txBody>
      </p:sp>
      <p:sp>
        <p:nvSpPr>
          <p:cNvPr id="16" name="Text 14"/>
          <p:cNvSpPr txBox="1"/>
          <p:nvPr/>
        </p:nvSpPr>
        <p:spPr>
          <a:xfrm>
            <a:off x="8412480" y="2468880"/>
            <a:ext cx="2971800" cy="18288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source template IBNS2_MAB</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(template now applies)</a:t>
            </a:r>
            <a:endParaRPr lang="en-US" sz="1200" dirty="0"/>
          </a:p>
        </p:txBody>
      </p:sp>
      <p:sp>
        <p:nvSpPr>
          <p:cNvPr id="17" name="rollback"/>
          <p:cNvSpPr/>
          <p:nvPr/>
        </p:nvSpPr>
        <p:spPr>
          <a:xfrm>
            <a:off x="548640" y="4206240"/>
            <a:ext cx="11064240" cy="1325880"/>
          </a:xfrm>
          <a:prstGeom prst="roundRect">
            <a:avLst>
              <a:gd name="adj" fmla="val 5517"/>
            </a:avLst>
          </a:prstGeom>
          <a:solidFill>
            <a:schemeClr val="tx2"/>
          </a:solidFill>
          <a:ln/>
        </p:spPr>
      </p:sp>
      <p:sp>
        <p:nvSpPr>
          <p:cNvPr id="18" name="Text 16"/>
          <p:cNvSpPr txBox="1"/>
          <p:nvPr/>
        </p:nvSpPr>
        <p:spPr>
          <a:xfrm>
            <a:off x="822960" y="4343400"/>
            <a:ext cx="10515600" cy="365760"/>
          </a:xfrm>
          <a:prstGeom prst="rect">
            <a:avLst/>
          </a:prstGeom>
          <a:noFill/>
          <a:ln/>
        </p:spPr>
        <p:txBody>
          <a:bodyPr wrap="square" lIns="0" tIns="0" rIns="0" bIns="0"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Rollback runs the same steps in reverse</a:t>
            </a:r>
            <a:endParaRPr lang="en-US" sz="1700" dirty="0"/>
          </a:p>
        </p:txBody>
      </p:sp>
      <p:sp>
        <p:nvSpPr>
          <p:cNvPr id="19" name="Text 17"/>
          <p:cNvSpPr txBox="1"/>
          <p:nvPr/>
        </p:nvSpPr>
        <p:spPr>
          <a:xfrm>
            <a:off x="822960" y="4754880"/>
            <a:ext cx="10515600" cy="640080"/>
          </a:xfrm>
          <a:prstGeom prst="rect">
            <a:avLst/>
          </a:prstGeom>
          <a:noFill/>
          <a:ln/>
        </p:spPr>
        <p:txBody>
          <a:bodyPr wrap="square" lIns="0" tIns="0" rIns="0" bIns="0" rtlCol="0" anchor="t"/>
          <a:lstStyle/>
          <a:p>
            <a:pPr indent="0" marL="0">
              <a:buNone/>
            </a:pPr>
            <a:r>
              <a:rPr lang="en-US" sz="1400" dirty="0">
                <a:solidFill>
                  <a:schemeClr val="bg1"/>
                </a:solidFill>
              </a:rPr>
              <a:t>Restore the saved converted lines first, then remove the template. The data comes from the stage 2 snapshot, so the rollback job also works days later.</a:t>
            </a:r>
            <a:endParaRPr lang="en-US" sz="1400" dirty="0"/>
          </a:p>
        </p:txBody>
      </p:sp>
      <p:sp>
        <p:nvSpPr>
          <p:cNvPr id="20" name="Text 18"/>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300" i="1" dirty="0">
                <a:solidFill>
                  <a:schemeClr val="accent3"/>
                </a:solidFill>
              </a:rPr>
              <a:t>Both command lists come from ibns_repoint_commands and ibns_rollback_commands in the filter plugin; unit tests check the order.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the post-check compares, and when</a:t>
            </a:r>
            <a:endParaRPr lang="en-US" sz="2800" dirty="0"/>
          </a:p>
        </p:txBody>
      </p:sp>
      <p:sp>
        <p:nvSpPr>
          <p:cNvPr id="3" name="layer-1"/>
          <p:cNvSpPr/>
          <p:nvPr/>
        </p:nvSpPr>
        <p:spPr>
          <a:xfrm>
            <a:off x="548640" y="1508760"/>
            <a:ext cx="3474720" cy="3931920"/>
          </a:xfrm>
          <a:prstGeom prst="roundRect">
            <a:avLst>
              <a:gd name="adj" fmla="val 2105"/>
            </a:avLst>
          </a:prstGeom>
          <a:solidFill>
            <a:schemeClr val="bg2"/>
          </a:solidFill>
          <a:ln/>
        </p:spPr>
      </p:sp>
      <p:sp>
        <p:nvSpPr>
          <p:cNvPr id="4" name="Text 2"/>
          <p:cNvSpPr txBox="1"/>
          <p:nvPr/>
        </p:nvSpPr>
        <p:spPr>
          <a:xfrm>
            <a:off x="822960" y="1645920"/>
            <a:ext cx="731520" cy="73152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1</a:t>
            </a:r>
            <a:endParaRPr lang="en-US" sz="4400" dirty="0"/>
          </a:p>
        </p:txBody>
      </p:sp>
      <p:sp>
        <p:nvSpPr>
          <p:cNvPr id="5" name="Text 3"/>
          <p:cNvSpPr txBox="1"/>
          <p:nvPr/>
        </p:nvSpPr>
        <p:spPr>
          <a:xfrm>
            <a:off x="1463040" y="1783080"/>
            <a:ext cx="237744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Config checks</a:t>
            </a:r>
            <a:endParaRPr lang="en-US" sz="1900" dirty="0"/>
          </a:p>
        </p:txBody>
      </p:sp>
      <p:sp>
        <p:nvSpPr>
          <p:cNvPr id="6" name="Text 4"/>
          <p:cNvSpPr txBox="1"/>
          <p:nvPr/>
        </p:nvSpPr>
        <p:spPr>
          <a:xfrm>
            <a:off x="1463040" y="2176272"/>
            <a:ext cx="2377440" cy="274320"/>
          </a:xfrm>
          <a:prstGeom prst="rect">
            <a:avLst/>
          </a:prstGeom>
          <a:noFill/>
          <a:ln/>
        </p:spPr>
        <p:txBody>
          <a:bodyPr wrap="square" lIns="0" tIns="0" rIns="0" bIns="0" rtlCol="0" anchor="t"/>
          <a:lstStyle/>
          <a:p>
            <a:pPr indent="0" marL="0">
              <a:buNone/>
            </a:pPr>
            <a:r>
              <a:rPr lang="en-US" sz="1200" i="1" dirty="0">
                <a:solidFill>
                  <a:schemeClr val="accent3"/>
                </a:solidFill>
              </a:rPr>
              <a:t>every post-check</a:t>
            </a:r>
            <a:endParaRPr lang="en-US" sz="1200" dirty="0"/>
          </a:p>
        </p:txBody>
      </p:sp>
      <p:sp>
        <p:nvSpPr>
          <p:cNvPr id="7" name="Text 5"/>
          <p:cNvSpPr txBox="1"/>
          <p:nvPr/>
        </p:nvSpPr>
        <p:spPr>
          <a:xfrm>
            <a:off x="822960" y="2697480"/>
            <a:ext cx="292608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Golden template on every planned port</a:t>
            </a:r>
            <a:endParaRPr lang="en-US" sz="1400" dirty="0"/>
          </a:p>
          <a:p>
            <a:pPr marL="342900" indent="-342900">
              <a:spcAft>
                <a:spcPts val="800"/>
              </a:spcAft>
              <a:buSzPct val="100000"/>
              <a:buChar char="•"/>
            </a:pPr>
            <a:r>
              <a:rPr lang="en-US" sz="1400" dirty="0">
                <a:solidFill>
                  <a:schemeClr val="tx1"/>
                </a:solidFill>
              </a:rPr>
              <a:t>No auth config on trunks or uplinks</a:t>
            </a:r>
            <a:endParaRPr lang="en-US" sz="1400" dirty="0"/>
          </a:p>
          <a:p>
            <a:pPr marL="342900" indent="-342900">
              <a:spcAft>
                <a:spcPts val="800"/>
              </a:spcAft>
              <a:buSzPct val="100000"/>
              <a:buChar char="•"/>
            </a:pPr>
            <a:r>
              <a:rPr lang="en-US" sz="1400" dirty="0">
                <a:solidFill>
                  <a:schemeClr val="tx1"/>
                </a:solidFill>
              </a:rPr>
              <a:t>Port class unchanged</a:t>
            </a:r>
            <a:endParaRPr lang="en-US" sz="1400" dirty="0"/>
          </a:p>
          <a:p>
            <a:pPr marL="342900" indent="-342900">
              <a:spcAft>
                <a:spcPts val="800"/>
              </a:spcAft>
              <a:buSzPct val="100000"/>
              <a:buChar char="•"/>
            </a:pPr>
            <a:r>
              <a:rPr lang="en-US" sz="1400" dirty="0">
                <a:solidFill>
                  <a:schemeClr val="tx1"/>
                </a:solidFill>
              </a:rPr>
              <a:t>RADIUS servers to ClearPass UP</a:t>
            </a:r>
            <a:endParaRPr lang="en-US" sz="1400" dirty="0"/>
          </a:p>
        </p:txBody>
      </p:sp>
      <p:sp>
        <p:nvSpPr>
          <p:cNvPr id="8" name="layer-2"/>
          <p:cNvSpPr/>
          <p:nvPr/>
        </p:nvSpPr>
        <p:spPr>
          <a:xfrm>
            <a:off x="4343400" y="1508760"/>
            <a:ext cx="3474720" cy="3931920"/>
          </a:xfrm>
          <a:prstGeom prst="roundRect">
            <a:avLst>
              <a:gd name="adj" fmla="val 2105"/>
            </a:avLst>
          </a:prstGeom>
          <a:solidFill>
            <a:schemeClr val="bg2"/>
          </a:solidFill>
          <a:ln/>
        </p:spPr>
      </p:sp>
      <p:sp>
        <p:nvSpPr>
          <p:cNvPr id="9" name="Text 7"/>
          <p:cNvSpPr txBox="1"/>
          <p:nvPr/>
        </p:nvSpPr>
        <p:spPr>
          <a:xfrm>
            <a:off x="4617720" y="1645920"/>
            <a:ext cx="731520" cy="73152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2</a:t>
            </a:r>
            <a:endParaRPr lang="en-US" sz="4400" dirty="0"/>
          </a:p>
        </p:txBody>
      </p:sp>
      <p:sp>
        <p:nvSpPr>
          <p:cNvPr id="10" name="Text 8"/>
          <p:cNvSpPr txBox="1"/>
          <p:nvPr/>
        </p:nvSpPr>
        <p:spPr>
          <a:xfrm>
            <a:off x="5257800" y="1783080"/>
            <a:ext cx="237744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Live sessions</a:t>
            </a:r>
            <a:endParaRPr lang="en-US" sz="1900" dirty="0"/>
          </a:p>
        </p:txBody>
      </p:sp>
      <p:sp>
        <p:nvSpPr>
          <p:cNvPr id="11" name="Text 9"/>
          <p:cNvSpPr txBox="1"/>
          <p:nvPr/>
        </p:nvSpPr>
        <p:spPr>
          <a:xfrm>
            <a:off x="5257800" y="2176272"/>
            <a:ext cx="2377440" cy="274320"/>
          </a:xfrm>
          <a:prstGeom prst="rect">
            <a:avLst/>
          </a:prstGeom>
          <a:noFill/>
          <a:ln/>
        </p:spPr>
        <p:txBody>
          <a:bodyPr wrap="square" lIns="0" tIns="0" rIns="0" bIns="0" rtlCol="0" anchor="t"/>
          <a:lstStyle/>
          <a:p>
            <a:pPr indent="0" marL="0">
              <a:buNone/>
            </a:pPr>
            <a:r>
              <a:rPr lang="en-US" sz="1200" i="1" dirty="0">
                <a:solidFill>
                  <a:schemeClr val="accent3"/>
                </a:solidFill>
              </a:rPr>
              <a:t>in the window</a:t>
            </a:r>
            <a:endParaRPr lang="en-US" sz="1200" dirty="0"/>
          </a:p>
        </p:txBody>
      </p:sp>
      <p:sp>
        <p:nvSpPr>
          <p:cNvPr id="12" name="Text 10"/>
          <p:cNvSpPr txBox="1"/>
          <p:nvPr/>
        </p:nvSpPr>
        <p:spPr>
          <a:xfrm>
            <a:off x="4617720" y="2697480"/>
            <a:ext cx="292608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Matched per MAC address</a:t>
            </a:r>
            <a:endParaRPr lang="en-US" sz="1400" dirty="0"/>
          </a:p>
          <a:p>
            <a:pPr marL="342900" indent="-342900">
              <a:spcAft>
                <a:spcPts val="800"/>
              </a:spcAft>
              <a:buSzPct val="100000"/>
              <a:buChar char="•"/>
            </a:pPr>
            <a:r>
              <a:rPr lang="en-US" sz="1400" dirty="0">
                <a:solidFill>
                  <a:schemeClr val="tx1"/>
                </a:solidFill>
              </a:rPr>
              <a:t>Same port, still authorized</a:t>
            </a:r>
            <a:endParaRPr lang="en-US" sz="1400" dirty="0"/>
          </a:p>
          <a:p>
            <a:pPr marL="342900" indent="-342900">
              <a:spcAft>
                <a:spcPts val="800"/>
              </a:spcAft>
              <a:buSzPct val="100000"/>
              <a:buChar char="•"/>
            </a:pPr>
            <a:r>
              <a:rPr lang="en-US" sz="1400" dirty="0">
                <a:solidFill>
                  <a:schemeClr val="tx1"/>
                </a:solidFill>
              </a:rPr>
              <a:t>Same domain and method</a:t>
            </a:r>
            <a:endParaRPr lang="en-US" sz="1400" dirty="0"/>
          </a:p>
          <a:p>
            <a:pPr marL="342900" indent="-342900">
              <a:spcAft>
                <a:spcPts val="800"/>
              </a:spcAft>
              <a:buSzPct val="100000"/>
              <a:buChar char="•"/>
            </a:pPr>
            <a:r>
              <a:rPr lang="en-US" sz="1400" dirty="0">
                <a:solidFill>
                  <a:schemeClr val="tx1"/>
                </a:solidFill>
              </a:rPr>
              <a:t>Same VLAN and ACL; no fail-open</a:t>
            </a:r>
            <a:endParaRPr lang="en-US" sz="1400" dirty="0"/>
          </a:p>
        </p:txBody>
      </p:sp>
      <p:sp>
        <p:nvSpPr>
          <p:cNvPr id="13" name="layer-3"/>
          <p:cNvSpPr/>
          <p:nvPr/>
        </p:nvSpPr>
        <p:spPr>
          <a:xfrm>
            <a:off x="8138160" y="1508760"/>
            <a:ext cx="3474720" cy="3931920"/>
          </a:xfrm>
          <a:prstGeom prst="roundRect">
            <a:avLst>
              <a:gd name="adj" fmla="val 2105"/>
            </a:avLst>
          </a:prstGeom>
          <a:solidFill>
            <a:schemeClr val="accent6"/>
          </a:solidFill>
          <a:ln/>
        </p:spPr>
      </p:sp>
      <p:sp>
        <p:nvSpPr>
          <p:cNvPr id="14" name="Text 12"/>
          <p:cNvSpPr txBox="1"/>
          <p:nvPr/>
        </p:nvSpPr>
        <p:spPr>
          <a:xfrm>
            <a:off x="8412480" y="1645920"/>
            <a:ext cx="731520" cy="73152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3</a:t>
            </a:r>
            <a:endParaRPr lang="en-US" sz="4400" dirty="0"/>
          </a:p>
        </p:txBody>
      </p:sp>
      <p:sp>
        <p:nvSpPr>
          <p:cNvPr id="15" name="Text 13"/>
          <p:cNvSpPr txBox="1"/>
          <p:nvPr/>
        </p:nvSpPr>
        <p:spPr>
          <a:xfrm>
            <a:off x="9052560" y="1783080"/>
            <a:ext cx="237744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Next-day check</a:t>
            </a:r>
            <a:endParaRPr lang="en-US" sz="1900" dirty="0"/>
          </a:p>
        </p:txBody>
      </p:sp>
      <p:sp>
        <p:nvSpPr>
          <p:cNvPr id="16" name="Text 14"/>
          <p:cNvSpPr txBox="1"/>
          <p:nvPr/>
        </p:nvSpPr>
        <p:spPr>
          <a:xfrm>
            <a:off x="9052560" y="2176272"/>
            <a:ext cx="2377440" cy="274320"/>
          </a:xfrm>
          <a:prstGeom prst="rect">
            <a:avLst/>
          </a:prstGeom>
          <a:noFill/>
          <a:ln/>
        </p:spPr>
        <p:txBody>
          <a:bodyPr wrap="square" lIns="0" tIns="0" rIns="0" bIns="0" rtlCol="0" anchor="t"/>
          <a:lstStyle/>
          <a:p>
            <a:pPr indent="0" marL="0">
              <a:buNone/>
            </a:pPr>
            <a:r>
              <a:rPr lang="en-US" sz="1200" i="1" dirty="0">
                <a:solidFill>
                  <a:schemeClr val="accent3"/>
                </a:solidFill>
              </a:rPr>
              <a:t>next morning</a:t>
            </a:r>
            <a:endParaRPr lang="en-US" sz="1200" dirty="0"/>
          </a:p>
        </p:txBody>
      </p:sp>
      <p:sp>
        <p:nvSpPr>
          <p:cNvPr id="17" name="Text 15"/>
          <p:cNvSpPr txBox="1"/>
          <p:nvPr/>
        </p:nvSpPr>
        <p:spPr>
          <a:xfrm>
            <a:off x="8412480" y="2697480"/>
            <a:ext cx="292608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Against the daytime baseline</a:t>
            </a:r>
            <a:endParaRPr lang="en-US" sz="1400" dirty="0"/>
          </a:p>
          <a:p>
            <a:pPr marL="342900" indent="-342900">
              <a:spcAft>
                <a:spcPts val="800"/>
              </a:spcAft>
              <a:buSzPct val="100000"/>
              <a:buChar char="•"/>
            </a:pPr>
            <a:r>
              <a:rPr lang="en-US" sz="1400" dirty="0">
                <a:solidFill>
                  <a:schemeClr val="tx1"/>
                </a:solidFill>
              </a:rPr>
              <a:t>Ports authorized then, not now</a:t>
            </a:r>
            <a:endParaRPr lang="en-US" sz="1400" dirty="0"/>
          </a:p>
          <a:p>
            <a:pPr marL="342900" indent="-342900">
              <a:spcAft>
                <a:spcPts val="800"/>
              </a:spcAft>
              <a:buSzPct val="100000"/>
              <a:buChar char="•"/>
            </a:pPr>
            <a:r>
              <a:rPr lang="en-US" sz="1400" dirty="0">
                <a:solidFill>
                  <a:schemeClr val="tx1"/>
                </a:solidFill>
              </a:rPr>
              <a:t>Read-only; separate job</a:t>
            </a:r>
            <a:endParaRPr lang="en-US" sz="1400" dirty="0"/>
          </a:p>
          <a:p>
            <a:pPr marL="342900" indent="-342900">
              <a:spcAft>
                <a:spcPts val="800"/>
              </a:spcAft>
              <a:buSzPct val="100000"/>
              <a:buChar char="•"/>
            </a:pPr>
            <a:r>
              <a:rPr lang="en-US" sz="1400" dirty="0">
                <a:solidFill>
                  <a:schemeClr val="tx1"/>
                </a:solidFill>
              </a:rPr>
              <a:t>Issues: fix per port or roll back</a:t>
            </a:r>
            <a:endParaRPr lang="en-US" sz="1400" dirty="0"/>
          </a:p>
        </p:txBody>
      </p:sp>
      <p:sp>
        <p:nvSpPr>
          <p:cNvPr id="18" name="Text 16"/>
          <p:cNvSpPr txBox="1"/>
          <p:nvPr/>
        </p:nvSpPr>
        <p:spPr>
          <a:xfrm>
            <a:off x="548640" y="5669280"/>
            <a:ext cx="11064240" cy="411480"/>
          </a:xfrm>
          <a:prstGeom prst="rect">
            <a:avLst/>
          </a:prstGeom>
          <a:noFill/>
          <a:ln/>
        </p:spPr>
        <p:txBody>
          <a:bodyPr wrap="square" lIns="0" tIns="0" rIns="0" bIns="0" rtlCol="0" anchor="t"/>
          <a:lstStyle/>
          <a:p>
            <a:pPr indent="0" marL="0">
              <a:buNone/>
            </a:pPr>
            <a:r>
              <a:rPr lang="en-US" sz="1300" i="1" dirty="0">
                <a:solidFill>
                  <a:schemeClr val="accent3"/>
                </a:solidFill>
              </a:rPr>
              <a:t>All comparison logic lives in one filter plugin (ibns_filters.py) with unit tests, so it can be reviewed and tested off the network.</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Each port migrates only when description and config agree</a:t>
            </a:r>
            <a:endParaRPr lang="en-US" sz="2800" dirty="0"/>
          </a:p>
        </p:txBody>
      </p:sp>
      <p:sp>
        <p:nvSpPr>
          <p:cNvPr id="3" name="classify-in-0"/>
          <p:cNvSpPr/>
          <p:nvPr/>
        </p:nvSpPr>
        <p:spPr>
          <a:xfrm>
            <a:off x="548640" y="1508760"/>
            <a:ext cx="4023360" cy="960120"/>
          </a:xfrm>
          <a:prstGeom prst="roundRect">
            <a:avLst>
              <a:gd name="adj" fmla="val 7619"/>
            </a:avLst>
          </a:prstGeom>
          <a:solidFill>
            <a:schemeClr val="bg2"/>
          </a:solidFill>
          <a:ln/>
        </p:spPr>
      </p:sp>
      <p:sp>
        <p:nvSpPr>
          <p:cNvPr id="4" name="Text 2"/>
          <p:cNvSpPr txBox="1"/>
          <p:nvPr/>
        </p:nvSpPr>
        <p:spPr>
          <a:xfrm>
            <a:off x="777240" y="1618488"/>
            <a:ext cx="155448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Description</a:t>
            </a:r>
            <a:endParaRPr lang="en-US" sz="1700" dirty="0"/>
          </a:p>
        </p:txBody>
      </p:sp>
      <p:sp>
        <p:nvSpPr>
          <p:cNvPr id="5" name="Text 3"/>
          <p:cNvSpPr txBox="1"/>
          <p:nvPr/>
        </p:nvSpPr>
        <p:spPr>
          <a:xfrm>
            <a:off x="777240" y="2011680"/>
            <a:ext cx="1600200" cy="365760"/>
          </a:xfrm>
          <a:prstGeom prst="rect">
            <a:avLst/>
          </a:prstGeom>
          <a:noFill/>
          <a:ln/>
        </p:spPr>
        <p:txBody>
          <a:bodyPr wrap="square" lIns="0" tIns="0" rIns="0" bIns="0" rtlCol="0" anchor="t"/>
          <a:lstStyle/>
          <a:p>
            <a:pPr indent="0" marL="0">
              <a:buNone/>
            </a:pPr>
            <a:r>
              <a:rPr lang="en-US" sz="1100" i="1" dirty="0">
                <a:solidFill>
                  <a:schemeClr val="accent3"/>
                </a:solidFill>
              </a:rPr>
              <a:t>says what the port is for</a:t>
            </a:r>
            <a:endParaRPr lang="en-US" sz="1100" dirty="0"/>
          </a:p>
        </p:txBody>
      </p:sp>
      <p:sp>
        <p:nvSpPr>
          <p:cNvPr id="6" name="Text 4"/>
          <p:cNvSpPr txBox="1"/>
          <p:nvPr/>
        </p:nvSpPr>
        <p:spPr>
          <a:xfrm>
            <a:off x="2377440" y="1645920"/>
            <a:ext cx="2103120" cy="457200"/>
          </a:xfrm>
          <a:prstGeom prst="rect">
            <a:avLst/>
          </a:prstGeom>
          <a:noFill/>
          <a:ln/>
        </p:spPr>
        <p:txBody>
          <a:bodyPr wrap="square" lIns="0" tIns="0" rIns="0" bIns="0" rtlCol="0" anchor="t"/>
          <a:lstStyle/>
          <a:p>
            <a:pPr indent="0" marL="0">
              <a:buNone/>
            </a:pPr>
            <a:r>
              <a:rPr lang="en-US" sz="1000" dirty="0">
                <a:solidFill>
                  <a:schemeClr val="tx2"/>
                </a:solidFill>
                <a:latin typeface="Courier New" pitchFamily="34" charset="0"/>
                <a:ea typeface="Courier New" pitchFamily="34" charset="-122"/>
                <a:cs typeface="Courier New" pitchFamily="34" charset="-120"/>
              </a:rPr>
              <a:t>PRN-2F-HR</a:t>
            </a:r>
            <a:endParaRPr lang="en-US" sz="1000" dirty="0"/>
          </a:p>
        </p:txBody>
      </p:sp>
      <p:sp>
        <p:nvSpPr>
          <p:cNvPr id="7" name="Text 5"/>
          <p:cNvSpPr txBox="1"/>
          <p:nvPr/>
        </p:nvSpPr>
        <p:spPr>
          <a:xfrm>
            <a:off x="2377440" y="2103120"/>
            <a:ext cx="2103120" cy="274320"/>
          </a:xfrm>
          <a:prstGeom prst="rect">
            <a:avLst/>
          </a:prstGeom>
          <a:noFill/>
          <a:ln/>
        </p:spPr>
        <p:txBody>
          <a:bodyPr wrap="square" lIns="0" tIns="0" rIns="0" bIns="0" rtlCol="0" anchor="t"/>
          <a:lstStyle/>
          <a:p>
            <a:pPr indent="0" marL="0">
              <a:buNone/>
            </a:pPr>
            <a:r>
              <a:rPr lang="en-US" sz="1200" b="1" dirty="0">
                <a:solidFill>
                  <a:schemeClr val="accent1"/>
                </a:solidFill>
              </a:rPr>
              <a:t>role: printer</a:t>
            </a:r>
            <a:endParaRPr lang="en-US" sz="1200" dirty="0"/>
          </a:p>
        </p:txBody>
      </p:sp>
      <p:sp>
        <p:nvSpPr>
          <p:cNvPr id="8" name="Shape 6"/>
          <p:cNvSpPr/>
          <p:nvPr/>
        </p:nvSpPr>
        <p:spPr>
          <a:xfrm>
            <a:off x="4572000" y="1984248"/>
            <a:ext cx="502920" cy="548640"/>
          </a:xfrm>
          <a:prstGeom prst="line">
            <a:avLst/>
          </a:prstGeom>
          <a:noFill/>
          <a:ln w="19050">
            <a:solidFill>
              <a:schemeClr val="accent3"/>
            </a:solidFill>
            <a:prstDash val="solid"/>
            <a:tailEnd type="triangle"/>
          </a:ln>
        </p:spPr>
      </p:sp>
      <p:sp>
        <p:nvSpPr>
          <p:cNvPr id="9" name="classify-in-1"/>
          <p:cNvSpPr/>
          <p:nvPr/>
        </p:nvSpPr>
        <p:spPr>
          <a:xfrm>
            <a:off x="548640" y="2606040"/>
            <a:ext cx="4023360" cy="960120"/>
          </a:xfrm>
          <a:prstGeom prst="roundRect">
            <a:avLst>
              <a:gd name="adj" fmla="val 7619"/>
            </a:avLst>
          </a:prstGeom>
          <a:solidFill>
            <a:schemeClr val="bg2"/>
          </a:solidFill>
          <a:ln/>
        </p:spPr>
      </p:sp>
      <p:sp>
        <p:nvSpPr>
          <p:cNvPr id="10" name="Text 8"/>
          <p:cNvSpPr txBox="1"/>
          <p:nvPr/>
        </p:nvSpPr>
        <p:spPr>
          <a:xfrm>
            <a:off x="777240" y="2715768"/>
            <a:ext cx="155448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Config</a:t>
            </a:r>
            <a:endParaRPr lang="en-US" sz="1700" dirty="0"/>
          </a:p>
        </p:txBody>
      </p:sp>
      <p:sp>
        <p:nvSpPr>
          <p:cNvPr id="11" name="Text 9"/>
          <p:cNvSpPr txBox="1"/>
          <p:nvPr/>
        </p:nvSpPr>
        <p:spPr>
          <a:xfrm>
            <a:off x="777240" y="3108960"/>
            <a:ext cx="1600200" cy="365760"/>
          </a:xfrm>
          <a:prstGeom prst="rect">
            <a:avLst/>
          </a:prstGeom>
          <a:noFill/>
          <a:ln/>
        </p:spPr>
        <p:txBody>
          <a:bodyPr wrap="square" lIns="0" tIns="0" rIns="0" bIns="0" rtlCol="0" anchor="t"/>
          <a:lstStyle/>
          <a:p>
            <a:pPr indent="0" marL="0">
              <a:buNone/>
            </a:pPr>
            <a:r>
              <a:rPr lang="en-US" sz="1100" i="1" dirty="0">
                <a:solidFill>
                  <a:schemeClr val="accent3"/>
                </a:solidFill>
              </a:rPr>
              <a:t>says what the port does</a:t>
            </a:r>
            <a:endParaRPr lang="en-US" sz="1100" dirty="0"/>
          </a:p>
        </p:txBody>
      </p:sp>
      <p:sp>
        <p:nvSpPr>
          <p:cNvPr id="12" name="Text 10"/>
          <p:cNvSpPr txBox="1"/>
          <p:nvPr/>
        </p:nvSpPr>
        <p:spPr>
          <a:xfrm>
            <a:off x="2377440" y="2743200"/>
            <a:ext cx="2103120" cy="457200"/>
          </a:xfrm>
          <a:prstGeom prst="rect">
            <a:avLst/>
          </a:prstGeom>
          <a:noFill/>
          <a:ln/>
        </p:spPr>
        <p:txBody>
          <a:bodyPr wrap="square" lIns="0" tIns="0" rIns="0" bIns="0" rtlCol="0" anchor="t"/>
          <a:lstStyle/>
          <a:p>
            <a:pPr indent="0" marL="0">
              <a:buNone/>
            </a:pPr>
            <a:r>
              <a:rPr lang="en-US" sz="1000" dirty="0">
                <a:solidFill>
                  <a:schemeClr val="tx2"/>
                </a:solidFill>
                <a:latin typeface="Courier New" pitchFamily="34" charset="0"/>
                <a:ea typeface="Courier New" pitchFamily="34" charset="-122"/>
                <a:cs typeface="Courier New" pitchFamily="34" charset="-120"/>
              </a:rPr>
              <a:t>mab</a:t>
            </a:r>
            <a:endParaRPr lang="en-US" sz="1000" dirty="0"/>
          </a:p>
          <a:p>
            <a:pPr indent="0" marL="0">
              <a:buNone/>
            </a:pPr>
            <a:r>
              <a:rPr lang="en-US" sz="1000" dirty="0">
                <a:solidFill>
                  <a:schemeClr val="tx2"/>
                </a:solidFill>
                <a:latin typeface="Courier New" pitchFamily="34" charset="0"/>
                <a:ea typeface="Courier New" pitchFamily="34" charset="-122"/>
                <a:cs typeface="Courier New" pitchFamily="34" charset="-120"/>
              </a:rPr>
              <a:t>(no dot1x pae)</a:t>
            </a:r>
            <a:endParaRPr lang="en-US" sz="1000" dirty="0"/>
          </a:p>
        </p:txBody>
      </p:sp>
      <p:sp>
        <p:nvSpPr>
          <p:cNvPr id="13" name="Text 11"/>
          <p:cNvSpPr txBox="1"/>
          <p:nvPr/>
        </p:nvSpPr>
        <p:spPr>
          <a:xfrm>
            <a:off x="2377440" y="3200400"/>
            <a:ext cx="2103120" cy="274320"/>
          </a:xfrm>
          <a:prstGeom prst="rect">
            <a:avLst/>
          </a:prstGeom>
          <a:noFill/>
          <a:ln/>
        </p:spPr>
        <p:txBody>
          <a:bodyPr wrap="square" lIns="0" tIns="0" rIns="0" bIns="0" rtlCol="0" anchor="t"/>
          <a:lstStyle/>
          <a:p>
            <a:pPr indent="0" marL="0">
              <a:buNone/>
            </a:pPr>
            <a:r>
              <a:rPr lang="en-US" sz="1200" b="1" dirty="0">
                <a:solidFill>
                  <a:schemeClr val="accent1"/>
                </a:solidFill>
              </a:rPr>
              <a:t>class: mab-only</a:t>
            </a:r>
            <a:endParaRPr lang="en-US" sz="1200" dirty="0"/>
          </a:p>
        </p:txBody>
      </p:sp>
      <p:sp>
        <p:nvSpPr>
          <p:cNvPr id="14" name="Shape 12"/>
          <p:cNvSpPr/>
          <p:nvPr/>
        </p:nvSpPr>
        <p:spPr>
          <a:xfrm>
            <a:off x="4572000" y="3081528"/>
            <a:ext cx="502920" cy="-548640"/>
          </a:xfrm>
          <a:prstGeom prst="line">
            <a:avLst/>
          </a:prstGeom>
          <a:noFill/>
          <a:ln w="19050">
            <a:solidFill>
              <a:schemeClr val="accent3"/>
            </a:solidFill>
            <a:prstDash val="solid"/>
            <a:tailEnd type="triangle"/>
          </a:ln>
        </p:spPr>
      </p:sp>
      <p:sp>
        <p:nvSpPr>
          <p:cNvPr id="15" name="classify-agree"/>
          <p:cNvSpPr/>
          <p:nvPr/>
        </p:nvSpPr>
        <p:spPr>
          <a:xfrm>
            <a:off x="5074920" y="1783080"/>
            <a:ext cx="2103120" cy="1417320"/>
          </a:xfrm>
          <a:prstGeom prst="roundRect">
            <a:avLst>
              <a:gd name="adj" fmla="val 5161"/>
            </a:avLst>
          </a:prstGeom>
          <a:solidFill>
            <a:schemeClr val="accent1"/>
          </a:solidFill>
          <a:ln/>
        </p:spPr>
      </p:sp>
      <p:sp>
        <p:nvSpPr>
          <p:cNvPr id="16" name="Text 14"/>
          <p:cNvSpPr txBox="1"/>
          <p:nvPr/>
        </p:nvSpPr>
        <p:spPr>
          <a:xfrm>
            <a:off x="5074920" y="1920240"/>
            <a:ext cx="2103120" cy="411480"/>
          </a:xfrm>
          <a:prstGeom prst="rect">
            <a:avLst/>
          </a:prstGeom>
          <a:noFill/>
          <a:ln/>
        </p:spPr>
        <p:txBody>
          <a:bodyPr wrap="square" lIns="0" tIns="0" rIns="0" bIns="0" rtlCol="0" anchor="t"/>
          <a:lstStyle/>
          <a:p>
            <a:pPr algn="ctr" indent="0" marL="0">
              <a:buNone/>
            </a:pPr>
            <a:r>
              <a:rPr lang="en-US" sz="1900" b="1" dirty="0">
                <a:solidFill>
                  <a:schemeClr val="bg1"/>
                </a:solidFill>
                <a:latin typeface="Cambria" pitchFamily="34" charset="0"/>
                <a:ea typeface="Cambria" pitchFamily="34" charset="-122"/>
                <a:cs typeface="Cambria" pitchFamily="34" charset="-120"/>
              </a:rPr>
              <a:t>Agree?</a:t>
            </a:r>
            <a:endParaRPr lang="en-US" sz="1900" dirty="0"/>
          </a:p>
        </p:txBody>
      </p:sp>
      <p:sp>
        <p:nvSpPr>
          <p:cNvPr id="17" name="Text 15"/>
          <p:cNvSpPr txBox="1"/>
          <p:nvPr/>
        </p:nvSpPr>
        <p:spPr>
          <a:xfrm>
            <a:off x="5257800" y="2377440"/>
            <a:ext cx="1737360" cy="685800"/>
          </a:xfrm>
          <a:prstGeom prst="rect">
            <a:avLst/>
          </a:prstGeom>
          <a:noFill/>
          <a:ln/>
        </p:spPr>
        <p:txBody>
          <a:bodyPr wrap="square" lIns="0" tIns="0" rIns="0" bIns="0" rtlCol="0" anchor="t"/>
          <a:lstStyle/>
          <a:p>
            <a:pPr algn="ctr" indent="0" marL="0">
              <a:buNone/>
            </a:pPr>
            <a:r>
              <a:rPr lang="en-US" sz="1100" dirty="0">
                <a:solidFill>
                  <a:schemeClr val="accent6"/>
                </a:solidFill>
              </a:rPr>
              <a:t>role allows this class (ibns_port_roles)</a:t>
            </a:r>
            <a:endParaRPr lang="en-US" sz="1100" dirty="0"/>
          </a:p>
        </p:txBody>
      </p:sp>
      <p:sp>
        <p:nvSpPr>
          <p:cNvPr id="18" name="Shape 16"/>
          <p:cNvSpPr/>
          <p:nvPr/>
        </p:nvSpPr>
        <p:spPr>
          <a:xfrm>
            <a:off x="7178040" y="2487168"/>
            <a:ext cx="457200" cy="-676656"/>
          </a:xfrm>
          <a:prstGeom prst="line">
            <a:avLst/>
          </a:prstGeom>
          <a:noFill/>
          <a:ln w="19050">
            <a:solidFill>
              <a:schemeClr val="accent3"/>
            </a:solidFill>
            <a:prstDash val="solid"/>
            <a:tailEnd type="triangle"/>
          </a:ln>
        </p:spPr>
      </p:sp>
      <p:sp>
        <p:nvSpPr>
          <p:cNvPr id="19" name="classify-out-0"/>
          <p:cNvSpPr/>
          <p:nvPr/>
        </p:nvSpPr>
        <p:spPr>
          <a:xfrm>
            <a:off x="7635240" y="1508760"/>
            <a:ext cx="3977640" cy="603504"/>
          </a:xfrm>
          <a:prstGeom prst="roundRect">
            <a:avLst>
              <a:gd name="adj" fmla="val 12121"/>
            </a:avLst>
          </a:prstGeom>
          <a:solidFill>
            <a:schemeClr val="bg2"/>
          </a:solidFill>
          <a:ln/>
        </p:spPr>
      </p:sp>
      <p:sp>
        <p:nvSpPr>
          <p:cNvPr id="20" name="Shape 18"/>
          <p:cNvSpPr/>
          <p:nvPr/>
        </p:nvSpPr>
        <p:spPr>
          <a:xfrm>
            <a:off x="7635240" y="1508760"/>
            <a:ext cx="91440" cy="603504"/>
          </a:xfrm>
          <a:prstGeom prst="rect">
            <a:avLst/>
          </a:prstGeom>
          <a:solidFill>
            <a:schemeClr val="accent4"/>
          </a:solidFill>
          <a:ln/>
        </p:spPr>
      </p:sp>
      <p:sp>
        <p:nvSpPr>
          <p:cNvPr id="21" name="Text 19"/>
          <p:cNvSpPr txBox="1"/>
          <p:nvPr/>
        </p:nvSpPr>
        <p:spPr>
          <a:xfrm>
            <a:off x="7863840" y="1508760"/>
            <a:ext cx="914400" cy="603504"/>
          </a:xfrm>
          <a:prstGeom prst="rect">
            <a:avLst/>
          </a:prstGeom>
          <a:noFill/>
          <a:ln/>
        </p:spPr>
        <p:txBody>
          <a:bodyPr wrap="square" lIns="0" tIns="0" rIns="0" bIns="0" rtlCol="0" anchor="ctr"/>
          <a:lstStyle/>
          <a:p>
            <a:pPr indent="0" marL="0">
              <a:buNone/>
            </a:pPr>
            <a:r>
              <a:rPr lang="en-US" sz="1500" b="1" dirty="0">
                <a:solidFill>
                  <a:schemeClr val="accent4"/>
                </a:solidFill>
              </a:rPr>
              <a:t>Migrate</a:t>
            </a:r>
            <a:endParaRPr lang="en-US" sz="1500" dirty="0"/>
          </a:p>
        </p:txBody>
      </p:sp>
      <p:sp>
        <p:nvSpPr>
          <p:cNvPr id="22" name="Text 20"/>
          <p:cNvSpPr txBox="1"/>
          <p:nvPr/>
        </p:nvSpPr>
        <p:spPr>
          <a:xfrm>
            <a:off x="8778240" y="1508760"/>
            <a:ext cx="2743200" cy="603504"/>
          </a:xfrm>
          <a:prstGeom prst="rect">
            <a:avLst/>
          </a:prstGeom>
          <a:noFill/>
          <a:ln/>
        </p:spPr>
        <p:txBody>
          <a:bodyPr wrap="square" lIns="0" tIns="0" rIns="0" bIns="0" rtlCol="0" anchor="ctr"/>
          <a:lstStyle/>
          <a:p>
            <a:pPr indent="0" marL="0">
              <a:buNone/>
            </a:pPr>
            <a:r>
              <a:rPr lang="en-US" sz="1100" dirty="0">
                <a:solidFill>
                  <a:schemeClr val="tx1"/>
                </a:solidFill>
              </a:rPr>
              <a:t>Auth port, they agree: gets the golden template for its class</a:t>
            </a:r>
            <a:endParaRPr lang="en-US" sz="1100" dirty="0"/>
          </a:p>
        </p:txBody>
      </p:sp>
      <p:sp>
        <p:nvSpPr>
          <p:cNvPr id="23" name="Shape 21"/>
          <p:cNvSpPr/>
          <p:nvPr/>
        </p:nvSpPr>
        <p:spPr>
          <a:xfrm>
            <a:off x="7178040" y="2487168"/>
            <a:ext cx="457200" cy="9144"/>
          </a:xfrm>
          <a:prstGeom prst="line">
            <a:avLst/>
          </a:prstGeom>
          <a:noFill/>
          <a:ln w="19050">
            <a:solidFill>
              <a:schemeClr val="accent3"/>
            </a:solidFill>
            <a:prstDash val="solid"/>
            <a:tailEnd type="triangle"/>
          </a:ln>
        </p:spPr>
      </p:sp>
      <p:sp>
        <p:nvSpPr>
          <p:cNvPr id="24" name="classify-out-1"/>
          <p:cNvSpPr/>
          <p:nvPr/>
        </p:nvSpPr>
        <p:spPr>
          <a:xfrm>
            <a:off x="7635240" y="2194560"/>
            <a:ext cx="3977640" cy="603504"/>
          </a:xfrm>
          <a:prstGeom prst="roundRect">
            <a:avLst>
              <a:gd name="adj" fmla="val 12121"/>
            </a:avLst>
          </a:prstGeom>
          <a:solidFill>
            <a:schemeClr val="bg2"/>
          </a:solidFill>
          <a:ln/>
        </p:spPr>
      </p:sp>
      <p:sp>
        <p:nvSpPr>
          <p:cNvPr id="25" name="Shape 23"/>
          <p:cNvSpPr/>
          <p:nvPr/>
        </p:nvSpPr>
        <p:spPr>
          <a:xfrm>
            <a:off x="7635240" y="2194560"/>
            <a:ext cx="91440" cy="603504"/>
          </a:xfrm>
          <a:prstGeom prst="rect">
            <a:avLst/>
          </a:prstGeom>
          <a:solidFill>
            <a:schemeClr val="accent5"/>
          </a:solidFill>
          <a:ln/>
        </p:spPr>
      </p:sp>
      <p:sp>
        <p:nvSpPr>
          <p:cNvPr id="26" name="Text 24"/>
          <p:cNvSpPr txBox="1"/>
          <p:nvPr/>
        </p:nvSpPr>
        <p:spPr>
          <a:xfrm>
            <a:off x="7863840" y="2194560"/>
            <a:ext cx="914400" cy="603504"/>
          </a:xfrm>
          <a:prstGeom prst="rect">
            <a:avLst/>
          </a:prstGeom>
          <a:noFill/>
          <a:ln/>
        </p:spPr>
        <p:txBody>
          <a:bodyPr wrap="square" lIns="0" tIns="0" rIns="0" bIns="0" rtlCol="0" anchor="ctr"/>
          <a:lstStyle/>
          <a:p>
            <a:pPr indent="0" marL="0">
              <a:buNone/>
            </a:pPr>
            <a:r>
              <a:rPr lang="en-US" sz="1500" b="1" dirty="0">
                <a:solidFill>
                  <a:schemeClr val="accent5"/>
                </a:solidFill>
              </a:rPr>
              <a:t>Hold</a:t>
            </a:r>
            <a:endParaRPr lang="en-US" sz="1500" dirty="0"/>
          </a:p>
        </p:txBody>
      </p:sp>
      <p:sp>
        <p:nvSpPr>
          <p:cNvPr id="27" name="Text 25"/>
          <p:cNvSpPr txBox="1"/>
          <p:nvPr/>
        </p:nvSpPr>
        <p:spPr>
          <a:xfrm>
            <a:off x="8778240" y="2194560"/>
            <a:ext cx="2743200" cy="603504"/>
          </a:xfrm>
          <a:prstGeom prst="rect">
            <a:avLst/>
          </a:prstGeom>
          <a:noFill/>
          <a:ln/>
        </p:spPr>
        <p:txBody>
          <a:bodyPr wrap="square" lIns="0" tIns="0" rIns="0" bIns="0" rtlCol="0" anchor="ctr"/>
          <a:lstStyle/>
          <a:p>
            <a:pPr indent="0" marL="0">
              <a:buNone/>
            </a:pPr>
            <a:r>
              <a:rPr lang="en-US" sz="1100" dirty="0">
                <a:solidFill>
                  <a:schemeClr val="tx1"/>
                </a:solidFill>
              </a:rPr>
              <a:t>Auth port, they disagree or no rule matches: stays converted, listed in pre-check</a:t>
            </a:r>
            <a:endParaRPr lang="en-US" sz="1100" dirty="0"/>
          </a:p>
        </p:txBody>
      </p:sp>
      <p:sp>
        <p:nvSpPr>
          <p:cNvPr id="28" name="Shape 26"/>
          <p:cNvSpPr/>
          <p:nvPr/>
        </p:nvSpPr>
        <p:spPr>
          <a:xfrm>
            <a:off x="7178040" y="2487168"/>
            <a:ext cx="457200" cy="694944"/>
          </a:xfrm>
          <a:prstGeom prst="line">
            <a:avLst/>
          </a:prstGeom>
          <a:noFill/>
          <a:ln w="19050">
            <a:solidFill>
              <a:schemeClr val="accent3"/>
            </a:solidFill>
            <a:prstDash val="solid"/>
            <a:tailEnd type="triangle"/>
          </a:ln>
        </p:spPr>
      </p:sp>
      <p:sp>
        <p:nvSpPr>
          <p:cNvPr id="29" name="classify-out-2"/>
          <p:cNvSpPr/>
          <p:nvPr/>
        </p:nvSpPr>
        <p:spPr>
          <a:xfrm>
            <a:off x="7635240" y="2880360"/>
            <a:ext cx="3977640" cy="603504"/>
          </a:xfrm>
          <a:prstGeom prst="roundRect">
            <a:avLst>
              <a:gd name="adj" fmla="val 12121"/>
            </a:avLst>
          </a:prstGeom>
          <a:solidFill>
            <a:schemeClr val="bg2"/>
          </a:solidFill>
          <a:ln/>
        </p:spPr>
      </p:sp>
      <p:sp>
        <p:nvSpPr>
          <p:cNvPr id="30" name="Shape 28"/>
          <p:cNvSpPr/>
          <p:nvPr/>
        </p:nvSpPr>
        <p:spPr>
          <a:xfrm>
            <a:off x="7635240" y="2880360"/>
            <a:ext cx="91440" cy="603504"/>
          </a:xfrm>
          <a:prstGeom prst="rect">
            <a:avLst/>
          </a:prstGeom>
          <a:solidFill>
            <a:schemeClr val="accent3"/>
          </a:solidFill>
          <a:ln/>
        </p:spPr>
      </p:sp>
      <p:sp>
        <p:nvSpPr>
          <p:cNvPr id="31" name="Text 29"/>
          <p:cNvSpPr txBox="1"/>
          <p:nvPr/>
        </p:nvSpPr>
        <p:spPr>
          <a:xfrm>
            <a:off x="7863840" y="2880360"/>
            <a:ext cx="914400" cy="603504"/>
          </a:xfrm>
          <a:prstGeom prst="rect">
            <a:avLst/>
          </a:prstGeom>
          <a:noFill/>
          <a:ln/>
        </p:spPr>
        <p:txBody>
          <a:bodyPr wrap="square" lIns="0" tIns="0" rIns="0" bIns="0" rtlCol="0" anchor="ctr"/>
          <a:lstStyle/>
          <a:p>
            <a:pPr indent="0" marL="0">
              <a:buNone/>
            </a:pPr>
            <a:r>
              <a:rPr lang="en-US" sz="1500" b="1" dirty="0">
                <a:solidFill>
                  <a:schemeClr val="accent3"/>
                </a:solidFill>
              </a:rPr>
              <a:t>Leave</a:t>
            </a:r>
            <a:endParaRPr lang="en-US" sz="1500" dirty="0"/>
          </a:p>
        </p:txBody>
      </p:sp>
      <p:sp>
        <p:nvSpPr>
          <p:cNvPr id="32" name="Text 30"/>
          <p:cNvSpPr txBox="1"/>
          <p:nvPr/>
        </p:nvSpPr>
        <p:spPr>
          <a:xfrm>
            <a:off x="8778240" y="2880360"/>
            <a:ext cx="2743200" cy="603504"/>
          </a:xfrm>
          <a:prstGeom prst="rect">
            <a:avLst/>
          </a:prstGeom>
          <a:noFill/>
          <a:ln/>
        </p:spPr>
        <p:txBody>
          <a:bodyPr wrap="square" lIns="0" tIns="0" rIns="0" bIns="0" rtlCol="0" anchor="ctr"/>
          <a:lstStyle/>
          <a:p>
            <a:pPr indent="0" marL="0">
              <a:buNone/>
            </a:pPr>
            <a:r>
              <a:rPr lang="en-US" sz="1100" dirty="0">
                <a:solidFill>
                  <a:schemeClr val="tx1"/>
                </a:solidFill>
              </a:rPr>
              <a:t>Trunk, uplink, static: never touched</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11064240" cy="914400"/>
        </p:xfrm>
        <a:graphic>
          <a:graphicData uri="http://schemas.openxmlformats.org/drawingml/2006/table">
            <a:tbl>
              <a:tblPr/>
              <a:tblGrid>
                <a:gridCol w="1371600"/>
                <a:gridCol w="2743200"/>
                <a:gridCol w="1463040"/>
                <a:gridCol w="2194560"/>
                <a:gridCol w="3291840"/>
              </a:tblGrid>
              <a:tr h="365760">
                <a:tc>
                  <a:txBody>
                    <a:bodyPr/>
                    <a:lstStyle/>
                    <a:p>
                      <a:pPr indent="0" marL="0">
                        <a:buNone/>
                      </a:pPr>
                      <a:r>
                        <a:rPr lang="en-US" sz="1200" b="1" dirty="0">
                          <a:solidFill>
                            <a:schemeClr val="bg1"/>
                          </a:solidFill>
                        </a:rPr>
                        <a:t>Port</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Description</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Role</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Config class</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Action</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chemeClr val="accent1"/>
                    </a:solidFill>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Gi1/0/1</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USER-PC-2F-014</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user</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multi-domain</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4"/>
                          </a:solidFill>
                        </a:rPr>
                        <a:t>migrate → IBNS2_MDA</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Gi1/0/2</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PRN-2F-HR</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printer</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mab-only</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4"/>
                          </a:solidFill>
                        </a:rPr>
                        <a:t>migrate → IBNS2_MAB</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Gi1/0/3</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AP-3F-01</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ap</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dot1x+mab</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5"/>
                          </a:solidFill>
                        </a:rPr>
                        <a:t>hold: AP with dot1x?</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Gi1/1/1</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UPLINK TO DIST-SW1</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uplink</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trunk</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3"/>
                          </a:solidFill>
                        </a:rPr>
                        <a:t>leave</a:t>
                      </a:r>
                      <a:endParaRPr lang="en-US" sz="1200" dirty="0"/>
                    </a:p>
                  </a:txBody>
                  <a:tcPr marL="91440" marR="91440" marT="45720" marB="45720" anchor="ctr">
                    <a:lnL w="12700" cap="flat" cmpd="sng" algn="ctr">
                      <a:solidFill>
                        <a:srgbClr val="D5E6EA"/>
                      </a:solidFill>
                      <a:prstDash val="solid"/>
                      <a:round/>
                      <a:headEnd type="none" w="med" len="med"/>
                      <a:tailEnd type="none" w="med" len="med"/>
                    </a:lnL>
                    <a:lnR w="12700" cap="flat" cmpd="sng" algn="ctr">
                      <a:solidFill>
                        <a:srgbClr val="D5E6EA"/>
                      </a:solidFill>
                      <a:prstDash val="solid"/>
                      <a:round/>
                      <a:headEnd type="none" w="med" len="med"/>
                      <a:tailEnd type="none" w="med" len="med"/>
                    </a:lnR>
                    <a:lnT w="12700" cap="flat" cmpd="sng" algn="ctr">
                      <a:solidFill>
                        <a:srgbClr val="D5E6EA"/>
                      </a:solidFill>
                      <a:prstDash val="solid"/>
                      <a:round/>
                      <a:headEnd type="none" w="med" len="med"/>
                      <a:tailEnd type="none" w="med" len="med"/>
                    </a:lnT>
                    <a:lnB w="12700" cap="flat" cmpd="sng" algn="ctr">
                      <a:solidFill>
                        <a:srgbClr val="D5E6EA"/>
                      </a:solidFill>
                      <a:prstDash val="solid"/>
                      <a:round/>
                      <a:headEnd type="none" w="med" len="med"/>
                      <a:tailEnd type="none" w="med" len="med"/>
                    </a:lnB>
                    <a:solidFill>
                      <a:srgbClr val="FFFFFF"/>
                    </a:solidFill>
                  </a:tcPr>
                </a:tc>
              </a:tr>
            </a:tbl>
          </a:graphicData>
        </a:graphic>
      </p:graphicFrame>
      <p:sp>
        <p:nvSpPr>
          <p:cNvPr id="34" name="Text 31"/>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200" i="1" dirty="0">
                <a:solidFill>
                  <a:schemeClr val="accent3"/>
                </a:solidFill>
              </a:rPr>
              <a:t>The template always comes from the config class, so migrating never changes how a port authenticates. Rules live in group_vars; the laptop script and the jobs share them.</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Snapshots connect jobs that run on different days</a:t>
            </a:r>
            <a:endParaRPr lang="en-US" sz="2800" dirty="0"/>
          </a:p>
        </p:txBody>
      </p:sp>
      <p:sp>
        <p:nvSpPr>
          <p:cNvPr id="3" name="store"/>
          <p:cNvSpPr/>
          <p:nvPr/>
        </p:nvSpPr>
        <p:spPr>
          <a:xfrm>
            <a:off x="4480560" y="2743200"/>
            <a:ext cx="3200400" cy="1280160"/>
          </a:xfrm>
          <a:prstGeom prst="roundRect">
            <a:avLst>
              <a:gd name="adj" fmla="val 5714"/>
            </a:avLst>
          </a:prstGeom>
          <a:solidFill>
            <a:schemeClr val="accent1"/>
          </a:solidFill>
          <a:ln/>
        </p:spPr>
      </p:sp>
      <p:sp>
        <p:nvSpPr>
          <p:cNvPr id="4" name="Text 2"/>
          <p:cNvSpPr txBox="1"/>
          <p:nvPr/>
        </p:nvSpPr>
        <p:spPr>
          <a:xfrm>
            <a:off x="4480560" y="2880360"/>
            <a:ext cx="3200400" cy="411480"/>
          </a:xfrm>
          <a:prstGeom prst="rect">
            <a:avLst/>
          </a:prstGeom>
          <a:noFill/>
          <a:ln/>
        </p:spPr>
        <p:txBody>
          <a:bodyPr wrap="square" lIns="0" tIns="0" rIns="0" bIns="0" rtlCol="0" anchor="t"/>
          <a:lstStyle/>
          <a:p>
            <a:pPr algn="ctr" indent="0" marL="0">
              <a:buNone/>
            </a:pPr>
            <a:r>
              <a:rPr lang="en-US" sz="1900" b="1" dirty="0">
                <a:solidFill>
                  <a:schemeClr val="bg1"/>
                </a:solidFill>
                <a:latin typeface="Cambria" pitchFamily="34" charset="0"/>
                <a:ea typeface="Cambria" pitchFamily="34" charset="-122"/>
                <a:cs typeface="Cambria" pitchFamily="34" charset="-120"/>
              </a:rPr>
              <a:t>Snapshot store</a:t>
            </a:r>
            <a:endParaRPr lang="en-US" sz="1900" dirty="0"/>
          </a:p>
        </p:txBody>
      </p:sp>
      <p:sp>
        <p:nvSpPr>
          <p:cNvPr id="5" name="Text 3"/>
          <p:cNvSpPr txBox="1"/>
          <p:nvPr/>
        </p:nvSpPr>
        <p:spPr>
          <a:xfrm>
            <a:off x="4480560" y="3291840"/>
            <a:ext cx="3200400" cy="320040"/>
          </a:xfrm>
          <a:prstGeom prst="rect">
            <a:avLst/>
          </a:prstGeom>
          <a:noFill/>
          <a:ln/>
        </p:spPr>
        <p:txBody>
          <a:bodyPr wrap="square" lIns="0" tIns="0" rIns="0" bIns="0" rtlCol="0" anchor="t"/>
          <a:lstStyle/>
          <a:p>
            <a:pPr algn="ctr" indent="0" marL="0">
              <a:buNone/>
            </a:pPr>
            <a:r>
              <a:rPr lang="en-US" sz="1200" dirty="0">
                <a:solidFill>
                  <a:schemeClr val="accent6"/>
                </a:solidFill>
              </a:rPr>
              <a:t>per switch, named by run id</a:t>
            </a:r>
            <a:endParaRPr lang="en-US" sz="1200" dirty="0"/>
          </a:p>
        </p:txBody>
      </p:sp>
      <p:sp>
        <p:nvSpPr>
          <p:cNvPr id="6" name="Text 4"/>
          <p:cNvSpPr txBox="1"/>
          <p:nvPr/>
        </p:nvSpPr>
        <p:spPr>
          <a:xfrm>
            <a:off x="4480560" y="3566160"/>
            <a:ext cx="3200400" cy="320040"/>
          </a:xfrm>
          <a:prstGeom prst="rect">
            <a:avLst/>
          </a:prstGeom>
          <a:noFill/>
          <a:ln/>
        </p:spPr>
        <p:txBody>
          <a:bodyPr wrap="square" lIns="0" tIns="0" rIns="0" bIns="0" rtlCol="0" anchor="t"/>
          <a:lstStyle/>
          <a:p>
            <a:pPr algn="ctr" indent="0" marL="0">
              <a:buNone/>
            </a:pPr>
            <a:r>
              <a:rPr lang="en-US" sz="1100" dirty="0">
                <a:solidFill>
                  <a:schemeClr val="accent6"/>
                </a:solidFill>
              </a:rPr>
              <a:t>laptop: local folder · AAP: Artifactory</a:t>
            </a:r>
            <a:endParaRPr lang="en-US" sz="1100" dirty="0"/>
          </a:p>
        </p:txBody>
      </p:sp>
      <p:sp>
        <p:nvSpPr>
          <p:cNvPr id="7" name="snap-0"/>
          <p:cNvSpPr/>
          <p:nvPr/>
        </p:nvSpPr>
        <p:spPr>
          <a:xfrm>
            <a:off x="548640" y="1508760"/>
            <a:ext cx="3383280" cy="1051560"/>
          </a:xfrm>
          <a:prstGeom prst="roundRect">
            <a:avLst>
              <a:gd name="adj" fmla="val 6957"/>
            </a:avLst>
          </a:prstGeom>
          <a:solidFill>
            <a:schemeClr val="bg2"/>
          </a:solidFill>
          <a:ln/>
        </p:spPr>
      </p:sp>
      <p:sp>
        <p:nvSpPr>
          <p:cNvPr id="8" name="Text 6"/>
          <p:cNvSpPr txBox="1"/>
          <p:nvPr/>
        </p:nvSpPr>
        <p:spPr>
          <a:xfrm>
            <a:off x="777240" y="1645920"/>
            <a:ext cx="2926080" cy="365760"/>
          </a:xfrm>
          <a:prstGeom prst="rect">
            <a:avLst/>
          </a:prstGeom>
          <a:noFill/>
          <a:ln/>
        </p:spPr>
        <p:txBody>
          <a:bodyPr wrap="square" lIns="0" tIns="0" rIns="0" bIns="0" rtlCol="0" anchor="t"/>
          <a:lstStyle/>
          <a:p>
            <a:pPr indent="0" marL="0">
              <a:buNone/>
            </a:pPr>
            <a:r>
              <a:rPr lang="en-US" sz="1600" b="1" dirty="0">
                <a:solidFill>
                  <a:schemeClr val="tx2"/>
                </a:solidFill>
              </a:rPr>
              <a:t>Baseline job</a:t>
            </a:r>
            <a:endParaRPr lang="en-US" sz="1600" dirty="0"/>
          </a:p>
        </p:txBody>
      </p:sp>
      <p:sp>
        <p:nvSpPr>
          <p:cNvPr id="9" name="Text 7"/>
          <p:cNvSpPr txBox="1"/>
          <p:nvPr/>
        </p:nvSpPr>
        <p:spPr>
          <a:xfrm>
            <a:off x="777240" y="2057400"/>
            <a:ext cx="2926080" cy="36576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writes baseline-latest.json</a:t>
            </a:r>
            <a:endParaRPr lang="en-US" sz="1100" dirty="0"/>
          </a:p>
        </p:txBody>
      </p:sp>
      <p:sp>
        <p:nvSpPr>
          <p:cNvPr id="10" name="snap-1"/>
          <p:cNvSpPr/>
          <p:nvPr/>
        </p:nvSpPr>
        <p:spPr>
          <a:xfrm>
            <a:off x="548640" y="4251960"/>
            <a:ext cx="3383280" cy="1051560"/>
          </a:xfrm>
          <a:prstGeom prst="roundRect">
            <a:avLst>
              <a:gd name="adj" fmla="val 6957"/>
            </a:avLst>
          </a:prstGeom>
          <a:solidFill>
            <a:schemeClr val="bg2"/>
          </a:solidFill>
          <a:ln/>
        </p:spPr>
      </p:sp>
      <p:sp>
        <p:nvSpPr>
          <p:cNvPr id="11" name="Text 9"/>
          <p:cNvSpPr txBox="1"/>
          <p:nvPr/>
        </p:nvSpPr>
        <p:spPr>
          <a:xfrm>
            <a:off x="777240" y="4389120"/>
            <a:ext cx="2926080" cy="365760"/>
          </a:xfrm>
          <a:prstGeom prst="rect">
            <a:avLst/>
          </a:prstGeom>
          <a:noFill/>
          <a:ln/>
        </p:spPr>
        <p:txBody>
          <a:bodyPr wrap="square" lIns="0" tIns="0" rIns="0" bIns="0" rtlCol="0" anchor="t"/>
          <a:lstStyle/>
          <a:p>
            <a:pPr indent="0" marL="0">
              <a:buNone/>
            </a:pPr>
            <a:r>
              <a:rPr lang="en-US" sz="1600" b="1" dirty="0">
                <a:solidFill>
                  <a:schemeClr val="tx2"/>
                </a:solidFill>
              </a:rPr>
              <a:t>Every stage</a:t>
            </a:r>
            <a:endParaRPr lang="en-US" sz="1600" dirty="0"/>
          </a:p>
        </p:txBody>
      </p:sp>
      <p:sp>
        <p:nvSpPr>
          <p:cNvPr id="12" name="Text 10"/>
          <p:cNvSpPr txBox="1"/>
          <p:nvPr/>
        </p:nvSpPr>
        <p:spPr>
          <a:xfrm>
            <a:off x="777240" y="4800600"/>
            <a:ext cx="2926080" cy="36576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writes running-before-&lt;stage&gt;.cfg</a:t>
            </a:r>
            <a:endParaRPr lang="en-US" sz="1100" dirty="0"/>
          </a:p>
        </p:txBody>
      </p:sp>
      <p:sp>
        <p:nvSpPr>
          <p:cNvPr id="13" name="snap-2"/>
          <p:cNvSpPr/>
          <p:nvPr/>
        </p:nvSpPr>
        <p:spPr>
          <a:xfrm>
            <a:off x="8229600" y="1508760"/>
            <a:ext cx="3383280" cy="1051560"/>
          </a:xfrm>
          <a:prstGeom prst="roundRect">
            <a:avLst>
              <a:gd name="adj" fmla="val 6957"/>
            </a:avLst>
          </a:prstGeom>
          <a:solidFill>
            <a:schemeClr val="bg2"/>
          </a:solidFill>
          <a:ln/>
        </p:spPr>
      </p:sp>
      <p:sp>
        <p:nvSpPr>
          <p:cNvPr id="14" name="Text 12"/>
          <p:cNvSpPr txBox="1"/>
          <p:nvPr/>
        </p:nvSpPr>
        <p:spPr>
          <a:xfrm>
            <a:off x="8458200" y="1645920"/>
            <a:ext cx="2926080" cy="365760"/>
          </a:xfrm>
          <a:prstGeom prst="rect">
            <a:avLst/>
          </a:prstGeom>
          <a:noFill/>
          <a:ln/>
        </p:spPr>
        <p:txBody>
          <a:bodyPr wrap="square" lIns="0" tIns="0" rIns="0" bIns="0" rtlCol="0" anchor="t"/>
          <a:lstStyle/>
          <a:p>
            <a:pPr indent="0" marL="0">
              <a:buNone/>
            </a:pPr>
            <a:r>
              <a:rPr lang="en-US" sz="1600" b="1" dirty="0">
                <a:solidFill>
                  <a:schemeClr val="tx2"/>
                </a:solidFill>
              </a:rPr>
              <a:t>Stage 2</a:t>
            </a:r>
            <a:endParaRPr lang="en-US" sz="1600" dirty="0"/>
          </a:p>
        </p:txBody>
      </p:sp>
      <p:sp>
        <p:nvSpPr>
          <p:cNvPr id="15" name="Text 13"/>
          <p:cNvSpPr txBox="1"/>
          <p:nvPr/>
        </p:nvSpPr>
        <p:spPr>
          <a:xfrm>
            <a:off x="8458200" y="2057400"/>
            <a:ext cx="2926080" cy="36576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writes stage2-rollback-latest.json</a:t>
            </a:r>
            <a:endParaRPr lang="en-US" sz="1100" dirty="0"/>
          </a:p>
        </p:txBody>
      </p:sp>
      <p:sp>
        <p:nvSpPr>
          <p:cNvPr id="16" name="snap-3"/>
          <p:cNvSpPr/>
          <p:nvPr/>
        </p:nvSpPr>
        <p:spPr>
          <a:xfrm>
            <a:off x="8229600" y="4251960"/>
            <a:ext cx="3383280" cy="1051560"/>
          </a:xfrm>
          <a:prstGeom prst="roundRect">
            <a:avLst>
              <a:gd name="adj" fmla="val 6957"/>
            </a:avLst>
          </a:prstGeom>
          <a:solidFill>
            <a:schemeClr val="bg2"/>
          </a:solidFill>
          <a:ln/>
        </p:spPr>
      </p:sp>
      <p:sp>
        <p:nvSpPr>
          <p:cNvPr id="17" name="Text 15"/>
          <p:cNvSpPr txBox="1"/>
          <p:nvPr/>
        </p:nvSpPr>
        <p:spPr>
          <a:xfrm>
            <a:off x="8458200" y="4389120"/>
            <a:ext cx="2926080" cy="365760"/>
          </a:xfrm>
          <a:prstGeom prst="rect">
            <a:avLst/>
          </a:prstGeom>
          <a:noFill/>
          <a:ln/>
        </p:spPr>
        <p:txBody>
          <a:bodyPr wrap="square" lIns="0" tIns="0" rIns="0" bIns="0" rtlCol="0" anchor="t"/>
          <a:lstStyle/>
          <a:p>
            <a:pPr indent="0" marL="0">
              <a:buNone/>
            </a:pPr>
            <a:r>
              <a:rPr lang="en-US" sz="1600" b="1" dirty="0">
                <a:solidFill>
                  <a:schemeClr val="tx2"/>
                </a:solidFill>
              </a:rPr>
              <a:t>Next-day / rollback</a:t>
            </a:r>
            <a:endParaRPr lang="en-US" sz="1600" dirty="0"/>
          </a:p>
        </p:txBody>
      </p:sp>
      <p:sp>
        <p:nvSpPr>
          <p:cNvPr id="18" name="Text 16"/>
          <p:cNvSpPr txBox="1"/>
          <p:nvPr/>
        </p:nvSpPr>
        <p:spPr>
          <a:xfrm>
            <a:off x="8458200" y="4800600"/>
            <a:ext cx="2926080" cy="365760"/>
          </a:xfrm>
          <a:prstGeom prst="rect">
            <a:avLst/>
          </a:prstGeom>
          <a:noFill/>
          <a:ln/>
        </p:spPr>
        <p:txBody>
          <a:bodyPr wrap="square" lIns="0" tIns="0" rIns="0" bIns="0" rtlCol="0" anchor="t"/>
          <a:lstStyle/>
          <a:p>
            <a:pPr indent="0" marL="0">
              <a:buNone/>
            </a:pPr>
            <a:r>
              <a:rPr lang="en-US" sz="1100" dirty="0">
                <a:solidFill>
                  <a:schemeClr val="accent3"/>
                </a:solidFill>
                <a:latin typeface="Courier New" pitchFamily="34" charset="0"/>
                <a:ea typeface="Courier New" pitchFamily="34" charset="-122"/>
                <a:cs typeface="Courier New" pitchFamily="34" charset="-120"/>
              </a:rPr>
              <a:t>read baseline and rollback data</a:t>
            </a:r>
            <a:endParaRPr lang="en-US" sz="1100" dirty="0"/>
          </a:p>
        </p:txBody>
      </p:sp>
      <p:sp>
        <p:nvSpPr>
          <p:cNvPr id="19" name="Shape 17"/>
          <p:cNvSpPr/>
          <p:nvPr/>
        </p:nvSpPr>
        <p:spPr>
          <a:xfrm>
            <a:off x="3931920" y="2029968"/>
            <a:ext cx="548640" cy="914400"/>
          </a:xfrm>
          <a:prstGeom prst="line">
            <a:avLst/>
          </a:prstGeom>
          <a:noFill/>
          <a:ln w="19050">
            <a:solidFill>
              <a:schemeClr val="accent3"/>
            </a:solidFill>
            <a:prstDash val="solid"/>
            <a:tailEnd type="triangle"/>
          </a:ln>
        </p:spPr>
      </p:sp>
      <p:sp>
        <p:nvSpPr>
          <p:cNvPr id="20" name="Shape 18"/>
          <p:cNvSpPr/>
          <p:nvPr/>
        </p:nvSpPr>
        <p:spPr>
          <a:xfrm>
            <a:off x="3931920" y="4773168"/>
            <a:ext cx="548640" cy="-914400"/>
          </a:xfrm>
          <a:prstGeom prst="line">
            <a:avLst/>
          </a:prstGeom>
          <a:noFill/>
          <a:ln w="19050">
            <a:solidFill>
              <a:schemeClr val="accent3"/>
            </a:solidFill>
            <a:prstDash val="solid"/>
            <a:tailEnd type="triangle"/>
          </a:ln>
        </p:spPr>
      </p:sp>
      <p:sp>
        <p:nvSpPr>
          <p:cNvPr id="21" name="Shape 19"/>
          <p:cNvSpPr/>
          <p:nvPr/>
        </p:nvSpPr>
        <p:spPr>
          <a:xfrm>
            <a:off x="8229600" y="2029968"/>
            <a:ext cx="-548640" cy="914400"/>
          </a:xfrm>
          <a:prstGeom prst="line">
            <a:avLst/>
          </a:prstGeom>
          <a:noFill/>
          <a:ln w="19050">
            <a:solidFill>
              <a:schemeClr val="accent3"/>
            </a:solidFill>
            <a:prstDash val="solid"/>
            <a:tailEnd type="triangle"/>
          </a:ln>
        </p:spPr>
      </p:sp>
      <p:sp>
        <p:nvSpPr>
          <p:cNvPr id="22" name="Shape 20"/>
          <p:cNvSpPr/>
          <p:nvPr/>
        </p:nvSpPr>
        <p:spPr>
          <a:xfrm>
            <a:off x="7680960" y="3840480"/>
            <a:ext cx="548640" cy="914400"/>
          </a:xfrm>
          <a:prstGeom prst="line">
            <a:avLst/>
          </a:prstGeom>
          <a:noFill/>
          <a:ln w="19050">
            <a:solidFill>
              <a:schemeClr val="accent3"/>
            </a:solidFill>
            <a:prstDash val="solid"/>
            <a:tailEnd type="triangle"/>
          </a:ln>
        </p:spPr>
      </p:sp>
      <p:sp>
        <p:nvSpPr>
          <p:cNvPr id="23" name="report"/>
          <p:cNvSpPr/>
          <p:nvPr/>
        </p:nvSpPr>
        <p:spPr>
          <a:xfrm>
            <a:off x="548640" y="5532120"/>
            <a:ext cx="11064240" cy="594360"/>
          </a:xfrm>
          <a:prstGeom prst="roundRect">
            <a:avLst>
              <a:gd name="adj" fmla="val 12308"/>
            </a:avLst>
          </a:prstGeom>
          <a:solidFill>
            <a:schemeClr val="bg2"/>
          </a:solidFill>
          <a:ln/>
        </p:spPr>
      </p:sp>
      <p:sp>
        <p:nvSpPr>
          <p:cNvPr id="24" name="Text 22"/>
          <p:cNvSpPr txBox="1"/>
          <p:nvPr/>
        </p:nvSpPr>
        <p:spPr>
          <a:xfrm>
            <a:off x="777240" y="5532120"/>
            <a:ext cx="10607040" cy="594360"/>
          </a:xfrm>
          <a:prstGeom prst="rect">
            <a:avLst/>
          </a:prstGeom>
          <a:noFill/>
          <a:ln/>
        </p:spPr>
        <p:txBody>
          <a:bodyPr wrap="square" lIns="0" tIns="0" rIns="0" bIns="0" rtlCol="0" anchor="ctr"/>
          <a:lstStyle/>
          <a:p>
            <a:pPr indent="0" marL="0">
              <a:buNone/>
            </a:pPr>
            <a:r>
              <a:rPr lang="en-US" sz="1300" dirty="0">
                <a:solidFill>
                  <a:schemeClr val="tx2"/>
                </a:solidFill>
              </a:rPr>
              <a:t>Every job also publishes its result (set_stats) as an AAP artifact; the existing NetValidator webhook forwards it to Odyssey.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Most of ud00 is reused; the IBNS logic is new</a:t>
            </a:r>
            <a:endParaRPr lang="en-US" sz="2800" dirty="0"/>
          </a:p>
        </p:txBody>
      </p:sp>
      <p:sp>
        <p:nvSpPr>
          <p:cNvPr id="3" name="reuse-0"/>
          <p:cNvSpPr/>
          <p:nvPr/>
        </p:nvSpPr>
        <p:spPr>
          <a:xfrm>
            <a:off x="548640" y="1508760"/>
            <a:ext cx="2606040" cy="4206240"/>
          </a:xfrm>
          <a:prstGeom prst="roundRect">
            <a:avLst>
              <a:gd name="adj" fmla="val 2807"/>
            </a:avLst>
          </a:prstGeom>
          <a:solidFill>
            <a:schemeClr val="bg2"/>
          </a:solidFill>
          <a:ln/>
        </p:spPr>
      </p:sp>
      <p:sp>
        <p:nvSpPr>
          <p:cNvPr id="4" name="Text 2"/>
          <p:cNvSpPr txBox="1"/>
          <p:nvPr/>
        </p:nvSpPr>
        <p:spPr>
          <a:xfrm>
            <a:off x="777240" y="1645920"/>
            <a:ext cx="128016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13</a:t>
            </a:r>
            <a:endParaRPr lang="en-US" sz="4400" dirty="0"/>
          </a:p>
        </p:txBody>
      </p:sp>
      <p:sp>
        <p:nvSpPr>
          <p:cNvPr id="5" name="Text 3"/>
          <p:cNvSpPr txBox="1"/>
          <p:nvPr/>
        </p:nvSpPr>
        <p:spPr>
          <a:xfrm>
            <a:off x="777240" y="2468880"/>
            <a:ext cx="214884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Copy unchanged</a:t>
            </a:r>
            <a:endParaRPr lang="en-US" sz="1800" dirty="0"/>
          </a:p>
        </p:txBody>
      </p:sp>
      <p:sp>
        <p:nvSpPr>
          <p:cNvPr id="6" name="Text 4"/>
          <p:cNvSpPr txBox="1"/>
          <p:nvPr/>
        </p:nvSpPr>
        <p:spPr>
          <a:xfrm>
            <a:off x="777240" y="2971800"/>
            <a:ext cx="214884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Helios workflow, deploy.sh</a:t>
            </a:r>
            <a:endParaRPr lang="en-US" sz="1300" dirty="0"/>
          </a:p>
          <a:p>
            <a:pPr marL="342900" indent="-342900">
              <a:spcAft>
                <a:spcPts val="600"/>
              </a:spcAft>
              <a:buSzPct val="100000"/>
              <a:buChar char="•"/>
            </a:pPr>
            <a:r>
              <a:rPr lang="en-US" sz="1300" dirty="0">
                <a:solidFill>
                  <a:schemeClr val="tx1"/>
                </a:solidFill>
              </a:rPr>
              <a:t>Helm helper .tpl files</a:t>
            </a:r>
            <a:endParaRPr lang="en-US" sz="1300" dirty="0"/>
          </a:p>
          <a:p>
            <a:pPr marL="342900" indent="-342900">
              <a:spcAft>
                <a:spcPts val="600"/>
              </a:spcAft>
              <a:buSzPct val="100000"/>
              <a:buChar char="•"/>
            </a:pPr>
            <a:r>
              <a:rPr lang="en-US" sz="1300" dirty="0">
                <a:solidFill>
                  <a:schemeClr val="tx1"/>
                </a:solidFill>
              </a:rPr>
              <a:t>Projects, notifications</a:t>
            </a:r>
            <a:endParaRPr lang="en-US" sz="1300" dirty="0"/>
          </a:p>
          <a:p>
            <a:pPr marL="342900" indent="-342900">
              <a:spcAft>
                <a:spcPts val="600"/>
              </a:spcAft>
              <a:buSzPct val="100000"/>
              <a:buChar char="•"/>
            </a:pPr>
            <a:r>
              <a:rPr lang="en-US" sz="1300" dirty="0">
                <a:solidFill>
                  <a:schemeClr val="tx1"/>
                </a:solidFill>
              </a:rPr>
              <a:t>dnac.py and dnac.yml</a:t>
            </a:r>
            <a:endParaRPr lang="en-US" sz="1300" dirty="0"/>
          </a:p>
          <a:p>
            <a:pPr marL="342900" indent="-342900">
              <a:spcAft>
                <a:spcPts val="600"/>
              </a:spcAft>
              <a:buSzPct val="100000"/>
              <a:buChar char="•"/>
            </a:pPr>
            <a:r>
              <a:rPr lang="en-US" sz="1300" dirty="0">
                <a:solidFill>
                  <a:schemeClr val="tx1"/>
                </a:solidFill>
              </a:rPr>
              <a:t>Parse and validation roles</a:t>
            </a:r>
            <a:endParaRPr lang="en-US" sz="1300" dirty="0"/>
          </a:p>
        </p:txBody>
      </p:sp>
      <p:sp>
        <p:nvSpPr>
          <p:cNvPr id="7" name="reuse-1"/>
          <p:cNvSpPr/>
          <p:nvPr/>
        </p:nvSpPr>
        <p:spPr>
          <a:xfrm>
            <a:off x="3367735" y="1508760"/>
            <a:ext cx="2606040" cy="4206240"/>
          </a:xfrm>
          <a:prstGeom prst="roundRect">
            <a:avLst>
              <a:gd name="adj" fmla="val 2807"/>
            </a:avLst>
          </a:prstGeom>
          <a:solidFill>
            <a:schemeClr val="bg2"/>
          </a:solidFill>
          <a:ln/>
        </p:spPr>
      </p:sp>
      <p:sp>
        <p:nvSpPr>
          <p:cNvPr id="8" name="Text 6"/>
          <p:cNvSpPr txBox="1"/>
          <p:nvPr/>
        </p:nvSpPr>
        <p:spPr>
          <a:xfrm>
            <a:off x="3596335" y="1645920"/>
            <a:ext cx="1280160" cy="82296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12</a:t>
            </a:r>
            <a:endParaRPr lang="en-US" sz="4400" dirty="0"/>
          </a:p>
        </p:txBody>
      </p:sp>
      <p:sp>
        <p:nvSpPr>
          <p:cNvPr id="9" name="Text 7"/>
          <p:cNvSpPr txBox="1"/>
          <p:nvPr/>
        </p:nvSpPr>
        <p:spPr>
          <a:xfrm>
            <a:off x="3596335" y="2468880"/>
            <a:ext cx="214884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Copy and edit</a:t>
            </a:r>
            <a:endParaRPr lang="en-US" sz="1800" dirty="0"/>
          </a:p>
        </p:txBody>
      </p:sp>
      <p:sp>
        <p:nvSpPr>
          <p:cNvPr id="10" name="Text 8"/>
          <p:cNvSpPr txBox="1"/>
          <p:nvPr/>
        </p:nvSpPr>
        <p:spPr>
          <a:xfrm>
            <a:off x="3596335" y="2971800"/>
            <a:ext cx="214884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ansible.cfg, requirements</a:t>
            </a:r>
            <a:endParaRPr lang="en-US" sz="1300" dirty="0"/>
          </a:p>
          <a:p>
            <a:pPr marL="342900" indent="-342900">
              <a:spcAft>
                <a:spcPts val="600"/>
              </a:spcAft>
              <a:buSzPct val="100000"/>
              <a:buChar char="•"/>
            </a:pPr>
            <a:r>
              <a:rPr lang="en-US" sz="1300" dirty="0">
                <a:solidFill>
                  <a:schemeClr val="tx1"/>
                </a:solidFill>
              </a:rPr>
              <a:t>Credentials, input sources</a:t>
            </a:r>
            <a:endParaRPr lang="en-US" sz="1300" dirty="0"/>
          </a:p>
          <a:p>
            <a:pPr marL="342900" indent="-342900">
              <a:spcAft>
                <a:spcPts val="600"/>
              </a:spcAft>
              <a:buSzPct val="100000"/>
              <a:buChar char="•"/>
            </a:pPr>
            <a:r>
              <a:rPr lang="en-US" sz="1300" dirty="0">
                <a:solidFill>
                  <a:schemeClr val="tx1"/>
                </a:solidFill>
              </a:rPr>
              <a:t>Execution environment</a:t>
            </a:r>
            <a:endParaRPr lang="en-US" sz="1300" dirty="0"/>
          </a:p>
          <a:p>
            <a:pPr marL="342900" indent="-342900">
              <a:spcAft>
                <a:spcPts val="600"/>
              </a:spcAft>
              <a:buSzPct val="100000"/>
              <a:buChar char="•"/>
            </a:pPr>
            <a:r>
              <a:rPr lang="en-US" sz="1300" dirty="0">
                <a:solidFill>
                  <a:schemeClr val="tx1"/>
                </a:solidFill>
              </a:rPr>
              <a:t>Inventories and source</a:t>
            </a:r>
            <a:endParaRPr lang="en-US" sz="1300" dirty="0"/>
          </a:p>
          <a:p>
            <a:pPr marL="342900" indent="-342900">
              <a:spcAft>
                <a:spcPts val="600"/>
              </a:spcAft>
              <a:buSzPct val="100000"/>
              <a:buChar char="•"/>
            </a:pPr>
            <a:r>
              <a:rPr lang="en-US" sz="1300" dirty="0">
                <a:solidFill>
                  <a:schemeClr val="tx1"/>
                </a:solidFill>
              </a:rPr>
              <a:t>inventory_lookup (run locally)</a:t>
            </a:r>
            <a:endParaRPr lang="en-US" sz="1300" dirty="0"/>
          </a:p>
        </p:txBody>
      </p:sp>
      <p:sp>
        <p:nvSpPr>
          <p:cNvPr id="11" name="reuse-2"/>
          <p:cNvSpPr/>
          <p:nvPr/>
        </p:nvSpPr>
        <p:spPr>
          <a:xfrm>
            <a:off x="6186830" y="1508760"/>
            <a:ext cx="2606040" cy="4206240"/>
          </a:xfrm>
          <a:prstGeom prst="roundRect">
            <a:avLst>
              <a:gd name="adj" fmla="val 2807"/>
            </a:avLst>
          </a:prstGeom>
          <a:solidFill>
            <a:schemeClr val="bg2"/>
          </a:solidFill>
          <a:ln/>
        </p:spPr>
      </p:sp>
      <p:sp>
        <p:nvSpPr>
          <p:cNvPr id="12" name="Text 10"/>
          <p:cNvSpPr txBox="1"/>
          <p:nvPr/>
        </p:nvSpPr>
        <p:spPr>
          <a:xfrm>
            <a:off x="6415430" y="1645920"/>
            <a:ext cx="1280160" cy="822960"/>
          </a:xfrm>
          <a:prstGeom prst="rect">
            <a:avLst/>
          </a:prstGeom>
          <a:noFill/>
          <a:ln/>
        </p:spPr>
        <p:txBody>
          <a:bodyPr wrap="square" lIns="0" tIns="0" rIns="0" bIns="0" rtlCol="0" anchor="t"/>
          <a:lstStyle/>
          <a:p>
            <a:pPr indent="0" marL="0">
              <a:buNone/>
            </a:pPr>
            <a:r>
              <a:rPr lang="en-US" sz="4400" b="1" dirty="0">
                <a:solidFill>
                  <a:schemeClr val="accent5"/>
                </a:solidFill>
                <a:latin typeface="Cambria" pitchFamily="34" charset="0"/>
                <a:ea typeface="Cambria" pitchFamily="34" charset="-122"/>
                <a:cs typeface="Cambria" pitchFamily="34" charset="-120"/>
              </a:rPr>
              <a:t>3</a:t>
            </a:r>
            <a:endParaRPr lang="en-US" sz="4400" dirty="0"/>
          </a:p>
        </p:txBody>
      </p:sp>
      <p:sp>
        <p:nvSpPr>
          <p:cNvPr id="13" name="Text 11"/>
          <p:cNvSpPr txBox="1"/>
          <p:nvPr/>
        </p:nvSpPr>
        <p:spPr>
          <a:xfrm>
            <a:off x="6415430" y="2468880"/>
            <a:ext cx="214884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Replace</a:t>
            </a:r>
            <a:endParaRPr lang="en-US" sz="1800" dirty="0"/>
          </a:p>
        </p:txBody>
      </p:sp>
      <p:sp>
        <p:nvSpPr>
          <p:cNvPr id="14" name="Text 12"/>
          <p:cNvSpPr txBox="1"/>
          <p:nvPr/>
        </p:nvSpPr>
        <p:spPr>
          <a:xfrm>
            <a:off x="6415430" y="2971800"/>
            <a:ext cx="214884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README</a:t>
            </a:r>
            <a:endParaRPr lang="en-US" sz="1300" dirty="0"/>
          </a:p>
          <a:p>
            <a:pPr marL="342900" indent="-342900">
              <a:spcAft>
                <a:spcPts val="600"/>
              </a:spcAft>
              <a:buSzPct val="100000"/>
              <a:buChar char="•"/>
            </a:pPr>
            <a:r>
              <a:rPr lang="en-US" sz="1300" dirty="0">
                <a:solidFill>
                  <a:schemeClr val="tx1"/>
                </a:solidFill>
              </a:rPr>
              <a:t>Job templates</a:t>
            </a:r>
            <a:endParaRPr lang="en-US" sz="1300" dirty="0"/>
          </a:p>
          <a:p>
            <a:pPr marL="342900" indent="-342900">
              <a:spcAft>
                <a:spcPts val="600"/>
              </a:spcAft>
              <a:buSzPct val="100000"/>
              <a:buChar char="•"/>
            </a:pPr>
            <a:r>
              <a:rPr lang="en-US" sz="1300" dirty="0">
                <a:solidFill>
                  <a:schemeClr val="tx1"/>
                </a:solidFill>
              </a:rPr>
              <a:t>Survey specs</a:t>
            </a:r>
            <a:endParaRPr lang="en-US" sz="1300" dirty="0"/>
          </a:p>
        </p:txBody>
      </p:sp>
      <p:sp>
        <p:nvSpPr>
          <p:cNvPr id="15" name="reuse-3"/>
          <p:cNvSpPr/>
          <p:nvPr/>
        </p:nvSpPr>
        <p:spPr>
          <a:xfrm>
            <a:off x="9005926" y="1508760"/>
            <a:ext cx="2606040" cy="4206240"/>
          </a:xfrm>
          <a:prstGeom prst="roundRect">
            <a:avLst>
              <a:gd name="adj" fmla="val 2807"/>
            </a:avLst>
          </a:prstGeom>
          <a:solidFill>
            <a:schemeClr val="bg2"/>
          </a:solidFill>
          <a:ln/>
        </p:spPr>
      </p:sp>
      <p:sp>
        <p:nvSpPr>
          <p:cNvPr id="16" name="Text 14"/>
          <p:cNvSpPr txBox="1"/>
          <p:nvPr/>
        </p:nvSpPr>
        <p:spPr>
          <a:xfrm>
            <a:off x="9234526" y="1645920"/>
            <a:ext cx="1280160" cy="82296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38</a:t>
            </a:r>
            <a:endParaRPr lang="en-US" sz="4400" dirty="0"/>
          </a:p>
        </p:txBody>
      </p:sp>
      <p:sp>
        <p:nvSpPr>
          <p:cNvPr id="17" name="Text 15"/>
          <p:cNvSpPr txBox="1"/>
          <p:nvPr/>
        </p:nvSpPr>
        <p:spPr>
          <a:xfrm>
            <a:off x="9234526" y="2468880"/>
            <a:ext cx="214884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New</a:t>
            </a:r>
            <a:endParaRPr lang="en-US" sz="1800" dirty="0"/>
          </a:p>
        </p:txBody>
      </p:sp>
      <p:sp>
        <p:nvSpPr>
          <p:cNvPr id="18" name="Text 16"/>
          <p:cNvSpPr txBox="1"/>
          <p:nvPr/>
        </p:nvSpPr>
        <p:spPr>
          <a:xfrm>
            <a:off x="9234526" y="2971800"/>
            <a:ext cx="214884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Filters, DNAC modules, 28 tests</a:t>
            </a:r>
            <a:endParaRPr lang="en-US" sz="1300" dirty="0"/>
          </a:p>
          <a:p>
            <a:pPr marL="342900" indent="-342900">
              <a:spcAft>
                <a:spcPts val="600"/>
              </a:spcAft>
              <a:buSzPct val="100000"/>
              <a:buChar char="•"/>
            </a:pPr>
            <a:r>
              <a:rPr lang="en-US" sz="1300" dirty="0">
                <a:solidFill>
                  <a:schemeClr val="tx1"/>
                </a:solidFill>
              </a:rPr>
              <a:t>13 roles, 9 playbooks</a:t>
            </a:r>
            <a:endParaRPr lang="en-US" sz="1300" dirty="0"/>
          </a:p>
          <a:p>
            <a:pPr marL="342900" indent="-342900">
              <a:spcAft>
                <a:spcPts val="600"/>
              </a:spcAft>
              <a:buSzPct val="100000"/>
              <a:buChar char="•"/>
            </a:pPr>
            <a:r>
              <a:rPr lang="en-US" sz="1300" dirty="0">
                <a:solidFill>
                  <a:schemeClr val="tx1"/>
                </a:solidFill>
              </a:rPr>
              <a:t>Golden templates</a:t>
            </a:r>
            <a:endParaRPr lang="en-US" sz="1300" dirty="0"/>
          </a:p>
          <a:p>
            <a:pPr marL="342900" indent="-342900">
              <a:spcAft>
                <a:spcPts val="600"/>
              </a:spcAft>
              <a:buSzPct val="100000"/>
              <a:buChar char="•"/>
            </a:pPr>
            <a:r>
              <a:rPr lang="en-US" sz="1300" dirty="0">
                <a:solidFill>
                  <a:schemeClr val="tx1"/>
                </a:solidFill>
              </a:rPr>
              <a:t>Discovery, classify scripts</a:t>
            </a:r>
            <a:endParaRPr lang="en-US" sz="1300" dirty="0"/>
          </a:p>
          <a:p>
            <a:pPr marL="342900" indent="-342900">
              <a:spcAft>
                <a:spcPts val="600"/>
              </a:spcAft>
              <a:buSzPct val="100000"/>
              <a:buChar char="•"/>
            </a:pPr>
            <a:r>
              <a:rPr lang="en-US" sz="1300" dirty="0">
                <a:solidFill>
                  <a:schemeClr val="tx1"/>
                </a:solidFill>
              </a:rPr>
              <a:t>Runbook</a:t>
            </a:r>
            <a:endParaRPr lang="en-US" sz="1300" dirty="0"/>
          </a:p>
        </p:txBody>
      </p:sp>
      <p:sp>
        <p:nvSpPr>
          <p:cNvPr id="19" name="Text 17"/>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300" i="1" dirty="0">
                <a:solidFill>
                  <a:schemeClr val="accent3"/>
                </a:solidFill>
              </a:rPr>
              <a:t>Not carried over: SWIM, SD-WAN and CML roles and playbooks, vManage plugin, ud00's switch login file.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Push to Git; Helios builds the AAP job templates</a:t>
            </a:r>
            <a:endParaRPr lang="en-US" sz="2800" dirty="0"/>
          </a:p>
        </p:txBody>
      </p:sp>
      <p:sp>
        <p:nvSpPr>
          <p:cNvPr id="3" name="flow-0"/>
          <p:cNvSpPr/>
          <p:nvPr/>
        </p:nvSpPr>
        <p:spPr>
          <a:xfrm>
            <a:off x="548640" y="1508760"/>
            <a:ext cx="2011680" cy="1005840"/>
          </a:xfrm>
          <a:prstGeom prst="roundRect">
            <a:avLst>
              <a:gd name="adj" fmla="val 7273"/>
            </a:avLst>
          </a:prstGeom>
          <a:solidFill>
            <a:schemeClr val="bg2"/>
          </a:solidFill>
          <a:ln/>
        </p:spPr>
      </p:sp>
      <p:sp>
        <p:nvSpPr>
          <p:cNvPr id="4" name="Text 2"/>
          <p:cNvSpPr txBox="1"/>
          <p:nvPr/>
        </p:nvSpPr>
        <p:spPr>
          <a:xfrm>
            <a:off x="548640" y="1600200"/>
            <a:ext cx="2011680" cy="411480"/>
          </a:xfrm>
          <a:prstGeom prst="rect">
            <a:avLst/>
          </a:prstGeom>
          <a:noFill/>
          <a:ln/>
        </p:spPr>
        <p:txBody>
          <a:bodyPr wrap="square" lIns="0" tIns="0" rIns="0" bIns="0" rtlCol="0" anchor="t"/>
          <a:lstStyle/>
          <a:p>
            <a:pPr algn="ctr" indent="0" marL="0">
              <a:buNone/>
            </a:pPr>
            <a:r>
              <a:rPr lang="en-US" sz="1800" b="1" dirty="0">
                <a:solidFill>
                  <a:schemeClr val="tx2"/>
                </a:solidFill>
              </a:rPr>
              <a:t>Laptop</a:t>
            </a:r>
            <a:endParaRPr lang="en-US" sz="1800" dirty="0"/>
          </a:p>
        </p:txBody>
      </p:sp>
      <p:sp>
        <p:nvSpPr>
          <p:cNvPr id="5" name="Text 3"/>
          <p:cNvSpPr txBox="1"/>
          <p:nvPr/>
        </p:nvSpPr>
        <p:spPr>
          <a:xfrm>
            <a:off x="548640" y="2011680"/>
            <a:ext cx="2011680" cy="320040"/>
          </a:xfrm>
          <a:prstGeom prst="rect">
            <a:avLst/>
          </a:prstGeom>
          <a:noFill/>
          <a:ln/>
        </p:spPr>
        <p:txBody>
          <a:bodyPr wrap="square" lIns="0" tIns="0" rIns="0" bIns="0" rtlCol="0" anchor="t"/>
          <a:lstStyle/>
          <a:p>
            <a:pPr algn="ctr" indent="0" marL="0">
              <a:buNone/>
            </a:pPr>
            <a:r>
              <a:rPr lang="en-US" sz="1200" dirty="0">
                <a:solidFill>
                  <a:schemeClr val="accent3"/>
                </a:solidFill>
              </a:rPr>
              <a:t>test, push</a:t>
            </a:r>
            <a:endParaRPr lang="en-US" sz="1200" dirty="0"/>
          </a:p>
        </p:txBody>
      </p:sp>
      <p:sp>
        <p:nvSpPr>
          <p:cNvPr id="6" name="Shape 4"/>
          <p:cNvSpPr/>
          <p:nvPr/>
        </p:nvSpPr>
        <p:spPr>
          <a:xfrm>
            <a:off x="2560320" y="2011680"/>
            <a:ext cx="251460" cy="0"/>
          </a:xfrm>
          <a:prstGeom prst="line">
            <a:avLst/>
          </a:prstGeom>
          <a:noFill/>
          <a:ln w="19050">
            <a:solidFill>
              <a:schemeClr val="accent3"/>
            </a:solidFill>
            <a:prstDash val="solid"/>
            <a:tailEnd type="triangle"/>
          </a:ln>
        </p:spPr>
      </p:sp>
      <p:sp>
        <p:nvSpPr>
          <p:cNvPr id="7" name="flow-1"/>
          <p:cNvSpPr/>
          <p:nvPr/>
        </p:nvSpPr>
        <p:spPr>
          <a:xfrm>
            <a:off x="2811780" y="1508760"/>
            <a:ext cx="2011680" cy="1005840"/>
          </a:xfrm>
          <a:prstGeom prst="roundRect">
            <a:avLst>
              <a:gd name="adj" fmla="val 7273"/>
            </a:avLst>
          </a:prstGeom>
          <a:solidFill>
            <a:schemeClr val="bg2"/>
          </a:solidFill>
          <a:ln/>
        </p:spPr>
      </p:sp>
      <p:sp>
        <p:nvSpPr>
          <p:cNvPr id="8" name="Text 6"/>
          <p:cNvSpPr txBox="1"/>
          <p:nvPr/>
        </p:nvSpPr>
        <p:spPr>
          <a:xfrm>
            <a:off x="2811780" y="1600200"/>
            <a:ext cx="2011680" cy="411480"/>
          </a:xfrm>
          <a:prstGeom prst="rect">
            <a:avLst/>
          </a:prstGeom>
          <a:noFill/>
          <a:ln/>
        </p:spPr>
        <p:txBody>
          <a:bodyPr wrap="square" lIns="0" tIns="0" rIns="0" bIns="0" rtlCol="0" anchor="t"/>
          <a:lstStyle/>
          <a:p>
            <a:pPr algn="ctr" indent="0" marL="0">
              <a:buNone/>
            </a:pPr>
            <a:r>
              <a:rPr lang="en-US" sz="1800" b="1" dirty="0">
                <a:solidFill>
                  <a:schemeClr val="tx2"/>
                </a:solidFill>
              </a:rPr>
              <a:t>GitHub</a:t>
            </a:r>
            <a:endParaRPr lang="en-US" sz="1800" dirty="0"/>
          </a:p>
        </p:txBody>
      </p:sp>
      <p:sp>
        <p:nvSpPr>
          <p:cNvPr id="9" name="Text 7"/>
          <p:cNvSpPr txBox="1"/>
          <p:nvPr/>
        </p:nvSpPr>
        <p:spPr>
          <a:xfrm>
            <a:off x="2811780" y="2011680"/>
            <a:ext cx="2011680" cy="320040"/>
          </a:xfrm>
          <a:prstGeom prst="rect">
            <a:avLst/>
          </a:prstGeom>
          <a:noFill/>
          <a:ln/>
        </p:spPr>
        <p:txBody>
          <a:bodyPr wrap="square" lIns="0" tIns="0" rIns="0" bIns="0" rtlCol="0" anchor="t"/>
          <a:lstStyle/>
          <a:p>
            <a:pPr algn="ctr" indent="0" marL="0">
              <a:buNone/>
            </a:pPr>
            <a:r>
              <a:rPr lang="en-US" sz="1200" dirty="0">
                <a:solidFill>
                  <a:schemeClr val="accent3"/>
                </a:solidFill>
              </a:rPr>
              <a:t>dev branch</a:t>
            </a:r>
            <a:endParaRPr lang="en-US" sz="1200" dirty="0"/>
          </a:p>
        </p:txBody>
      </p:sp>
      <p:sp>
        <p:nvSpPr>
          <p:cNvPr id="10" name="Shape 8"/>
          <p:cNvSpPr/>
          <p:nvPr/>
        </p:nvSpPr>
        <p:spPr>
          <a:xfrm>
            <a:off x="4823460" y="2011680"/>
            <a:ext cx="251460" cy="0"/>
          </a:xfrm>
          <a:prstGeom prst="line">
            <a:avLst/>
          </a:prstGeom>
          <a:noFill/>
          <a:ln w="19050">
            <a:solidFill>
              <a:schemeClr val="accent3"/>
            </a:solidFill>
            <a:prstDash val="solid"/>
            <a:tailEnd type="triangle"/>
          </a:ln>
        </p:spPr>
      </p:sp>
      <p:sp>
        <p:nvSpPr>
          <p:cNvPr id="11" name="flow-2"/>
          <p:cNvSpPr/>
          <p:nvPr/>
        </p:nvSpPr>
        <p:spPr>
          <a:xfrm>
            <a:off x="5074920" y="1508760"/>
            <a:ext cx="2011680" cy="1005840"/>
          </a:xfrm>
          <a:prstGeom prst="roundRect">
            <a:avLst>
              <a:gd name="adj" fmla="val 7273"/>
            </a:avLst>
          </a:prstGeom>
          <a:solidFill>
            <a:schemeClr val="bg2"/>
          </a:solidFill>
          <a:ln/>
        </p:spPr>
      </p:sp>
      <p:sp>
        <p:nvSpPr>
          <p:cNvPr id="12" name="Text 10"/>
          <p:cNvSpPr txBox="1"/>
          <p:nvPr/>
        </p:nvSpPr>
        <p:spPr>
          <a:xfrm>
            <a:off x="5074920" y="1600200"/>
            <a:ext cx="2011680" cy="411480"/>
          </a:xfrm>
          <a:prstGeom prst="rect">
            <a:avLst/>
          </a:prstGeom>
          <a:noFill/>
          <a:ln/>
        </p:spPr>
        <p:txBody>
          <a:bodyPr wrap="square" lIns="0" tIns="0" rIns="0" bIns="0" rtlCol="0" anchor="t"/>
          <a:lstStyle/>
          <a:p>
            <a:pPr algn="ctr" indent="0" marL="0">
              <a:buNone/>
            </a:pPr>
            <a:r>
              <a:rPr lang="en-US" sz="1800" b="1" dirty="0">
                <a:solidFill>
                  <a:schemeClr val="tx2"/>
                </a:solidFill>
              </a:rPr>
              <a:t>Helios</a:t>
            </a:r>
            <a:endParaRPr lang="en-US" sz="1800" dirty="0"/>
          </a:p>
        </p:txBody>
      </p:sp>
      <p:sp>
        <p:nvSpPr>
          <p:cNvPr id="13" name="Text 11"/>
          <p:cNvSpPr txBox="1"/>
          <p:nvPr/>
        </p:nvSpPr>
        <p:spPr>
          <a:xfrm>
            <a:off x="5074920" y="2011680"/>
            <a:ext cx="2011680" cy="320040"/>
          </a:xfrm>
          <a:prstGeom prst="rect">
            <a:avLst/>
          </a:prstGeom>
          <a:noFill/>
          <a:ln/>
        </p:spPr>
        <p:txBody>
          <a:bodyPr wrap="square" lIns="0" tIns="0" rIns="0" bIns="0" rtlCol="0" anchor="t"/>
          <a:lstStyle/>
          <a:p>
            <a:pPr algn="ctr" indent="0" marL="0">
              <a:buNone/>
            </a:pPr>
            <a:r>
              <a:rPr lang="en-US" sz="1200" dirty="0">
                <a:solidFill>
                  <a:schemeClr val="accent3"/>
                </a:solidFill>
              </a:rPr>
              <a:t>render aap_payload</a:t>
            </a:r>
            <a:endParaRPr lang="en-US" sz="1200" dirty="0"/>
          </a:p>
        </p:txBody>
      </p:sp>
      <p:sp>
        <p:nvSpPr>
          <p:cNvPr id="14" name="Shape 12"/>
          <p:cNvSpPr/>
          <p:nvPr/>
        </p:nvSpPr>
        <p:spPr>
          <a:xfrm>
            <a:off x="7086600" y="2011680"/>
            <a:ext cx="251460" cy="0"/>
          </a:xfrm>
          <a:prstGeom prst="line">
            <a:avLst/>
          </a:prstGeom>
          <a:noFill/>
          <a:ln w="19050">
            <a:solidFill>
              <a:schemeClr val="accent3"/>
            </a:solidFill>
            <a:prstDash val="solid"/>
            <a:tailEnd type="triangle"/>
          </a:ln>
        </p:spPr>
      </p:sp>
      <p:sp>
        <p:nvSpPr>
          <p:cNvPr id="15" name="flow-3"/>
          <p:cNvSpPr/>
          <p:nvPr/>
        </p:nvSpPr>
        <p:spPr>
          <a:xfrm>
            <a:off x="7338060" y="1508760"/>
            <a:ext cx="2011680" cy="1005840"/>
          </a:xfrm>
          <a:prstGeom prst="roundRect">
            <a:avLst>
              <a:gd name="adj" fmla="val 7273"/>
            </a:avLst>
          </a:prstGeom>
          <a:solidFill>
            <a:schemeClr val="accent1"/>
          </a:solidFill>
          <a:ln/>
        </p:spPr>
      </p:sp>
      <p:sp>
        <p:nvSpPr>
          <p:cNvPr id="16" name="Text 14"/>
          <p:cNvSpPr txBox="1"/>
          <p:nvPr/>
        </p:nvSpPr>
        <p:spPr>
          <a:xfrm>
            <a:off x="7338060" y="1600200"/>
            <a:ext cx="2011680" cy="411480"/>
          </a:xfrm>
          <a:prstGeom prst="rect">
            <a:avLst/>
          </a:prstGeom>
          <a:noFill/>
          <a:ln/>
        </p:spPr>
        <p:txBody>
          <a:bodyPr wrap="square" lIns="0" tIns="0" rIns="0" bIns="0" rtlCol="0" anchor="t"/>
          <a:lstStyle/>
          <a:p>
            <a:pPr algn="ctr" indent="0" marL="0">
              <a:buNone/>
            </a:pPr>
            <a:r>
              <a:rPr lang="en-US" sz="1800" b="1" dirty="0">
                <a:solidFill>
                  <a:schemeClr val="bg1"/>
                </a:solidFill>
              </a:rPr>
              <a:t>DEV AAP</a:t>
            </a:r>
            <a:endParaRPr lang="en-US" sz="1800" dirty="0"/>
          </a:p>
        </p:txBody>
      </p:sp>
      <p:sp>
        <p:nvSpPr>
          <p:cNvPr id="17" name="Text 15"/>
          <p:cNvSpPr txBox="1"/>
          <p:nvPr/>
        </p:nvSpPr>
        <p:spPr>
          <a:xfrm>
            <a:off x="7338060" y="2011680"/>
            <a:ext cx="2011680" cy="320040"/>
          </a:xfrm>
          <a:prstGeom prst="rect">
            <a:avLst/>
          </a:prstGeom>
          <a:noFill/>
          <a:ln/>
        </p:spPr>
        <p:txBody>
          <a:bodyPr wrap="square" lIns="0" tIns="0" rIns="0" bIns="0" rtlCol="0" anchor="t"/>
          <a:lstStyle/>
          <a:p>
            <a:pPr algn="ctr" indent="0" marL="0">
              <a:buNone/>
            </a:pPr>
            <a:r>
              <a:rPr lang="en-US" sz="1200" dirty="0">
                <a:solidFill>
                  <a:schemeClr val="accent6"/>
                </a:solidFill>
              </a:rPr>
              <a:t>lab runs</a:t>
            </a:r>
            <a:endParaRPr lang="en-US" sz="1200" dirty="0"/>
          </a:p>
        </p:txBody>
      </p:sp>
      <p:sp>
        <p:nvSpPr>
          <p:cNvPr id="18" name="Shape 16"/>
          <p:cNvSpPr/>
          <p:nvPr/>
        </p:nvSpPr>
        <p:spPr>
          <a:xfrm>
            <a:off x="9349740" y="2011680"/>
            <a:ext cx="251460" cy="0"/>
          </a:xfrm>
          <a:prstGeom prst="line">
            <a:avLst/>
          </a:prstGeom>
          <a:noFill/>
          <a:ln w="19050">
            <a:solidFill>
              <a:schemeClr val="accent3"/>
            </a:solidFill>
            <a:prstDash val="solid"/>
            <a:tailEnd type="triangle"/>
          </a:ln>
        </p:spPr>
      </p:sp>
      <p:sp>
        <p:nvSpPr>
          <p:cNvPr id="19" name="flow-4"/>
          <p:cNvSpPr/>
          <p:nvPr/>
        </p:nvSpPr>
        <p:spPr>
          <a:xfrm>
            <a:off x="9601200" y="1508760"/>
            <a:ext cx="2011680" cy="1005840"/>
          </a:xfrm>
          <a:prstGeom prst="roundRect">
            <a:avLst>
              <a:gd name="adj" fmla="val 7273"/>
            </a:avLst>
          </a:prstGeom>
          <a:solidFill>
            <a:schemeClr val="accent1"/>
          </a:solidFill>
          <a:ln/>
        </p:spPr>
      </p:sp>
      <p:sp>
        <p:nvSpPr>
          <p:cNvPr id="20" name="Text 18"/>
          <p:cNvSpPr txBox="1"/>
          <p:nvPr/>
        </p:nvSpPr>
        <p:spPr>
          <a:xfrm>
            <a:off x="9601200" y="1600200"/>
            <a:ext cx="2011680" cy="411480"/>
          </a:xfrm>
          <a:prstGeom prst="rect">
            <a:avLst/>
          </a:prstGeom>
          <a:noFill/>
          <a:ln/>
        </p:spPr>
        <p:txBody>
          <a:bodyPr wrap="square" lIns="0" tIns="0" rIns="0" bIns="0" rtlCol="0" anchor="t"/>
          <a:lstStyle/>
          <a:p>
            <a:pPr algn="ctr" indent="0" marL="0">
              <a:buNone/>
            </a:pPr>
            <a:r>
              <a:rPr lang="en-US" sz="1800" b="1" dirty="0">
                <a:solidFill>
                  <a:schemeClr val="bg1"/>
                </a:solidFill>
              </a:rPr>
              <a:t>PROD AAP</a:t>
            </a:r>
            <a:endParaRPr lang="en-US" sz="1800" dirty="0"/>
          </a:p>
        </p:txBody>
      </p:sp>
      <p:sp>
        <p:nvSpPr>
          <p:cNvPr id="21" name="Text 19"/>
          <p:cNvSpPr txBox="1"/>
          <p:nvPr/>
        </p:nvSpPr>
        <p:spPr>
          <a:xfrm>
            <a:off x="9601200" y="2011680"/>
            <a:ext cx="2011680" cy="320040"/>
          </a:xfrm>
          <a:prstGeom prst="rect">
            <a:avLst/>
          </a:prstGeom>
          <a:noFill/>
          <a:ln/>
        </p:spPr>
        <p:txBody>
          <a:bodyPr wrap="square" lIns="0" tIns="0" rIns="0" bIns="0" rtlCol="0" anchor="t"/>
          <a:lstStyle/>
          <a:p>
            <a:pPr algn="ctr" indent="0" marL="0">
              <a:buNone/>
            </a:pPr>
            <a:r>
              <a:rPr lang="en-US" sz="1200" dirty="0">
                <a:solidFill>
                  <a:schemeClr val="accent6"/>
                </a:solidFill>
              </a:rPr>
              <a:t>release branch</a:t>
            </a:r>
            <a:endParaRPr lang="en-US" sz="1200" dirty="0"/>
          </a:p>
        </p:txBody>
      </p:sp>
      <p:sp>
        <p:nvSpPr>
          <p:cNvPr id="22" name="Text 20"/>
          <p:cNvSpPr txBox="1"/>
          <p:nvPr/>
        </p:nvSpPr>
        <p:spPr>
          <a:xfrm>
            <a:off x="548640" y="2834640"/>
            <a:ext cx="7315200" cy="365760"/>
          </a:xfrm>
          <a:prstGeom prst="rect">
            <a:avLst/>
          </a:prstGeom>
          <a:noFill/>
          <a:ln/>
        </p:spPr>
        <p:txBody>
          <a:bodyPr wrap="square" lIns="0" tIns="0" rIns="0" bIns="0" rtlCol="0" anchor="t"/>
          <a:lstStyle/>
          <a:p>
            <a:pPr indent="0" marL="0">
              <a:buNone/>
            </a:pPr>
            <a:r>
              <a:rPr lang="en-US" sz="1600" b="1" dirty="0">
                <a:solidFill>
                  <a:schemeClr val="tx2"/>
                </a:solidFill>
              </a:rPr>
              <a:t>Job templates Helios creates in AAP</a:t>
            </a:r>
            <a:endParaRPr lang="en-US" sz="1600" dirty="0"/>
          </a:p>
        </p:txBody>
      </p:sp>
      <p:sp>
        <p:nvSpPr>
          <p:cNvPr id="23" name="Shape 21"/>
          <p:cNvSpPr/>
          <p:nvPr/>
        </p:nvSpPr>
        <p:spPr>
          <a:xfrm>
            <a:off x="548640" y="3291840"/>
            <a:ext cx="2103120" cy="411480"/>
          </a:xfrm>
          <a:prstGeom prst="roundRect">
            <a:avLst>
              <a:gd name="adj" fmla="val 17778"/>
            </a:avLst>
          </a:prstGeom>
          <a:solidFill>
            <a:schemeClr val="accent6">
              <a:alpha val="80000"/>
            </a:schemeClr>
          </a:solidFill>
          <a:ln/>
        </p:spPr>
      </p:sp>
      <p:sp>
        <p:nvSpPr>
          <p:cNvPr id="24" name="Text 22"/>
          <p:cNvSpPr txBox="1"/>
          <p:nvPr/>
        </p:nvSpPr>
        <p:spPr>
          <a:xfrm>
            <a:off x="548640" y="3291840"/>
            <a:ext cx="2103120" cy="411480"/>
          </a:xfrm>
          <a:prstGeom prst="rect">
            <a:avLst/>
          </a:prstGeom>
          <a:noFill/>
          <a:ln/>
        </p:spPr>
        <p:txBody>
          <a:bodyPr wrap="square" lIns="0" tIns="0" rIns="0" bIns="0" rtlCol="0" anchor="ctr"/>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ibns_classify</a:t>
            </a:r>
            <a:endParaRPr lang="en-US" sz="1100" dirty="0"/>
          </a:p>
        </p:txBody>
      </p:sp>
      <p:sp>
        <p:nvSpPr>
          <p:cNvPr id="25" name="Shape 23"/>
          <p:cNvSpPr/>
          <p:nvPr/>
        </p:nvSpPr>
        <p:spPr>
          <a:xfrm>
            <a:off x="2788920" y="3291840"/>
            <a:ext cx="2103120" cy="411480"/>
          </a:xfrm>
          <a:prstGeom prst="roundRect">
            <a:avLst>
              <a:gd name="adj" fmla="val 17778"/>
            </a:avLst>
          </a:prstGeom>
          <a:solidFill>
            <a:schemeClr val="accent6">
              <a:alpha val="80000"/>
            </a:schemeClr>
          </a:solidFill>
          <a:ln/>
        </p:spPr>
      </p:sp>
      <p:sp>
        <p:nvSpPr>
          <p:cNvPr id="26" name="Text 24"/>
          <p:cNvSpPr txBox="1"/>
          <p:nvPr/>
        </p:nvSpPr>
        <p:spPr>
          <a:xfrm>
            <a:off x="2788920" y="3291840"/>
            <a:ext cx="2103120" cy="411480"/>
          </a:xfrm>
          <a:prstGeom prst="rect">
            <a:avLst/>
          </a:prstGeom>
          <a:noFill/>
          <a:ln/>
        </p:spPr>
        <p:txBody>
          <a:bodyPr wrap="square" lIns="0" tIns="0" rIns="0" bIns="0" rtlCol="0" anchor="ctr"/>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ibns_baseline</a:t>
            </a:r>
            <a:endParaRPr lang="en-US" sz="1100" dirty="0"/>
          </a:p>
        </p:txBody>
      </p:sp>
      <p:sp>
        <p:nvSpPr>
          <p:cNvPr id="27" name="Shape 25"/>
          <p:cNvSpPr/>
          <p:nvPr/>
        </p:nvSpPr>
        <p:spPr>
          <a:xfrm>
            <a:off x="5029200" y="3291840"/>
            <a:ext cx="2103120" cy="411480"/>
          </a:xfrm>
          <a:prstGeom prst="roundRect">
            <a:avLst>
              <a:gd name="adj" fmla="val 17778"/>
            </a:avLst>
          </a:prstGeom>
          <a:solidFill>
            <a:schemeClr val="accent6">
              <a:alpha val="80000"/>
            </a:schemeClr>
          </a:solidFill>
          <a:ln/>
        </p:spPr>
      </p:sp>
      <p:sp>
        <p:nvSpPr>
          <p:cNvPr id="28" name="Text 26"/>
          <p:cNvSpPr txBox="1"/>
          <p:nvPr/>
        </p:nvSpPr>
        <p:spPr>
          <a:xfrm>
            <a:off x="5029200" y="3291840"/>
            <a:ext cx="2103120" cy="411480"/>
          </a:xfrm>
          <a:prstGeom prst="rect">
            <a:avLst/>
          </a:prstGeom>
          <a:noFill/>
          <a:ln/>
        </p:spPr>
        <p:txBody>
          <a:bodyPr wrap="square" lIns="0" tIns="0" rIns="0" bIns="0" rtlCol="0" anchor="ctr"/>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ibns_precheck</a:t>
            </a:r>
            <a:endParaRPr lang="en-US" sz="1100" dirty="0"/>
          </a:p>
        </p:txBody>
      </p:sp>
      <p:sp>
        <p:nvSpPr>
          <p:cNvPr id="29" name="Shape 27"/>
          <p:cNvSpPr/>
          <p:nvPr/>
        </p:nvSpPr>
        <p:spPr>
          <a:xfrm>
            <a:off x="7269480" y="3291840"/>
            <a:ext cx="2103120" cy="411480"/>
          </a:xfrm>
          <a:prstGeom prst="roundRect">
            <a:avLst>
              <a:gd name="adj" fmla="val 17778"/>
            </a:avLst>
          </a:prstGeom>
          <a:solidFill>
            <a:schemeClr val="accent6">
              <a:alpha val="80000"/>
            </a:schemeClr>
          </a:solidFill>
          <a:ln/>
        </p:spPr>
      </p:sp>
      <p:sp>
        <p:nvSpPr>
          <p:cNvPr id="30" name="Text 28"/>
          <p:cNvSpPr txBox="1"/>
          <p:nvPr/>
        </p:nvSpPr>
        <p:spPr>
          <a:xfrm>
            <a:off x="7269480" y="3291840"/>
            <a:ext cx="2103120" cy="411480"/>
          </a:xfrm>
          <a:prstGeom prst="rect">
            <a:avLst/>
          </a:prstGeom>
          <a:noFill/>
          <a:ln/>
        </p:spPr>
        <p:txBody>
          <a:bodyPr wrap="square" lIns="0" tIns="0" rIns="0" bIns="0" rtlCol="0" anchor="ctr"/>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ibns_stage1_convert</a:t>
            </a:r>
            <a:endParaRPr lang="en-US" sz="1100" dirty="0"/>
          </a:p>
        </p:txBody>
      </p:sp>
      <p:sp>
        <p:nvSpPr>
          <p:cNvPr id="31" name="Shape 29"/>
          <p:cNvSpPr/>
          <p:nvPr/>
        </p:nvSpPr>
        <p:spPr>
          <a:xfrm>
            <a:off x="9509760" y="3291840"/>
            <a:ext cx="2103120" cy="411480"/>
          </a:xfrm>
          <a:prstGeom prst="roundRect">
            <a:avLst>
              <a:gd name="adj" fmla="val 17778"/>
            </a:avLst>
          </a:prstGeom>
          <a:solidFill>
            <a:schemeClr val="accent6">
              <a:alpha val="80000"/>
            </a:schemeClr>
          </a:solidFill>
          <a:ln/>
        </p:spPr>
      </p:sp>
      <p:sp>
        <p:nvSpPr>
          <p:cNvPr id="32" name="Text 30"/>
          <p:cNvSpPr txBox="1"/>
          <p:nvPr/>
        </p:nvSpPr>
        <p:spPr>
          <a:xfrm>
            <a:off x="9509760" y="3291840"/>
            <a:ext cx="2103120" cy="411480"/>
          </a:xfrm>
          <a:prstGeom prst="rect">
            <a:avLst/>
          </a:prstGeom>
          <a:noFill/>
          <a:ln/>
        </p:spPr>
        <p:txBody>
          <a:bodyPr wrap="square" lIns="0" tIns="0" rIns="0" bIns="0" rtlCol="0" anchor="ctr"/>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ibns_stage2_golden</a:t>
            </a:r>
            <a:endParaRPr lang="en-US" sz="1100" dirty="0"/>
          </a:p>
        </p:txBody>
      </p:sp>
      <p:sp>
        <p:nvSpPr>
          <p:cNvPr id="33" name="Shape 31"/>
          <p:cNvSpPr/>
          <p:nvPr/>
        </p:nvSpPr>
        <p:spPr>
          <a:xfrm>
            <a:off x="548640" y="3840480"/>
            <a:ext cx="2103120" cy="411480"/>
          </a:xfrm>
          <a:prstGeom prst="roundRect">
            <a:avLst>
              <a:gd name="adj" fmla="val 17778"/>
            </a:avLst>
          </a:prstGeom>
          <a:solidFill>
            <a:schemeClr val="accent6">
              <a:alpha val="80000"/>
            </a:schemeClr>
          </a:solidFill>
          <a:ln/>
        </p:spPr>
      </p:sp>
      <p:sp>
        <p:nvSpPr>
          <p:cNvPr id="34" name="Text 32"/>
          <p:cNvSpPr txBox="1"/>
          <p:nvPr/>
        </p:nvSpPr>
        <p:spPr>
          <a:xfrm>
            <a:off x="548640" y="3840480"/>
            <a:ext cx="2103120" cy="411480"/>
          </a:xfrm>
          <a:prstGeom prst="rect">
            <a:avLst/>
          </a:prstGeom>
          <a:noFill/>
          <a:ln/>
        </p:spPr>
        <p:txBody>
          <a:bodyPr wrap="square" lIns="0" tIns="0" rIns="0" bIns="0" rtlCol="0" anchor="ctr"/>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ibns_nextday_check</a:t>
            </a:r>
            <a:endParaRPr lang="en-US" sz="1100" dirty="0"/>
          </a:p>
        </p:txBody>
      </p:sp>
      <p:sp>
        <p:nvSpPr>
          <p:cNvPr id="35" name="Shape 33"/>
          <p:cNvSpPr/>
          <p:nvPr/>
        </p:nvSpPr>
        <p:spPr>
          <a:xfrm>
            <a:off x="2788920" y="3840480"/>
            <a:ext cx="2103120" cy="411480"/>
          </a:xfrm>
          <a:prstGeom prst="roundRect">
            <a:avLst>
              <a:gd name="adj" fmla="val 17778"/>
            </a:avLst>
          </a:prstGeom>
          <a:solidFill>
            <a:schemeClr val="accent6">
              <a:alpha val="80000"/>
            </a:schemeClr>
          </a:solidFill>
          <a:ln/>
        </p:spPr>
      </p:sp>
      <p:sp>
        <p:nvSpPr>
          <p:cNvPr id="36" name="Text 34"/>
          <p:cNvSpPr txBox="1"/>
          <p:nvPr/>
        </p:nvSpPr>
        <p:spPr>
          <a:xfrm>
            <a:off x="2788920" y="3840480"/>
            <a:ext cx="2103120" cy="411480"/>
          </a:xfrm>
          <a:prstGeom prst="rect">
            <a:avLst/>
          </a:prstGeom>
          <a:noFill/>
          <a:ln/>
        </p:spPr>
        <p:txBody>
          <a:bodyPr wrap="square" lIns="0" tIns="0" rIns="0" bIns="0" rtlCol="0" anchor="ctr"/>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ibns_rollback_golden</a:t>
            </a:r>
            <a:endParaRPr lang="en-US" sz="1100" dirty="0"/>
          </a:p>
        </p:txBody>
      </p:sp>
      <p:sp>
        <p:nvSpPr>
          <p:cNvPr id="37" name="Shape 35"/>
          <p:cNvSpPr/>
          <p:nvPr/>
        </p:nvSpPr>
        <p:spPr>
          <a:xfrm>
            <a:off x="5029200" y="3840480"/>
            <a:ext cx="2103120" cy="411480"/>
          </a:xfrm>
          <a:prstGeom prst="roundRect">
            <a:avLst>
              <a:gd name="adj" fmla="val 17778"/>
            </a:avLst>
          </a:prstGeom>
          <a:solidFill>
            <a:schemeClr val="accent6">
              <a:alpha val="80000"/>
            </a:schemeClr>
          </a:solidFill>
          <a:ln/>
        </p:spPr>
      </p:sp>
      <p:sp>
        <p:nvSpPr>
          <p:cNvPr id="38" name="Text 36"/>
          <p:cNvSpPr txBox="1"/>
          <p:nvPr/>
        </p:nvSpPr>
        <p:spPr>
          <a:xfrm>
            <a:off x="5029200" y="3840480"/>
            <a:ext cx="2103120" cy="411480"/>
          </a:xfrm>
          <a:prstGeom prst="rect">
            <a:avLst/>
          </a:prstGeom>
          <a:noFill/>
          <a:ln/>
        </p:spPr>
        <p:txBody>
          <a:bodyPr wrap="square" lIns="0" tIns="0" rIns="0" bIns="0" rtlCol="0" anchor="ctr"/>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ibns_stage3_cleanup</a:t>
            </a:r>
            <a:endParaRPr lang="en-US" sz="1100" dirty="0"/>
          </a:p>
        </p:txBody>
      </p:sp>
      <p:sp>
        <p:nvSpPr>
          <p:cNvPr id="39" name="Shape 37"/>
          <p:cNvSpPr/>
          <p:nvPr/>
        </p:nvSpPr>
        <p:spPr>
          <a:xfrm>
            <a:off x="7269480" y="3840480"/>
            <a:ext cx="2103120" cy="411480"/>
          </a:xfrm>
          <a:prstGeom prst="roundRect">
            <a:avLst>
              <a:gd name="adj" fmla="val 17778"/>
            </a:avLst>
          </a:prstGeom>
          <a:solidFill>
            <a:schemeClr val="accent6">
              <a:alpha val="80000"/>
            </a:schemeClr>
          </a:solidFill>
          <a:ln/>
        </p:spPr>
      </p:sp>
      <p:sp>
        <p:nvSpPr>
          <p:cNvPr id="40" name="Text 38"/>
          <p:cNvSpPr txBox="1"/>
          <p:nvPr/>
        </p:nvSpPr>
        <p:spPr>
          <a:xfrm>
            <a:off x="7269480" y="3840480"/>
            <a:ext cx="2103120" cy="411480"/>
          </a:xfrm>
          <a:prstGeom prst="rect">
            <a:avLst/>
          </a:prstGeom>
          <a:noFill/>
          <a:ln/>
        </p:spPr>
        <p:txBody>
          <a:bodyPr wrap="square" lIns="0" tIns="0" rIns="0" bIns="0" rtlCol="0" anchor="ctr"/>
          <a:lstStyle/>
          <a:p>
            <a:pPr algn="ctr" indent="0" marL="0">
              <a:buNone/>
            </a:pPr>
            <a:r>
              <a:rPr lang="en-US" sz="1100" dirty="0">
                <a:solidFill>
                  <a:schemeClr val="tx2"/>
                </a:solidFill>
                <a:latin typeface="Courier New" pitchFamily="34" charset="0"/>
                <a:ea typeface="Courier New" pitchFamily="34" charset="-122"/>
                <a:cs typeface="Courier New" pitchFamily="34" charset="-120"/>
              </a:rPr>
              <a:t>noop</a:t>
            </a:r>
            <a:endParaRPr lang="en-US" sz="1100" dirty="0"/>
          </a:p>
        </p:txBody>
      </p:sp>
      <p:sp>
        <p:nvSpPr>
          <p:cNvPr id="41" name="survey"/>
          <p:cNvSpPr/>
          <p:nvPr/>
        </p:nvSpPr>
        <p:spPr>
          <a:xfrm>
            <a:off x="548640" y="4572000"/>
            <a:ext cx="11064240" cy="1463040"/>
          </a:xfrm>
          <a:prstGeom prst="roundRect">
            <a:avLst>
              <a:gd name="adj" fmla="val 5000"/>
            </a:avLst>
          </a:prstGeom>
          <a:solidFill>
            <a:schemeClr val="bg2"/>
          </a:solidFill>
          <a:ln/>
        </p:spPr>
      </p:sp>
      <p:sp>
        <p:nvSpPr>
          <p:cNvPr id="42" name="Text 40"/>
          <p:cNvSpPr txBox="1"/>
          <p:nvPr/>
        </p:nvSpPr>
        <p:spPr>
          <a:xfrm>
            <a:off x="777240" y="4709160"/>
            <a:ext cx="2743200" cy="365760"/>
          </a:xfrm>
          <a:prstGeom prst="rect">
            <a:avLst/>
          </a:prstGeom>
          <a:noFill/>
          <a:ln/>
        </p:spPr>
        <p:txBody>
          <a:bodyPr wrap="square" lIns="0" tIns="0" rIns="0" bIns="0" rtlCol="0" anchor="t"/>
          <a:lstStyle/>
          <a:p>
            <a:pPr indent="0" marL="0">
              <a:buNone/>
            </a:pPr>
            <a:r>
              <a:rPr lang="en-US" sz="1600" b="1" dirty="0">
                <a:solidFill>
                  <a:schemeClr val="tx2"/>
                </a:solidFill>
              </a:rPr>
              <a:t>Surveys</a:t>
            </a:r>
            <a:endParaRPr lang="en-US" sz="1600" dirty="0"/>
          </a:p>
        </p:txBody>
      </p:sp>
      <p:sp>
        <p:nvSpPr>
          <p:cNvPr id="43" name="Text 41"/>
          <p:cNvSpPr txBox="1"/>
          <p:nvPr/>
        </p:nvSpPr>
        <p:spPr>
          <a:xfrm>
            <a:off x="777240" y="5074920"/>
            <a:ext cx="10607040" cy="914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Read-only jobs ask only for hostnames (comma separated, one site)</a:t>
            </a:r>
            <a:endParaRPr lang="en-US" sz="1400" dirty="0"/>
          </a:p>
          <a:p>
            <a:pPr marL="342900" indent="-342900">
              <a:spcAft>
                <a:spcPts val="400"/>
              </a:spcAft>
              <a:buSzPct val="100000"/>
              <a:buChar char="•"/>
            </a:pPr>
            <a:r>
              <a:rPr lang="en-US" sz="1400" dirty="0">
                <a:solidFill>
                  <a:schemeClr val="tx1"/>
                </a:solidFill>
              </a:rPr>
              <a:t>Change jobs add the ServiceNow change number and Dry Run (default true)</a:t>
            </a:r>
            <a:endParaRPr lang="en-US" sz="1400" dirty="0"/>
          </a:p>
          <a:p>
            <a:pPr marL="342900" indent="-342900">
              <a:spcAft>
                <a:spcPts val="400"/>
              </a:spcAft>
              <a:buSzPct val="100000"/>
              <a:buChar char="•"/>
            </a:pPr>
            <a:r>
              <a:rPr lang="en-US" sz="1400" dirty="0">
                <a:solidFill>
                  <a:schemeClr val="tx1"/>
                </a:solidFill>
              </a:rPr>
              <a:t>Jobs carry the DNAC service ID from RBC Vault; no switch login, nothing secret in the repo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Safety rails are on by default</a:t>
            </a:r>
            <a:endParaRPr lang="en-US" sz="2800" dirty="0"/>
          </a:p>
        </p:txBody>
      </p:sp>
      <p:sp>
        <p:nvSpPr>
          <p:cNvPr id="3" name="rail-0"/>
          <p:cNvSpPr/>
          <p:nvPr/>
        </p:nvSpPr>
        <p:spPr>
          <a:xfrm>
            <a:off x="548640" y="1554480"/>
            <a:ext cx="2606040" cy="1920240"/>
          </a:xfrm>
          <a:prstGeom prst="roundRect">
            <a:avLst>
              <a:gd name="adj" fmla="val 3810"/>
            </a:avLst>
          </a:prstGeom>
          <a:solidFill>
            <a:schemeClr val="bg2"/>
          </a:solidFill>
          <a:ln/>
        </p:spPr>
      </p:sp>
      <p:sp>
        <p:nvSpPr>
          <p:cNvPr id="4" name="Shape 2"/>
          <p:cNvSpPr/>
          <p:nvPr/>
        </p:nvSpPr>
        <p:spPr>
          <a:xfrm>
            <a:off x="777240" y="1783080"/>
            <a:ext cx="457200" cy="457200"/>
          </a:xfrm>
          <a:prstGeom prst="ellipse">
            <a:avLst/>
          </a:prstGeom>
          <a:solidFill>
            <a:schemeClr val="accent1"/>
          </a:solidFill>
          <a:ln/>
        </p:spPr>
      </p:sp>
      <p:sp>
        <p:nvSpPr>
          <p:cNvPr id="5" name="Text 3"/>
          <p:cNvSpPr txBox="1"/>
          <p:nvPr/>
        </p:nvSpPr>
        <p:spPr>
          <a:xfrm>
            <a:off x="77724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 4"/>
          <p:cNvSpPr txBox="1"/>
          <p:nvPr/>
        </p:nvSpPr>
        <p:spPr>
          <a:xfrm>
            <a:off x="777240" y="2377440"/>
            <a:ext cx="214884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Dry run</a:t>
            </a:r>
            <a:endParaRPr lang="en-US" sz="1700" dirty="0"/>
          </a:p>
        </p:txBody>
      </p:sp>
      <p:sp>
        <p:nvSpPr>
          <p:cNvPr id="7" name="Text 5"/>
          <p:cNvSpPr txBox="1"/>
          <p:nvPr/>
        </p:nvSpPr>
        <p:spPr>
          <a:xfrm>
            <a:off x="777240" y="2788920"/>
            <a:ext cx="2148840" cy="594360"/>
          </a:xfrm>
          <a:prstGeom prst="rect">
            <a:avLst/>
          </a:prstGeom>
          <a:noFill/>
          <a:ln/>
        </p:spPr>
        <p:txBody>
          <a:bodyPr wrap="square" lIns="0" tIns="0" rIns="0" bIns="0" rtlCol="0" anchor="t"/>
          <a:lstStyle/>
          <a:p>
            <a:pPr indent="0" marL="0">
              <a:buNone/>
            </a:pPr>
            <a:r>
              <a:rPr lang="en-US" sz="1300" dirty="0">
                <a:solidFill>
                  <a:schemeClr val="tx1"/>
                </a:solidFill>
              </a:rPr>
              <a:t>Default true on every change job</a:t>
            </a:r>
            <a:endParaRPr lang="en-US" sz="1300" dirty="0"/>
          </a:p>
        </p:txBody>
      </p:sp>
      <p:sp>
        <p:nvSpPr>
          <p:cNvPr id="8" name="rail-1"/>
          <p:cNvSpPr/>
          <p:nvPr/>
        </p:nvSpPr>
        <p:spPr>
          <a:xfrm>
            <a:off x="3360420" y="1554480"/>
            <a:ext cx="2606040" cy="1920240"/>
          </a:xfrm>
          <a:prstGeom prst="roundRect">
            <a:avLst>
              <a:gd name="adj" fmla="val 3810"/>
            </a:avLst>
          </a:prstGeom>
          <a:solidFill>
            <a:schemeClr val="bg2"/>
          </a:solidFill>
          <a:ln/>
        </p:spPr>
      </p:sp>
      <p:sp>
        <p:nvSpPr>
          <p:cNvPr id="9" name="Shape 7"/>
          <p:cNvSpPr/>
          <p:nvPr/>
        </p:nvSpPr>
        <p:spPr>
          <a:xfrm>
            <a:off x="3589020" y="1783080"/>
            <a:ext cx="457200" cy="457200"/>
          </a:xfrm>
          <a:prstGeom prst="ellipse">
            <a:avLst/>
          </a:prstGeom>
          <a:solidFill>
            <a:schemeClr val="accent1"/>
          </a:solidFill>
          <a:ln/>
        </p:spPr>
      </p:sp>
      <p:sp>
        <p:nvSpPr>
          <p:cNvPr id="10" name="Text 8"/>
          <p:cNvSpPr txBox="1"/>
          <p:nvPr/>
        </p:nvSpPr>
        <p:spPr>
          <a:xfrm>
            <a:off x="358902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1" name="Text 9"/>
          <p:cNvSpPr txBox="1"/>
          <p:nvPr/>
        </p:nvSpPr>
        <p:spPr>
          <a:xfrm>
            <a:off x="3589020" y="2377440"/>
            <a:ext cx="214884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Change number</a:t>
            </a:r>
            <a:endParaRPr lang="en-US" sz="1700" dirty="0"/>
          </a:p>
        </p:txBody>
      </p:sp>
      <p:sp>
        <p:nvSpPr>
          <p:cNvPr id="12" name="Text 10"/>
          <p:cNvSpPr txBox="1"/>
          <p:nvPr/>
        </p:nvSpPr>
        <p:spPr>
          <a:xfrm>
            <a:off x="3589020" y="2788920"/>
            <a:ext cx="2148840" cy="594360"/>
          </a:xfrm>
          <a:prstGeom prst="rect">
            <a:avLst/>
          </a:prstGeom>
          <a:noFill/>
          <a:ln/>
        </p:spPr>
        <p:txBody>
          <a:bodyPr wrap="square" lIns="0" tIns="0" rIns="0" bIns="0" rtlCol="0" anchor="t"/>
          <a:lstStyle/>
          <a:p>
            <a:pPr indent="0" marL="0">
              <a:buNone/>
            </a:pPr>
            <a:r>
              <a:rPr lang="en-US" sz="1300" dirty="0">
                <a:solidFill>
                  <a:schemeClr val="tx1"/>
                </a:solidFill>
              </a:rPr>
              <a:t>Required when dry run is false</a:t>
            </a:r>
            <a:endParaRPr lang="en-US" sz="1300" dirty="0"/>
          </a:p>
        </p:txBody>
      </p:sp>
      <p:sp>
        <p:nvSpPr>
          <p:cNvPr id="13" name="rail-2"/>
          <p:cNvSpPr/>
          <p:nvPr/>
        </p:nvSpPr>
        <p:spPr>
          <a:xfrm>
            <a:off x="6172200" y="1554480"/>
            <a:ext cx="2606040" cy="1920240"/>
          </a:xfrm>
          <a:prstGeom prst="roundRect">
            <a:avLst>
              <a:gd name="adj" fmla="val 3810"/>
            </a:avLst>
          </a:prstGeom>
          <a:solidFill>
            <a:schemeClr val="bg2"/>
          </a:solidFill>
          <a:ln/>
        </p:spPr>
      </p:sp>
      <p:sp>
        <p:nvSpPr>
          <p:cNvPr id="14" name="Shape 12"/>
          <p:cNvSpPr/>
          <p:nvPr/>
        </p:nvSpPr>
        <p:spPr>
          <a:xfrm>
            <a:off x="6400800" y="1783080"/>
            <a:ext cx="457200" cy="457200"/>
          </a:xfrm>
          <a:prstGeom prst="ellipse">
            <a:avLst/>
          </a:prstGeom>
          <a:solidFill>
            <a:schemeClr val="accent1"/>
          </a:solidFill>
          <a:ln/>
        </p:spPr>
      </p:sp>
      <p:sp>
        <p:nvSpPr>
          <p:cNvPr id="15" name="Text 13"/>
          <p:cNvSpPr txBox="1"/>
          <p:nvPr/>
        </p:nvSpPr>
        <p:spPr>
          <a:xfrm>
            <a:off x="640080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6" name="Text 14"/>
          <p:cNvSpPr txBox="1"/>
          <p:nvPr/>
        </p:nvSpPr>
        <p:spPr>
          <a:xfrm>
            <a:off x="6400800" y="2377440"/>
            <a:ext cx="214884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Exact match</a:t>
            </a:r>
            <a:endParaRPr lang="en-US" sz="1700" dirty="0"/>
          </a:p>
        </p:txBody>
      </p:sp>
      <p:sp>
        <p:nvSpPr>
          <p:cNvPr id="17" name="Text 15"/>
          <p:cNvSpPr txBox="1"/>
          <p:nvPr/>
        </p:nvSpPr>
        <p:spPr>
          <a:xfrm>
            <a:off x="6400800" y="2788920"/>
            <a:ext cx="2148840" cy="594360"/>
          </a:xfrm>
          <a:prstGeom prst="rect">
            <a:avLst/>
          </a:prstGeom>
          <a:noFill/>
          <a:ln/>
        </p:spPr>
        <p:txBody>
          <a:bodyPr wrap="square" lIns="0" tIns="0" rIns="0" bIns="0" rtlCol="0" anchor="t"/>
          <a:lstStyle/>
          <a:p>
            <a:pPr indent="0" marL="0">
              <a:buNone/>
            </a:pPr>
            <a:r>
              <a:rPr lang="en-US" sz="1300" dirty="0">
                <a:solidFill>
                  <a:schemeClr val="tx1"/>
                </a:solidFill>
              </a:rPr>
              <a:t>One inventory match per hostname</a:t>
            </a:r>
            <a:endParaRPr lang="en-US" sz="1300" dirty="0"/>
          </a:p>
        </p:txBody>
      </p:sp>
      <p:sp>
        <p:nvSpPr>
          <p:cNvPr id="18" name="rail-3"/>
          <p:cNvSpPr/>
          <p:nvPr/>
        </p:nvSpPr>
        <p:spPr>
          <a:xfrm>
            <a:off x="8983980" y="1554480"/>
            <a:ext cx="2606040" cy="1920240"/>
          </a:xfrm>
          <a:prstGeom prst="roundRect">
            <a:avLst>
              <a:gd name="adj" fmla="val 3810"/>
            </a:avLst>
          </a:prstGeom>
          <a:solidFill>
            <a:schemeClr val="bg2"/>
          </a:solidFill>
          <a:ln/>
        </p:spPr>
      </p:sp>
      <p:sp>
        <p:nvSpPr>
          <p:cNvPr id="19" name="Shape 17"/>
          <p:cNvSpPr/>
          <p:nvPr/>
        </p:nvSpPr>
        <p:spPr>
          <a:xfrm>
            <a:off x="9212580" y="1783080"/>
            <a:ext cx="457200" cy="457200"/>
          </a:xfrm>
          <a:prstGeom prst="ellipse">
            <a:avLst/>
          </a:prstGeom>
          <a:solidFill>
            <a:schemeClr val="accent1"/>
          </a:solidFill>
          <a:ln/>
        </p:spPr>
      </p:sp>
      <p:sp>
        <p:nvSpPr>
          <p:cNvPr id="20" name="Text 18"/>
          <p:cNvSpPr txBox="1"/>
          <p:nvPr/>
        </p:nvSpPr>
        <p:spPr>
          <a:xfrm>
            <a:off x="921258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1" name="Text 19"/>
          <p:cNvSpPr txBox="1"/>
          <p:nvPr/>
        </p:nvSpPr>
        <p:spPr>
          <a:xfrm>
            <a:off x="9212580" y="2377440"/>
            <a:ext cx="214884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One site</a:t>
            </a:r>
            <a:endParaRPr lang="en-US" sz="1700" dirty="0"/>
          </a:p>
        </p:txBody>
      </p:sp>
      <p:sp>
        <p:nvSpPr>
          <p:cNvPr id="22" name="Text 20"/>
          <p:cNvSpPr txBox="1"/>
          <p:nvPr/>
        </p:nvSpPr>
        <p:spPr>
          <a:xfrm>
            <a:off x="9212580" y="2788920"/>
            <a:ext cx="2148840" cy="594360"/>
          </a:xfrm>
          <a:prstGeom prst="rect">
            <a:avLst/>
          </a:prstGeom>
          <a:noFill/>
          <a:ln/>
        </p:spPr>
        <p:txBody>
          <a:bodyPr wrap="square" lIns="0" tIns="0" rIns="0" bIns="0" rtlCol="0" anchor="t"/>
          <a:lstStyle/>
          <a:p>
            <a:pPr indent="0" marL="0">
              <a:buNone/>
            </a:pPr>
            <a:r>
              <a:rPr lang="en-US" sz="1300" dirty="0">
                <a:solidFill>
                  <a:schemeClr val="tx1"/>
                </a:solidFill>
              </a:rPr>
              <a:t>Targets across sites are refused</a:t>
            </a:r>
            <a:endParaRPr lang="en-US" sz="1300" dirty="0"/>
          </a:p>
        </p:txBody>
      </p:sp>
      <p:sp>
        <p:nvSpPr>
          <p:cNvPr id="23" name="rail-4"/>
          <p:cNvSpPr/>
          <p:nvPr/>
        </p:nvSpPr>
        <p:spPr>
          <a:xfrm>
            <a:off x="548640" y="3749040"/>
            <a:ext cx="2606040" cy="1920240"/>
          </a:xfrm>
          <a:prstGeom prst="roundRect">
            <a:avLst>
              <a:gd name="adj" fmla="val 3810"/>
            </a:avLst>
          </a:prstGeom>
          <a:solidFill>
            <a:schemeClr val="bg2"/>
          </a:solidFill>
          <a:ln/>
        </p:spPr>
      </p:sp>
      <p:sp>
        <p:nvSpPr>
          <p:cNvPr id="24" name="Shape 22"/>
          <p:cNvSpPr/>
          <p:nvPr/>
        </p:nvSpPr>
        <p:spPr>
          <a:xfrm>
            <a:off x="777240" y="3977640"/>
            <a:ext cx="457200" cy="457200"/>
          </a:xfrm>
          <a:prstGeom prst="ellipse">
            <a:avLst/>
          </a:prstGeom>
          <a:solidFill>
            <a:schemeClr val="accent1"/>
          </a:solidFill>
          <a:ln/>
        </p:spPr>
      </p:sp>
      <p:sp>
        <p:nvSpPr>
          <p:cNvPr id="25" name="Text 23"/>
          <p:cNvSpPr txBox="1"/>
          <p:nvPr/>
        </p:nvSpPr>
        <p:spPr>
          <a:xfrm>
            <a:off x="777240" y="3977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6" name="Text 24"/>
          <p:cNvSpPr txBox="1"/>
          <p:nvPr/>
        </p:nvSpPr>
        <p:spPr>
          <a:xfrm>
            <a:off x="777240" y="4572000"/>
            <a:ext cx="214884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Job size</a:t>
            </a:r>
            <a:endParaRPr lang="en-US" sz="1700" dirty="0"/>
          </a:p>
        </p:txBody>
      </p:sp>
      <p:sp>
        <p:nvSpPr>
          <p:cNvPr id="27" name="Text 25"/>
          <p:cNvSpPr txBox="1"/>
          <p:nvPr/>
        </p:nvSpPr>
        <p:spPr>
          <a:xfrm>
            <a:off x="777240" y="4983480"/>
            <a:ext cx="2148840" cy="594360"/>
          </a:xfrm>
          <a:prstGeom prst="rect">
            <a:avLst/>
          </a:prstGeom>
          <a:noFill/>
          <a:ln/>
        </p:spPr>
        <p:txBody>
          <a:bodyPr wrap="square" lIns="0" tIns="0" rIns="0" bIns="0" rtlCol="0" anchor="t"/>
          <a:lstStyle/>
          <a:p>
            <a:pPr indent="0" marL="0">
              <a:buNone/>
            </a:pPr>
            <a:r>
              <a:rPr lang="en-US" sz="1300" dirty="0">
                <a:solidFill>
                  <a:schemeClr val="tx1"/>
                </a:solidFill>
              </a:rPr>
              <a:t>Max 20 switches per job, 5 at a time</a:t>
            </a:r>
            <a:endParaRPr lang="en-US" sz="1300" dirty="0"/>
          </a:p>
        </p:txBody>
      </p:sp>
      <p:sp>
        <p:nvSpPr>
          <p:cNvPr id="28" name="rail-5"/>
          <p:cNvSpPr/>
          <p:nvPr/>
        </p:nvSpPr>
        <p:spPr>
          <a:xfrm>
            <a:off x="3360420" y="3749040"/>
            <a:ext cx="2606040" cy="1920240"/>
          </a:xfrm>
          <a:prstGeom prst="roundRect">
            <a:avLst>
              <a:gd name="adj" fmla="val 3810"/>
            </a:avLst>
          </a:prstGeom>
          <a:solidFill>
            <a:schemeClr val="bg2"/>
          </a:solidFill>
          <a:ln/>
        </p:spPr>
      </p:sp>
      <p:sp>
        <p:nvSpPr>
          <p:cNvPr id="29" name="Shape 27"/>
          <p:cNvSpPr/>
          <p:nvPr/>
        </p:nvSpPr>
        <p:spPr>
          <a:xfrm>
            <a:off x="3589020" y="3977640"/>
            <a:ext cx="457200" cy="457200"/>
          </a:xfrm>
          <a:prstGeom prst="ellipse">
            <a:avLst/>
          </a:prstGeom>
          <a:solidFill>
            <a:schemeClr val="accent1"/>
          </a:solidFill>
          <a:ln/>
        </p:spPr>
      </p:sp>
      <p:sp>
        <p:nvSpPr>
          <p:cNvPr id="30" name="Text 28"/>
          <p:cNvSpPr txBox="1"/>
          <p:nvPr/>
        </p:nvSpPr>
        <p:spPr>
          <a:xfrm>
            <a:off x="3589020" y="3977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1" name="Text 29"/>
          <p:cNvSpPr txBox="1"/>
          <p:nvPr/>
        </p:nvSpPr>
        <p:spPr>
          <a:xfrm>
            <a:off x="3589020" y="4572000"/>
            <a:ext cx="214884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Save on pass</a:t>
            </a:r>
            <a:endParaRPr lang="en-US" sz="1700" dirty="0"/>
          </a:p>
        </p:txBody>
      </p:sp>
      <p:sp>
        <p:nvSpPr>
          <p:cNvPr id="32" name="Text 30"/>
          <p:cNvSpPr txBox="1"/>
          <p:nvPr/>
        </p:nvSpPr>
        <p:spPr>
          <a:xfrm>
            <a:off x="3589020" y="4983480"/>
            <a:ext cx="2148840" cy="594360"/>
          </a:xfrm>
          <a:prstGeom prst="rect">
            <a:avLst/>
          </a:prstGeom>
          <a:noFill/>
          <a:ln/>
        </p:spPr>
        <p:txBody>
          <a:bodyPr wrap="square" lIns="0" tIns="0" rIns="0" bIns="0" rtlCol="0" anchor="t"/>
          <a:lstStyle/>
          <a:p>
            <a:pPr indent="0" marL="0">
              <a:buNone/>
            </a:pPr>
            <a:r>
              <a:rPr lang="en-US" sz="1300" dirty="0">
                <a:solidFill>
                  <a:schemeClr val="tx1"/>
                </a:solidFill>
              </a:rPr>
              <a:t>write memory only after post-check</a:t>
            </a:r>
            <a:endParaRPr lang="en-US" sz="1300" dirty="0"/>
          </a:p>
        </p:txBody>
      </p:sp>
      <p:sp>
        <p:nvSpPr>
          <p:cNvPr id="33" name="rail-6"/>
          <p:cNvSpPr/>
          <p:nvPr/>
        </p:nvSpPr>
        <p:spPr>
          <a:xfrm>
            <a:off x="6172200" y="3749040"/>
            <a:ext cx="2606040" cy="1920240"/>
          </a:xfrm>
          <a:prstGeom prst="roundRect">
            <a:avLst>
              <a:gd name="adj" fmla="val 3810"/>
            </a:avLst>
          </a:prstGeom>
          <a:solidFill>
            <a:schemeClr val="bg2"/>
          </a:solidFill>
          <a:ln/>
        </p:spPr>
      </p:sp>
      <p:sp>
        <p:nvSpPr>
          <p:cNvPr id="34" name="Shape 32"/>
          <p:cNvSpPr/>
          <p:nvPr/>
        </p:nvSpPr>
        <p:spPr>
          <a:xfrm>
            <a:off x="6400800" y="3977640"/>
            <a:ext cx="457200" cy="457200"/>
          </a:xfrm>
          <a:prstGeom prst="ellipse">
            <a:avLst/>
          </a:prstGeom>
          <a:solidFill>
            <a:schemeClr val="accent1"/>
          </a:solidFill>
          <a:ln/>
        </p:spPr>
      </p:sp>
      <p:sp>
        <p:nvSpPr>
          <p:cNvPr id="35" name="Text 33"/>
          <p:cNvSpPr txBox="1"/>
          <p:nvPr/>
        </p:nvSpPr>
        <p:spPr>
          <a:xfrm>
            <a:off x="6400800" y="3977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6" name="Text 34"/>
          <p:cNvSpPr txBox="1"/>
          <p:nvPr/>
        </p:nvSpPr>
        <p:spPr>
          <a:xfrm>
            <a:off x="6400800" y="4572000"/>
            <a:ext cx="214884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Protected names</a:t>
            </a:r>
            <a:endParaRPr lang="en-US" sz="1700" dirty="0"/>
          </a:p>
        </p:txBody>
      </p:sp>
      <p:sp>
        <p:nvSpPr>
          <p:cNvPr id="37" name="Text 35"/>
          <p:cNvSpPr txBox="1"/>
          <p:nvPr/>
        </p:nvSpPr>
        <p:spPr>
          <a:xfrm>
            <a:off x="6400800" y="4983480"/>
            <a:ext cx="2148840" cy="594360"/>
          </a:xfrm>
          <a:prstGeom prst="rect">
            <a:avLst/>
          </a:prstGeom>
          <a:noFill/>
          <a:ln/>
        </p:spPr>
        <p:txBody>
          <a:bodyPr wrap="square" lIns="0" tIns="0" rIns="0" bIns="0" rtlCol="0" anchor="t"/>
          <a:lstStyle/>
          <a:p>
            <a:pPr indent="0" marL="0">
              <a:buNone/>
            </a:pPr>
            <a:r>
              <a:rPr lang="en-US" sz="1300" dirty="0">
                <a:solidFill>
                  <a:schemeClr val="tx1"/>
                </a:solidFill>
              </a:rPr>
              <a:t>Cleanup never removes golden objects</a:t>
            </a:r>
            <a:endParaRPr lang="en-US" sz="1300" dirty="0"/>
          </a:p>
        </p:txBody>
      </p:sp>
      <p:sp>
        <p:nvSpPr>
          <p:cNvPr id="38" name="rail-7"/>
          <p:cNvSpPr/>
          <p:nvPr/>
        </p:nvSpPr>
        <p:spPr>
          <a:xfrm>
            <a:off x="8983980" y="3749040"/>
            <a:ext cx="2606040" cy="1920240"/>
          </a:xfrm>
          <a:prstGeom prst="roundRect">
            <a:avLst>
              <a:gd name="adj" fmla="val 3810"/>
            </a:avLst>
          </a:prstGeom>
          <a:solidFill>
            <a:schemeClr val="bg2"/>
          </a:solidFill>
          <a:ln/>
        </p:spPr>
      </p:sp>
      <p:sp>
        <p:nvSpPr>
          <p:cNvPr id="39" name="Shape 37"/>
          <p:cNvSpPr/>
          <p:nvPr/>
        </p:nvSpPr>
        <p:spPr>
          <a:xfrm>
            <a:off x="9212580" y="3977640"/>
            <a:ext cx="457200" cy="457200"/>
          </a:xfrm>
          <a:prstGeom prst="ellipse">
            <a:avLst/>
          </a:prstGeom>
          <a:solidFill>
            <a:schemeClr val="accent1"/>
          </a:solidFill>
          <a:ln/>
        </p:spPr>
      </p:sp>
      <p:sp>
        <p:nvSpPr>
          <p:cNvPr id="40" name="Text 38"/>
          <p:cNvSpPr txBox="1"/>
          <p:nvPr/>
        </p:nvSpPr>
        <p:spPr>
          <a:xfrm>
            <a:off x="9212580" y="3977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1" name="Text 39"/>
          <p:cNvSpPr txBox="1"/>
          <p:nvPr/>
        </p:nvSpPr>
        <p:spPr>
          <a:xfrm>
            <a:off x="9212580" y="4572000"/>
            <a:ext cx="214884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DNAC only</a:t>
            </a:r>
            <a:endParaRPr lang="en-US" sz="1700" dirty="0"/>
          </a:p>
        </p:txBody>
      </p:sp>
      <p:sp>
        <p:nvSpPr>
          <p:cNvPr id="42" name="Text 40"/>
          <p:cNvSpPr txBox="1"/>
          <p:nvPr/>
        </p:nvSpPr>
        <p:spPr>
          <a:xfrm>
            <a:off x="9212580" y="4983480"/>
            <a:ext cx="2148840" cy="594360"/>
          </a:xfrm>
          <a:prstGeom prst="rect">
            <a:avLst/>
          </a:prstGeom>
          <a:noFill/>
          <a:ln/>
        </p:spPr>
        <p:txBody>
          <a:bodyPr wrap="square" lIns="0" tIns="0" rIns="0" bIns="0" rtlCol="0" anchor="t"/>
          <a:lstStyle/>
          <a:p>
            <a:pPr indent="0" marL="0">
              <a:buNone/>
            </a:pPr>
            <a:r>
              <a:rPr lang="en-US" sz="1300" dirty="0">
                <a:solidFill>
                  <a:schemeClr val="tx1"/>
                </a:solidFill>
              </a:rPr>
              <a:t>No SSH to switches; logins from Vault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Built and proven in six steps, lab first</a:t>
            </a:r>
            <a:endParaRPr lang="en-US" sz="2800" dirty="0"/>
          </a:p>
        </p:txBody>
      </p:sp>
      <p:sp>
        <p:nvSpPr>
          <p:cNvPr id="3" name="build-0"/>
          <p:cNvSpPr/>
          <p:nvPr/>
        </p:nvSpPr>
        <p:spPr>
          <a:xfrm>
            <a:off x="548640" y="3886200"/>
            <a:ext cx="1691640" cy="2148840"/>
          </a:xfrm>
          <a:prstGeom prst="roundRect">
            <a:avLst>
              <a:gd name="adj" fmla="val 4324"/>
            </a:avLst>
          </a:prstGeom>
          <a:solidFill>
            <a:schemeClr val="bg2"/>
          </a:solidFill>
          <a:ln/>
        </p:spPr>
      </p:sp>
      <p:sp>
        <p:nvSpPr>
          <p:cNvPr id="4" name="Shape 2"/>
          <p:cNvSpPr/>
          <p:nvPr/>
        </p:nvSpPr>
        <p:spPr>
          <a:xfrm>
            <a:off x="731520" y="4069080"/>
            <a:ext cx="411480" cy="411480"/>
          </a:xfrm>
          <a:prstGeom prst="ellipse">
            <a:avLst/>
          </a:prstGeom>
          <a:solidFill>
            <a:schemeClr val="accent1"/>
          </a:solidFill>
          <a:ln/>
        </p:spPr>
      </p:sp>
      <p:sp>
        <p:nvSpPr>
          <p:cNvPr id="5" name="Text 3"/>
          <p:cNvSpPr txBox="1"/>
          <p:nvPr/>
        </p:nvSpPr>
        <p:spPr>
          <a:xfrm>
            <a:off x="731520" y="4069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731520" y="4572000"/>
            <a:ext cx="132588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Foundation</a:t>
            </a:r>
            <a:endParaRPr lang="en-US" sz="1600" dirty="0"/>
          </a:p>
        </p:txBody>
      </p:sp>
      <p:sp>
        <p:nvSpPr>
          <p:cNvPr id="7" name="Text 5"/>
          <p:cNvSpPr txBox="1"/>
          <p:nvPr/>
        </p:nvSpPr>
        <p:spPr>
          <a:xfrm>
            <a:off x="731520" y="4937760"/>
            <a:ext cx="1325880" cy="502920"/>
          </a:xfrm>
          <a:prstGeom prst="rect">
            <a:avLst/>
          </a:prstGeom>
          <a:noFill/>
          <a:ln/>
        </p:spPr>
        <p:txBody>
          <a:bodyPr wrap="square" lIns="0" tIns="0" rIns="0" bIns="0" rtlCol="0" anchor="t"/>
          <a:lstStyle/>
          <a:p>
            <a:pPr indent="0" marL="0">
              <a:buNone/>
            </a:pPr>
            <a:r>
              <a:rPr lang="en-US" sz="1300" dirty="0">
                <a:solidFill>
                  <a:schemeClr val="tx1"/>
                </a:solidFill>
              </a:rPr>
              <a:t>Filters, DNAC client, tests</a:t>
            </a:r>
            <a:endParaRPr lang="en-US" sz="1300" dirty="0"/>
          </a:p>
        </p:txBody>
      </p:sp>
      <p:sp>
        <p:nvSpPr>
          <p:cNvPr id="8" name="Text 6"/>
          <p:cNvSpPr txBox="1"/>
          <p:nvPr/>
        </p:nvSpPr>
        <p:spPr>
          <a:xfrm>
            <a:off x="731520" y="5440680"/>
            <a:ext cx="1325880" cy="502920"/>
          </a:xfrm>
          <a:prstGeom prst="rect">
            <a:avLst/>
          </a:prstGeom>
          <a:noFill/>
          <a:ln/>
        </p:spPr>
        <p:txBody>
          <a:bodyPr wrap="square" lIns="0" tIns="0" rIns="0" bIns="0" rtlCol="0" anchor="t"/>
          <a:lstStyle/>
          <a:p>
            <a:pPr indent="0" marL="0">
              <a:buNone/>
            </a:pPr>
            <a:r>
              <a:rPr lang="en-US" sz="1200" b="1" dirty="0">
                <a:solidFill>
                  <a:schemeClr val="accent1"/>
                </a:solidFill>
              </a:rPr>
              <a:t>Gate: pytest: 28 pass</a:t>
            </a:r>
            <a:endParaRPr lang="en-US" sz="1200" dirty="0"/>
          </a:p>
        </p:txBody>
      </p:sp>
      <p:sp>
        <p:nvSpPr>
          <p:cNvPr id="9" name="build-1"/>
          <p:cNvSpPr/>
          <p:nvPr/>
        </p:nvSpPr>
        <p:spPr>
          <a:xfrm>
            <a:off x="2423160" y="3520440"/>
            <a:ext cx="1691640" cy="2514600"/>
          </a:xfrm>
          <a:prstGeom prst="roundRect">
            <a:avLst>
              <a:gd name="adj" fmla="val 4324"/>
            </a:avLst>
          </a:prstGeom>
          <a:solidFill>
            <a:schemeClr val="bg2"/>
          </a:solidFill>
          <a:ln/>
        </p:spPr>
      </p:sp>
      <p:sp>
        <p:nvSpPr>
          <p:cNvPr id="10" name="Shape 8"/>
          <p:cNvSpPr/>
          <p:nvPr/>
        </p:nvSpPr>
        <p:spPr>
          <a:xfrm>
            <a:off x="2606040" y="3703320"/>
            <a:ext cx="411480" cy="411480"/>
          </a:xfrm>
          <a:prstGeom prst="ellipse">
            <a:avLst/>
          </a:prstGeom>
          <a:solidFill>
            <a:schemeClr val="accent1"/>
          </a:solidFill>
          <a:ln/>
        </p:spPr>
      </p:sp>
      <p:sp>
        <p:nvSpPr>
          <p:cNvPr id="11" name="Text 9"/>
          <p:cNvSpPr txBox="1"/>
          <p:nvPr/>
        </p:nvSpPr>
        <p:spPr>
          <a:xfrm>
            <a:off x="2606040" y="3703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2606040" y="4206240"/>
            <a:ext cx="132588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Read-only</a:t>
            </a:r>
            <a:endParaRPr lang="en-US" sz="1600" dirty="0"/>
          </a:p>
        </p:txBody>
      </p:sp>
      <p:sp>
        <p:nvSpPr>
          <p:cNvPr id="13" name="Text 11"/>
          <p:cNvSpPr txBox="1"/>
          <p:nvPr/>
        </p:nvSpPr>
        <p:spPr>
          <a:xfrm>
            <a:off x="2606040" y="4572000"/>
            <a:ext cx="1325880" cy="502920"/>
          </a:xfrm>
          <a:prstGeom prst="rect">
            <a:avLst/>
          </a:prstGeom>
          <a:noFill/>
          <a:ln/>
        </p:spPr>
        <p:txBody>
          <a:bodyPr wrap="square" lIns="0" tIns="0" rIns="0" bIns="0" rtlCol="0" anchor="t"/>
          <a:lstStyle/>
          <a:p>
            <a:pPr indent="0" marL="0">
              <a:buNone/>
            </a:pPr>
            <a:r>
              <a:rPr lang="en-US" sz="1300" dirty="0">
                <a:solidFill>
                  <a:schemeClr val="tx1"/>
                </a:solidFill>
              </a:rPr>
              <a:t>Classify, pre-check, baseline</a:t>
            </a:r>
            <a:endParaRPr lang="en-US" sz="1300" dirty="0"/>
          </a:p>
        </p:txBody>
      </p:sp>
      <p:sp>
        <p:nvSpPr>
          <p:cNvPr id="14" name="Text 12"/>
          <p:cNvSpPr txBox="1"/>
          <p:nvPr/>
        </p:nvSpPr>
        <p:spPr>
          <a:xfrm>
            <a:off x="2606040" y="5074920"/>
            <a:ext cx="1325880" cy="502920"/>
          </a:xfrm>
          <a:prstGeom prst="rect">
            <a:avLst/>
          </a:prstGeom>
          <a:noFill/>
          <a:ln/>
        </p:spPr>
        <p:txBody>
          <a:bodyPr wrap="square" lIns="0" tIns="0" rIns="0" bIns="0" rtlCol="0" anchor="t"/>
          <a:lstStyle/>
          <a:p>
            <a:pPr indent="0" marL="0">
              <a:buNone/>
            </a:pPr>
            <a:r>
              <a:rPr lang="en-US" sz="1200" b="1" dirty="0">
                <a:solidFill>
                  <a:schemeClr val="accent1"/>
                </a:solidFill>
              </a:rPr>
              <a:t>Gate: Runs on lab switch</a:t>
            </a:r>
            <a:endParaRPr lang="en-US" sz="1200" dirty="0"/>
          </a:p>
        </p:txBody>
      </p:sp>
      <p:sp>
        <p:nvSpPr>
          <p:cNvPr id="15" name="build-2"/>
          <p:cNvSpPr/>
          <p:nvPr/>
        </p:nvSpPr>
        <p:spPr>
          <a:xfrm>
            <a:off x="4297680" y="3154680"/>
            <a:ext cx="1691640" cy="2880360"/>
          </a:xfrm>
          <a:prstGeom prst="roundRect">
            <a:avLst>
              <a:gd name="adj" fmla="val 4324"/>
            </a:avLst>
          </a:prstGeom>
          <a:solidFill>
            <a:schemeClr val="bg2"/>
          </a:solidFill>
          <a:ln/>
        </p:spPr>
      </p:sp>
      <p:sp>
        <p:nvSpPr>
          <p:cNvPr id="16" name="Shape 14"/>
          <p:cNvSpPr/>
          <p:nvPr/>
        </p:nvSpPr>
        <p:spPr>
          <a:xfrm>
            <a:off x="4480560" y="3337560"/>
            <a:ext cx="411480" cy="411480"/>
          </a:xfrm>
          <a:prstGeom prst="ellipse">
            <a:avLst/>
          </a:prstGeom>
          <a:solidFill>
            <a:schemeClr val="accent1"/>
          </a:solidFill>
          <a:ln/>
        </p:spPr>
      </p:sp>
      <p:sp>
        <p:nvSpPr>
          <p:cNvPr id="17" name="Text 15"/>
          <p:cNvSpPr txBox="1"/>
          <p:nvPr/>
        </p:nvSpPr>
        <p:spPr>
          <a:xfrm>
            <a:off x="4480560" y="33375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4480560" y="3840480"/>
            <a:ext cx="132588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Stage 1</a:t>
            </a:r>
            <a:endParaRPr lang="en-US" sz="1600" dirty="0"/>
          </a:p>
        </p:txBody>
      </p:sp>
      <p:sp>
        <p:nvSpPr>
          <p:cNvPr id="19" name="Text 17"/>
          <p:cNvSpPr txBox="1"/>
          <p:nvPr/>
        </p:nvSpPr>
        <p:spPr>
          <a:xfrm>
            <a:off x="4480560" y="4206240"/>
            <a:ext cx="1325880" cy="502920"/>
          </a:xfrm>
          <a:prstGeom prst="rect">
            <a:avLst/>
          </a:prstGeom>
          <a:noFill/>
          <a:ln/>
        </p:spPr>
        <p:txBody>
          <a:bodyPr wrap="square" lIns="0" tIns="0" rIns="0" bIns="0" rtlCol="0" anchor="t"/>
          <a:lstStyle/>
          <a:p>
            <a:pPr indent="0" marL="0">
              <a:buNone/>
            </a:pPr>
            <a:r>
              <a:rPr lang="en-US" sz="1300" dirty="0">
                <a:solidFill>
                  <a:schemeClr val="tx1"/>
                </a:solidFill>
              </a:rPr>
              <a:t>Convert</a:t>
            </a:r>
            <a:endParaRPr lang="en-US" sz="1300" dirty="0"/>
          </a:p>
        </p:txBody>
      </p:sp>
      <p:sp>
        <p:nvSpPr>
          <p:cNvPr id="20" name="Text 18"/>
          <p:cNvSpPr txBox="1"/>
          <p:nvPr/>
        </p:nvSpPr>
        <p:spPr>
          <a:xfrm>
            <a:off x="4480560" y="4709160"/>
            <a:ext cx="1325880" cy="502920"/>
          </a:xfrm>
          <a:prstGeom prst="rect">
            <a:avLst/>
          </a:prstGeom>
          <a:noFill/>
          <a:ln/>
        </p:spPr>
        <p:txBody>
          <a:bodyPr wrap="square" lIns="0" tIns="0" rIns="0" bIns="0" rtlCol="0" anchor="t"/>
          <a:lstStyle/>
          <a:p>
            <a:pPr indent="0" marL="0">
              <a:buNone/>
            </a:pPr>
            <a:r>
              <a:rPr lang="en-US" sz="1200" b="1" dirty="0">
                <a:solidFill>
                  <a:schemeClr val="accent1"/>
                </a:solidFill>
              </a:rPr>
              <a:t>Gate: Lab conversion verified</a:t>
            </a:r>
            <a:endParaRPr lang="en-US" sz="1200" dirty="0"/>
          </a:p>
        </p:txBody>
      </p:sp>
      <p:sp>
        <p:nvSpPr>
          <p:cNvPr id="21" name="build-3"/>
          <p:cNvSpPr/>
          <p:nvPr/>
        </p:nvSpPr>
        <p:spPr>
          <a:xfrm>
            <a:off x="6172200" y="2788920"/>
            <a:ext cx="1691640" cy="3246120"/>
          </a:xfrm>
          <a:prstGeom prst="roundRect">
            <a:avLst>
              <a:gd name="adj" fmla="val 4324"/>
            </a:avLst>
          </a:prstGeom>
          <a:solidFill>
            <a:schemeClr val="bg2"/>
          </a:solidFill>
          <a:ln/>
        </p:spPr>
      </p:sp>
      <p:sp>
        <p:nvSpPr>
          <p:cNvPr id="22" name="Shape 20"/>
          <p:cNvSpPr/>
          <p:nvPr/>
        </p:nvSpPr>
        <p:spPr>
          <a:xfrm>
            <a:off x="6355080" y="2971800"/>
            <a:ext cx="411480" cy="411480"/>
          </a:xfrm>
          <a:prstGeom prst="ellipse">
            <a:avLst/>
          </a:prstGeom>
          <a:solidFill>
            <a:schemeClr val="accent1"/>
          </a:solidFill>
          <a:ln/>
        </p:spPr>
      </p:sp>
      <p:sp>
        <p:nvSpPr>
          <p:cNvPr id="23" name="Text 21"/>
          <p:cNvSpPr txBox="1"/>
          <p:nvPr/>
        </p:nvSpPr>
        <p:spPr>
          <a:xfrm>
            <a:off x="635508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txBox="1"/>
          <p:nvPr/>
        </p:nvSpPr>
        <p:spPr>
          <a:xfrm>
            <a:off x="6355080" y="3474720"/>
            <a:ext cx="132588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Stage 2</a:t>
            </a:r>
            <a:endParaRPr lang="en-US" sz="1600" dirty="0"/>
          </a:p>
        </p:txBody>
      </p:sp>
      <p:sp>
        <p:nvSpPr>
          <p:cNvPr id="25" name="Text 23"/>
          <p:cNvSpPr txBox="1"/>
          <p:nvPr/>
        </p:nvSpPr>
        <p:spPr>
          <a:xfrm>
            <a:off x="6355080" y="3840480"/>
            <a:ext cx="1325880" cy="502920"/>
          </a:xfrm>
          <a:prstGeom prst="rect">
            <a:avLst/>
          </a:prstGeom>
          <a:noFill/>
          <a:ln/>
        </p:spPr>
        <p:txBody>
          <a:bodyPr wrap="square" lIns="0" tIns="0" rIns="0" bIns="0" rtlCol="0" anchor="t"/>
          <a:lstStyle/>
          <a:p>
            <a:pPr indent="0" marL="0">
              <a:buNone/>
            </a:pPr>
            <a:r>
              <a:rPr lang="en-US" sz="1300" dirty="0">
                <a:solidFill>
                  <a:schemeClr val="tx1"/>
                </a:solidFill>
              </a:rPr>
              <a:t>Golden + rollback</a:t>
            </a:r>
            <a:endParaRPr lang="en-US" sz="1300" dirty="0"/>
          </a:p>
        </p:txBody>
      </p:sp>
      <p:sp>
        <p:nvSpPr>
          <p:cNvPr id="26" name="Text 24"/>
          <p:cNvSpPr txBox="1"/>
          <p:nvPr/>
        </p:nvSpPr>
        <p:spPr>
          <a:xfrm>
            <a:off x="6355080" y="4343400"/>
            <a:ext cx="1325880" cy="502920"/>
          </a:xfrm>
          <a:prstGeom prst="rect">
            <a:avLst/>
          </a:prstGeom>
          <a:noFill/>
          <a:ln/>
        </p:spPr>
        <p:txBody>
          <a:bodyPr wrap="square" lIns="0" tIns="0" rIns="0" bIns="0" rtlCol="0" anchor="t"/>
          <a:lstStyle/>
          <a:p>
            <a:pPr indent="0" marL="0">
              <a:buNone/>
            </a:pPr>
            <a:r>
              <a:rPr lang="en-US" sz="1200" b="1" dirty="0">
                <a:solidFill>
                  <a:schemeClr val="accent1"/>
                </a:solidFill>
              </a:rPr>
              <a:t>Gate: Forced rollback works</a:t>
            </a:r>
            <a:endParaRPr lang="en-US" sz="1200" dirty="0"/>
          </a:p>
        </p:txBody>
      </p:sp>
      <p:sp>
        <p:nvSpPr>
          <p:cNvPr id="27" name="build-4"/>
          <p:cNvSpPr/>
          <p:nvPr/>
        </p:nvSpPr>
        <p:spPr>
          <a:xfrm>
            <a:off x="8046720" y="2423160"/>
            <a:ext cx="1691640" cy="3611880"/>
          </a:xfrm>
          <a:prstGeom prst="roundRect">
            <a:avLst>
              <a:gd name="adj" fmla="val 4324"/>
            </a:avLst>
          </a:prstGeom>
          <a:solidFill>
            <a:schemeClr val="bg2"/>
          </a:solidFill>
          <a:ln/>
        </p:spPr>
      </p:sp>
      <p:sp>
        <p:nvSpPr>
          <p:cNvPr id="28" name="Shape 26"/>
          <p:cNvSpPr/>
          <p:nvPr/>
        </p:nvSpPr>
        <p:spPr>
          <a:xfrm>
            <a:off x="8229600" y="2606040"/>
            <a:ext cx="411480" cy="411480"/>
          </a:xfrm>
          <a:prstGeom prst="ellipse">
            <a:avLst/>
          </a:prstGeom>
          <a:solidFill>
            <a:schemeClr val="accent1"/>
          </a:solidFill>
          <a:ln/>
        </p:spPr>
      </p:sp>
      <p:sp>
        <p:nvSpPr>
          <p:cNvPr id="29" name="Text 27"/>
          <p:cNvSpPr txBox="1"/>
          <p:nvPr/>
        </p:nvSpPr>
        <p:spPr>
          <a:xfrm>
            <a:off x="8229600" y="26060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8"/>
          <p:cNvSpPr txBox="1"/>
          <p:nvPr/>
        </p:nvSpPr>
        <p:spPr>
          <a:xfrm>
            <a:off x="8229600" y="3108960"/>
            <a:ext cx="132588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Close-out</a:t>
            </a:r>
            <a:endParaRPr lang="en-US" sz="1600" dirty="0"/>
          </a:p>
        </p:txBody>
      </p:sp>
      <p:sp>
        <p:nvSpPr>
          <p:cNvPr id="31" name="Text 29"/>
          <p:cNvSpPr txBox="1"/>
          <p:nvPr/>
        </p:nvSpPr>
        <p:spPr>
          <a:xfrm>
            <a:off x="8229600" y="3474720"/>
            <a:ext cx="1325880" cy="502920"/>
          </a:xfrm>
          <a:prstGeom prst="rect">
            <a:avLst/>
          </a:prstGeom>
          <a:noFill/>
          <a:ln/>
        </p:spPr>
        <p:txBody>
          <a:bodyPr wrap="square" lIns="0" tIns="0" rIns="0" bIns="0" rtlCol="0" anchor="t"/>
          <a:lstStyle/>
          <a:p>
            <a:pPr indent="0" marL="0">
              <a:buNone/>
            </a:pPr>
            <a:r>
              <a:rPr lang="en-US" sz="1300" dirty="0">
                <a:solidFill>
                  <a:schemeClr val="tx1"/>
                </a:solidFill>
              </a:rPr>
              <a:t>Next-day, cleanup</a:t>
            </a:r>
            <a:endParaRPr lang="en-US" sz="1300" dirty="0"/>
          </a:p>
        </p:txBody>
      </p:sp>
      <p:sp>
        <p:nvSpPr>
          <p:cNvPr id="32" name="Text 30"/>
          <p:cNvSpPr txBox="1"/>
          <p:nvPr/>
        </p:nvSpPr>
        <p:spPr>
          <a:xfrm>
            <a:off x="8229600" y="3977640"/>
            <a:ext cx="1325880" cy="502920"/>
          </a:xfrm>
          <a:prstGeom prst="rect">
            <a:avLst/>
          </a:prstGeom>
          <a:noFill/>
          <a:ln/>
        </p:spPr>
        <p:txBody>
          <a:bodyPr wrap="square" lIns="0" tIns="0" rIns="0" bIns="0" rtlCol="0" anchor="t"/>
          <a:lstStyle/>
          <a:p>
            <a:pPr indent="0" marL="0">
              <a:buNone/>
            </a:pPr>
            <a:r>
              <a:rPr lang="en-US" sz="1200" b="1" dirty="0">
                <a:solidFill>
                  <a:schemeClr val="accent1"/>
                </a:solidFill>
              </a:rPr>
              <a:t>Gate: Clean next-day run</a:t>
            </a:r>
            <a:endParaRPr lang="en-US" sz="1200" dirty="0"/>
          </a:p>
        </p:txBody>
      </p:sp>
      <p:sp>
        <p:nvSpPr>
          <p:cNvPr id="33" name="build-5"/>
          <p:cNvSpPr/>
          <p:nvPr/>
        </p:nvSpPr>
        <p:spPr>
          <a:xfrm>
            <a:off x="9921240" y="2057400"/>
            <a:ext cx="1691640" cy="3977640"/>
          </a:xfrm>
          <a:prstGeom prst="roundRect">
            <a:avLst>
              <a:gd name="adj" fmla="val 4324"/>
            </a:avLst>
          </a:prstGeom>
          <a:solidFill>
            <a:schemeClr val="accent6"/>
          </a:solidFill>
          <a:ln/>
        </p:spPr>
      </p:sp>
      <p:sp>
        <p:nvSpPr>
          <p:cNvPr id="34" name="Shape 32"/>
          <p:cNvSpPr/>
          <p:nvPr/>
        </p:nvSpPr>
        <p:spPr>
          <a:xfrm>
            <a:off x="10104120" y="2240280"/>
            <a:ext cx="411480" cy="411480"/>
          </a:xfrm>
          <a:prstGeom prst="ellipse">
            <a:avLst/>
          </a:prstGeom>
          <a:solidFill>
            <a:schemeClr val="accent2"/>
          </a:solidFill>
          <a:ln/>
        </p:spPr>
      </p:sp>
      <p:sp>
        <p:nvSpPr>
          <p:cNvPr id="35" name="Text 33"/>
          <p:cNvSpPr txBox="1"/>
          <p:nvPr/>
        </p:nvSpPr>
        <p:spPr>
          <a:xfrm>
            <a:off x="10104120" y="2240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6" name="Text 34"/>
          <p:cNvSpPr txBox="1"/>
          <p:nvPr/>
        </p:nvSpPr>
        <p:spPr>
          <a:xfrm>
            <a:off x="10104120" y="2743200"/>
            <a:ext cx="132588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AAP</a:t>
            </a:r>
            <a:endParaRPr lang="en-US" sz="1600" dirty="0"/>
          </a:p>
        </p:txBody>
      </p:sp>
      <p:sp>
        <p:nvSpPr>
          <p:cNvPr id="37" name="Text 35"/>
          <p:cNvSpPr txBox="1"/>
          <p:nvPr/>
        </p:nvSpPr>
        <p:spPr>
          <a:xfrm>
            <a:off x="10104120" y="3108960"/>
            <a:ext cx="1325880" cy="502920"/>
          </a:xfrm>
          <a:prstGeom prst="rect">
            <a:avLst/>
          </a:prstGeom>
          <a:noFill/>
          <a:ln/>
        </p:spPr>
        <p:txBody>
          <a:bodyPr wrap="square" lIns="0" tIns="0" rIns="0" bIns="0" rtlCol="0" anchor="t"/>
          <a:lstStyle/>
          <a:p>
            <a:pPr indent="0" marL="0">
              <a:buNone/>
            </a:pPr>
            <a:r>
              <a:rPr lang="en-US" sz="1300" dirty="0">
                <a:solidFill>
                  <a:schemeClr val="tx1"/>
                </a:solidFill>
              </a:rPr>
              <a:t>Job templates, surveys</a:t>
            </a:r>
            <a:endParaRPr lang="en-US" sz="1300" dirty="0"/>
          </a:p>
        </p:txBody>
      </p:sp>
      <p:sp>
        <p:nvSpPr>
          <p:cNvPr id="38" name="Text 36"/>
          <p:cNvSpPr txBox="1"/>
          <p:nvPr/>
        </p:nvSpPr>
        <p:spPr>
          <a:xfrm>
            <a:off x="10104120" y="3611880"/>
            <a:ext cx="1325880" cy="502920"/>
          </a:xfrm>
          <a:prstGeom prst="rect">
            <a:avLst/>
          </a:prstGeom>
          <a:noFill/>
          <a:ln/>
        </p:spPr>
        <p:txBody>
          <a:bodyPr wrap="square" lIns="0" tIns="0" rIns="0" bIns="0" rtlCol="0" anchor="t"/>
          <a:lstStyle/>
          <a:p>
            <a:pPr indent="0" marL="0">
              <a:buNone/>
            </a:pPr>
            <a:r>
              <a:rPr lang="en-US" sz="1200" b="1" dirty="0">
                <a:solidFill>
                  <a:schemeClr val="accent1"/>
                </a:solidFill>
              </a:rPr>
              <a:t>Gate: Runs in DEV AAP</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To confirm before the first lab run</a:t>
            </a:r>
            <a:endParaRPr lang="en-US" sz="2800" dirty="0"/>
          </a:p>
        </p:txBody>
      </p:sp>
      <p:sp>
        <p:nvSpPr>
          <p:cNvPr id="3" name="open-0"/>
          <p:cNvSpPr/>
          <p:nvPr/>
        </p:nvSpPr>
        <p:spPr>
          <a:xfrm>
            <a:off x="548640" y="1554480"/>
            <a:ext cx="3566160" cy="2011680"/>
          </a:xfrm>
          <a:prstGeom prst="roundRect">
            <a:avLst>
              <a:gd name="adj" fmla="val 3636"/>
            </a:avLst>
          </a:prstGeom>
          <a:solidFill>
            <a:schemeClr val="bg2"/>
          </a:solidFill>
          <a:ln/>
        </p:spPr>
      </p:sp>
      <p:sp>
        <p:nvSpPr>
          <p:cNvPr id="4" name="Shape 2"/>
          <p:cNvSpPr/>
          <p:nvPr/>
        </p:nvSpPr>
        <p:spPr>
          <a:xfrm>
            <a:off x="777240" y="1783080"/>
            <a:ext cx="457200" cy="457200"/>
          </a:xfrm>
          <a:prstGeom prst="ellipse">
            <a:avLst/>
          </a:prstGeom>
          <a:solidFill>
            <a:schemeClr val="accent2"/>
          </a:solidFill>
          <a:ln/>
        </p:spPr>
      </p:sp>
      <p:sp>
        <p:nvSpPr>
          <p:cNvPr id="5" name="Text 3"/>
          <p:cNvSpPr txBox="1"/>
          <p:nvPr/>
        </p:nvSpPr>
        <p:spPr>
          <a:xfrm>
            <a:off x="777240" y="17830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417320" y="1828800"/>
            <a:ext cx="25603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DNAC account</a:t>
            </a:r>
            <a:endParaRPr lang="en-US" sz="1800" dirty="0"/>
          </a:p>
        </p:txBody>
      </p:sp>
      <p:sp>
        <p:nvSpPr>
          <p:cNvPr id="7" name="Text 5"/>
          <p:cNvSpPr txBox="1"/>
          <p:nvPr/>
        </p:nvSpPr>
        <p:spPr>
          <a:xfrm>
            <a:off x="777240" y="2423160"/>
            <a:ext cx="3108960" cy="1005840"/>
          </a:xfrm>
          <a:prstGeom prst="rect">
            <a:avLst/>
          </a:prstGeom>
          <a:noFill/>
          <a:ln/>
        </p:spPr>
        <p:txBody>
          <a:bodyPr wrap="square" lIns="0" tIns="0" rIns="0" bIns="0" rtlCol="0" anchor="t"/>
          <a:lstStyle/>
          <a:p>
            <a:pPr indent="0" marL="0">
              <a:buNone/>
            </a:pPr>
            <a:r>
              <a:rPr lang="en-US" sz="1500" dirty="0">
                <a:solidFill>
                  <a:schemeClr val="tx1"/>
                </a:solidFill>
              </a:rPr>
              <a:t>Can the DNAC service ID run Command Runner and deploy templates?</a:t>
            </a:r>
            <a:endParaRPr lang="en-US" sz="1500" dirty="0"/>
          </a:p>
        </p:txBody>
      </p:sp>
      <p:sp>
        <p:nvSpPr>
          <p:cNvPr id="8" name="open-1"/>
          <p:cNvSpPr/>
          <p:nvPr/>
        </p:nvSpPr>
        <p:spPr>
          <a:xfrm>
            <a:off x="4297680" y="1554480"/>
            <a:ext cx="3566160" cy="2011680"/>
          </a:xfrm>
          <a:prstGeom prst="roundRect">
            <a:avLst>
              <a:gd name="adj" fmla="val 3636"/>
            </a:avLst>
          </a:prstGeom>
          <a:solidFill>
            <a:schemeClr val="bg2"/>
          </a:solidFill>
          <a:ln/>
        </p:spPr>
      </p:sp>
      <p:sp>
        <p:nvSpPr>
          <p:cNvPr id="9" name="Shape 7"/>
          <p:cNvSpPr/>
          <p:nvPr/>
        </p:nvSpPr>
        <p:spPr>
          <a:xfrm>
            <a:off x="4526280" y="1783080"/>
            <a:ext cx="457200" cy="457200"/>
          </a:xfrm>
          <a:prstGeom prst="ellipse">
            <a:avLst/>
          </a:prstGeom>
          <a:solidFill>
            <a:schemeClr val="accent2"/>
          </a:solidFill>
          <a:ln/>
        </p:spPr>
      </p:sp>
      <p:sp>
        <p:nvSpPr>
          <p:cNvPr id="10" name="Text 8"/>
          <p:cNvSpPr txBox="1"/>
          <p:nvPr/>
        </p:nvSpPr>
        <p:spPr>
          <a:xfrm>
            <a:off x="4526280" y="17830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5166360" y="1828800"/>
            <a:ext cx="25603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Snapshot store</a:t>
            </a:r>
            <a:endParaRPr lang="en-US" sz="1800" dirty="0"/>
          </a:p>
        </p:txBody>
      </p:sp>
      <p:sp>
        <p:nvSpPr>
          <p:cNvPr id="12" name="Text 10"/>
          <p:cNvSpPr txBox="1"/>
          <p:nvPr/>
        </p:nvSpPr>
        <p:spPr>
          <a:xfrm>
            <a:off x="4526280" y="2423160"/>
            <a:ext cx="3108960" cy="1005840"/>
          </a:xfrm>
          <a:prstGeom prst="rect">
            <a:avLst/>
          </a:prstGeom>
          <a:noFill/>
          <a:ln/>
        </p:spPr>
        <p:txBody>
          <a:bodyPr wrap="square" lIns="0" tIns="0" rIns="0" bIns="0" rtlCol="0" anchor="t"/>
          <a:lstStyle/>
          <a:p>
            <a:pPr indent="0" marL="0">
              <a:buNone/>
            </a:pPr>
            <a:r>
              <a:rPr lang="en-US" sz="1500" dirty="0">
                <a:solidFill>
                  <a:schemeClr val="tx1"/>
                </a:solidFill>
              </a:rPr>
              <a:t>Artifactory generic repo and how jobs get its credentials</a:t>
            </a:r>
            <a:endParaRPr lang="en-US" sz="1500" dirty="0"/>
          </a:p>
        </p:txBody>
      </p:sp>
      <p:sp>
        <p:nvSpPr>
          <p:cNvPr id="13" name="open-2"/>
          <p:cNvSpPr/>
          <p:nvPr/>
        </p:nvSpPr>
        <p:spPr>
          <a:xfrm>
            <a:off x="8046720" y="1554480"/>
            <a:ext cx="3566160" cy="2011680"/>
          </a:xfrm>
          <a:prstGeom prst="roundRect">
            <a:avLst>
              <a:gd name="adj" fmla="val 3636"/>
            </a:avLst>
          </a:prstGeom>
          <a:solidFill>
            <a:schemeClr val="bg2"/>
          </a:solidFill>
          <a:ln/>
        </p:spPr>
      </p:sp>
      <p:sp>
        <p:nvSpPr>
          <p:cNvPr id="14" name="Shape 12"/>
          <p:cNvSpPr/>
          <p:nvPr/>
        </p:nvSpPr>
        <p:spPr>
          <a:xfrm>
            <a:off x="8275320" y="1783080"/>
            <a:ext cx="457200" cy="457200"/>
          </a:xfrm>
          <a:prstGeom prst="ellipse">
            <a:avLst/>
          </a:prstGeom>
          <a:solidFill>
            <a:schemeClr val="accent2"/>
          </a:solidFill>
          <a:ln/>
        </p:spPr>
      </p:sp>
      <p:sp>
        <p:nvSpPr>
          <p:cNvPr id="15" name="Text 13"/>
          <p:cNvSpPr txBox="1"/>
          <p:nvPr/>
        </p:nvSpPr>
        <p:spPr>
          <a:xfrm>
            <a:off x="8275320" y="17830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8915400" y="1828800"/>
            <a:ext cx="25603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Deploy behaviour</a:t>
            </a:r>
            <a:endParaRPr lang="en-US" sz="1800" dirty="0"/>
          </a:p>
        </p:txBody>
      </p:sp>
      <p:sp>
        <p:nvSpPr>
          <p:cNvPr id="17" name="Text 15"/>
          <p:cNvSpPr txBox="1"/>
          <p:nvPr/>
        </p:nvSpPr>
        <p:spPr>
          <a:xfrm>
            <a:off x="8275320" y="2423160"/>
            <a:ext cx="3108960" cy="1005840"/>
          </a:xfrm>
          <a:prstGeom prst="rect">
            <a:avLst/>
          </a:prstGeom>
          <a:noFill/>
          <a:ln/>
        </p:spPr>
        <p:txBody>
          <a:bodyPr wrap="square" lIns="0" tIns="0" rIns="0" bIns="0" rtlCol="0" anchor="t"/>
          <a:lstStyle/>
          <a:p>
            <a:pPr indent="0" marL="0">
              <a:buNone/>
            </a:pPr>
            <a:r>
              <a:rPr lang="en-US" sz="1500" dirty="0">
                <a:solidFill>
                  <a:schemeClr val="tx1"/>
                </a:solidFill>
              </a:rPr>
              <a:t>Does an API template deployment also write memory?</a:t>
            </a:r>
            <a:endParaRPr lang="en-US" sz="1500" dirty="0"/>
          </a:p>
        </p:txBody>
      </p:sp>
      <p:sp>
        <p:nvSpPr>
          <p:cNvPr id="18" name="open-3"/>
          <p:cNvSpPr/>
          <p:nvPr/>
        </p:nvSpPr>
        <p:spPr>
          <a:xfrm>
            <a:off x="548640" y="3794760"/>
            <a:ext cx="3566160" cy="2011680"/>
          </a:xfrm>
          <a:prstGeom prst="roundRect">
            <a:avLst>
              <a:gd name="adj" fmla="val 3636"/>
            </a:avLst>
          </a:prstGeom>
          <a:solidFill>
            <a:schemeClr val="bg2"/>
          </a:solidFill>
          <a:ln/>
        </p:spPr>
      </p:sp>
      <p:sp>
        <p:nvSpPr>
          <p:cNvPr id="19" name="Shape 17"/>
          <p:cNvSpPr/>
          <p:nvPr/>
        </p:nvSpPr>
        <p:spPr>
          <a:xfrm>
            <a:off x="777240" y="4023360"/>
            <a:ext cx="457200" cy="457200"/>
          </a:xfrm>
          <a:prstGeom prst="ellipse">
            <a:avLst/>
          </a:prstGeom>
          <a:solidFill>
            <a:schemeClr val="accent2"/>
          </a:solidFill>
          <a:ln/>
        </p:spPr>
      </p:sp>
      <p:sp>
        <p:nvSpPr>
          <p:cNvPr id="20" name="Text 18"/>
          <p:cNvSpPr txBox="1"/>
          <p:nvPr/>
        </p:nvSpPr>
        <p:spPr>
          <a:xfrm>
            <a:off x="777240" y="4023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1417320" y="4069080"/>
            <a:ext cx="25603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App code</a:t>
            </a:r>
            <a:endParaRPr lang="en-US" sz="1800" dirty="0"/>
          </a:p>
        </p:txBody>
      </p:sp>
      <p:sp>
        <p:nvSpPr>
          <p:cNvPr id="22" name="Text 20"/>
          <p:cNvSpPr txBox="1"/>
          <p:nvPr/>
        </p:nvSpPr>
        <p:spPr>
          <a:xfrm>
            <a:off x="777240" y="4663440"/>
            <a:ext cx="3108960" cy="1005840"/>
          </a:xfrm>
          <a:prstGeom prst="rect">
            <a:avLst/>
          </a:prstGeom>
          <a:noFill/>
          <a:ln/>
        </p:spPr>
        <p:txBody>
          <a:bodyPr wrap="square" lIns="0" tIns="0" rIns="0" bIns="0" rtlCol="0" anchor="t"/>
          <a:lstStyle/>
          <a:p>
            <a:pPr indent="0" marL="0">
              <a:buNone/>
            </a:pPr>
            <a:r>
              <a:rPr lang="en-US" sz="1500" dirty="0">
                <a:solidFill>
                  <a:schemeClr val="tx1"/>
                </a:solidFill>
              </a:rPr>
              <a:t>New app code for IBNS, or live under ud00?</a:t>
            </a:r>
            <a:endParaRPr lang="en-US" sz="1500" dirty="0"/>
          </a:p>
        </p:txBody>
      </p:sp>
      <p:sp>
        <p:nvSpPr>
          <p:cNvPr id="23" name="open-4"/>
          <p:cNvSpPr/>
          <p:nvPr/>
        </p:nvSpPr>
        <p:spPr>
          <a:xfrm>
            <a:off x="4297680" y="3794760"/>
            <a:ext cx="3566160" cy="2011680"/>
          </a:xfrm>
          <a:prstGeom prst="roundRect">
            <a:avLst>
              <a:gd name="adj" fmla="val 3636"/>
            </a:avLst>
          </a:prstGeom>
          <a:solidFill>
            <a:schemeClr val="bg2"/>
          </a:solidFill>
          <a:ln/>
        </p:spPr>
      </p:sp>
      <p:sp>
        <p:nvSpPr>
          <p:cNvPr id="24" name="Shape 22"/>
          <p:cNvSpPr/>
          <p:nvPr/>
        </p:nvSpPr>
        <p:spPr>
          <a:xfrm>
            <a:off x="4526280" y="4023360"/>
            <a:ext cx="457200" cy="457200"/>
          </a:xfrm>
          <a:prstGeom prst="ellipse">
            <a:avLst/>
          </a:prstGeom>
          <a:solidFill>
            <a:schemeClr val="accent2"/>
          </a:solidFill>
          <a:ln/>
        </p:spPr>
      </p:sp>
      <p:sp>
        <p:nvSpPr>
          <p:cNvPr id="25" name="Text 23"/>
          <p:cNvSpPr txBox="1"/>
          <p:nvPr/>
        </p:nvSpPr>
        <p:spPr>
          <a:xfrm>
            <a:off x="4526280" y="4023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5166360" y="4069080"/>
            <a:ext cx="25603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Golden standard</a:t>
            </a:r>
            <a:endParaRPr lang="en-US" sz="1800" dirty="0"/>
          </a:p>
        </p:txBody>
      </p:sp>
      <p:sp>
        <p:nvSpPr>
          <p:cNvPr id="27" name="Text 25"/>
          <p:cNvSpPr txBox="1"/>
          <p:nvPr/>
        </p:nvSpPr>
        <p:spPr>
          <a:xfrm>
            <a:off x="4526280" y="4663440"/>
            <a:ext cx="3108960" cy="1005840"/>
          </a:xfrm>
          <a:prstGeom prst="rect">
            <a:avLst/>
          </a:prstGeom>
          <a:noFill/>
          <a:ln/>
        </p:spPr>
        <p:txBody>
          <a:bodyPr wrap="square" lIns="0" tIns="0" rIns="0" bIns="0" rtlCol="0" anchor="t"/>
          <a:lstStyle/>
          <a:p>
            <a:pPr indent="0" marL="0">
              <a:buNone/>
            </a:pPr>
            <a:r>
              <a:rPr lang="en-US" sz="1500" dirty="0">
                <a:solidFill>
                  <a:schemeClr val="tx1"/>
                </a:solidFill>
              </a:rPr>
              <a:t>Approved IBNS 2.0 config, closed or low-impact mode</a:t>
            </a:r>
            <a:endParaRPr lang="en-US" sz="1500" dirty="0"/>
          </a:p>
        </p:txBody>
      </p:sp>
      <p:sp>
        <p:nvSpPr>
          <p:cNvPr id="28" name="open-5"/>
          <p:cNvSpPr/>
          <p:nvPr/>
        </p:nvSpPr>
        <p:spPr>
          <a:xfrm>
            <a:off x="8046720" y="3794760"/>
            <a:ext cx="3566160" cy="2011680"/>
          </a:xfrm>
          <a:prstGeom prst="roundRect">
            <a:avLst>
              <a:gd name="adj" fmla="val 3636"/>
            </a:avLst>
          </a:prstGeom>
          <a:solidFill>
            <a:schemeClr val="bg2"/>
          </a:solidFill>
          <a:ln/>
        </p:spPr>
      </p:sp>
      <p:sp>
        <p:nvSpPr>
          <p:cNvPr id="29" name="Shape 27"/>
          <p:cNvSpPr/>
          <p:nvPr/>
        </p:nvSpPr>
        <p:spPr>
          <a:xfrm>
            <a:off x="8275320" y="4023360"/>
            <a:ext cx="457200" cy="457200"/>
          </a:xfrm>
          <a:prstGeom prst="ellipse">
            <a:avLst/>
          </a:prstGeom>
          <a:solidFill>
            <a:schemeClr val="accent2"/>
          </a:solidFill>
          <a:ln/>
        </p:spPr>
      </p:sp>
      <p:sp>
        <p:nvSpPr>
          <p:cNvPr id="30" name="Text 28"/>
          <p:cNvSpPr txBox="1"/>
          <p:nvPr/>
        </p:nvSpPr>
        <p:spPr>
          <a:xfrm>
            <a:off x="8275320" y="4023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 29"/>
          <p:cNvSpPr txBox="1"/>
          <p:nvPr/>
        </p:nvSpPr>
        <p:spPr>
          <a:xfrm>
            <a:off x="8915400" y="4069080"/>
            <a:ext cx="25603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Descriptions + lab</a:t>
            </a:r>
            <a:endParaRPr lang="en-US" sz="1800" dirty="0"/>
          </a:p>
        </p:txBody>
      </p:sp>
      <p:sp>
        <p:nvSpPr>
          <p:cNvPr id="32" name="Text 30"/>
          <p:cNvSpPr txBox="1"/>
          <p:nvPr/>
        </p:nvSpPr>
        <p:spPr>
          <a:xfrm>
            <a:off x="8275320" y="4663440"/>
            <a:ext cx="3108960" cy="1005840"/>
          </a:xfrm>
          <a:prstGeom prst="rect">
            <a:avLst/>
          </a:prstGeom>
          <a:noFill/>
          <a:ln/>
        </p:spPr>
        <p:txBody>
          <a:bodyPr wrap="square" lIns="0" tIns="0" rIns="0" bIns="0" rtlCol="0" anchor="t"/>
          <a:lstStyle/>
          <a:p>
            <a:pPr indent="0" marL="0">
              <a:buNone/>
            </a:pPr>
            <a:r>
              <a:rPr lang="en-US" sz="1500" dirty="0">
                <a:solidFill>
                  <a:schemeClr val="tx1"/>
                </a:solidFill>
              </a:rPr>
              <a:t>Port description standard for the classify rules; parsers and timers on real output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15544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Next steps</a:t>
            </a:r>
            <a:endParaRPr lang="en-US" sz="4000" dirty="0"/>
          </a:p>
        </p:txBody>
      </p:sp>
      <p:sp>
        <p:nvSpPr>
          <p:cNvPr id="3" name="Text 0"/>
          <p:cNvSpPr/>
          <p:nvPr>
            <p:ph idx="101" type="body" hasCustomPrompt="1"/>
          </p:nvPr>
        </p:nvSpPr>
        <p:spPr>
          <a:xfrm>
            <a:off x="731520" y="3566160"/>
            <a:ext cx="7498080" cy="1188720"/>
          </a:xfrm>
          <a:prstGeom prst="rect">
            <a:avLst/>
          </a:prstGeom>
          <a:noFill/>
          <a:ln/>
        </p:spPr>
        <p:txBody>
          <a:bodyPr wrap="square" lIns="0" tIns="0" rIns="0" bIns="0" rtlCol="0" anchor="t"/>
          <a:lstStyle/>
          <a:p>
            <a:pPr algn="l" indent="0" marL="0">
              <a:buNone/>
            </a:pPr>
            <a:r>
              <a:rPr lang="en-US" sz="2000" dirty="0">
                <a:solidFill>
                  <a:schemeClr val="accent6"/>
                </a:solidFill>
              </a:rPr>
              <a:t>Questions and feedback welcome</a:t>
            </a:r>
            <a:endParaRPr lang="en-US" sz="2000" dirty="0"/>
          </a:p>
        </p:txBody>
      </p:sp>
      <p:sp>
        <p:nvSpPr>
          <p:cNvPr id="4" name="Shape 2"/>
          <p:cNvSpPr/>
          <p:nvPr/>
        </p:nvSpPr>
        <p:spPr>
          <a:xfrm>
            <a:off x="8229600" y="1463040"/>
            <a:ext cx="457200" cy="457200"/>
          </a:xfrm>
          <a:prstGeom prst="ellipse">
            <a:avLst/>
          </a:prstGeom>
          <a:solidFill>
            <a:schemeClr val="accent2"/>
          </a:solidFill>
          <a:ln/>
        </p:spPr>
      </p:sp>
      <p:sp>
        <p:nvSpPr>
          <p:cNvPr id="5" name="Text 3"/>
          <p:cNvSpPr txBox="1"/>
          <p:nvPr/>
        </p:nvSpPr>
        <p:spPr>
          <a:xfrm>
            <a:off x="8229600"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8823960" y="1417320"/>
            <a:ext cx="2788920" cy="548640"/>
          </a:xfrm>
          <a:prstGeom prst="rect">
            <a:avLst/>
          </a:prstGeom>
          <a:noFill/>
          <a:ln/>
        </p:spPr>
        <p:txBody>
          <a:bodyPr wrap="square" lIns="0" tIns="0" rIns="0" bIns="0" rtlCol="0" anchor="ctr"/>
          <a:lstStyle/>
          <a:p>
            <a:pPr indent="0" marL="0">
              <a:buNone/>
            </a:pPr>
            <a:r>
              <a:rPr lang="en-US" sz="1400" dirty="0">
                <a:solidFill>
                  <a:schemeClr val="bg1"/>
                </a:solidFill>
              </a:rPr>
              <a:t>Create the repo and copy the ud00 pieces</a:t>
            </a:r>
            <a:endParaRPr lang="en-US" sz="1400" dirty="0"/>
          </a:p>
        </p:txBody>
      </p:sp>
      <p:sp>
        <p:nvSpPr>
          <p:cNvPr id="7" name="Shape 5"/>
          <p:cNvSpPr/>
          <p:nvPr/>
        </p:nvSpPr>
        <p:spPr>
          <a:xfrm>
            <a:off x="8229600" y="2331720"/>
            <a:ext cx="457200" cy="457200"/>
          </a:xfrm>
          <a:prstGeom prst="ellipse">
            <a:avLst/>
          </a:prstGeom>
          <a:solidFill>
            <a:schemeClr val="accent2"/>
          </a:solidFill>
          <a:ln/>
        </p:spPr>
      </p:sp>
      <p:sp>
        <p:nvSpPr>
          <p:cNvPr id="8" name="Text 6"/>
          <p:cNvSpPr txBox="1"/>
          <p:nvPr/>
        </p:nvSpPr>
        <p:spPr>
          <a:xfrm>
            <a:off x="8229600" y="2331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8823960" y="2286000"/>
            <a:ext cx="2788920" cy="548640"/>
          </a:xfrm>
          <a:prstGeom prst="rect">
            <a:avLst/>
          </a:prstGeom>
          <a:noFill/>
          <a:ln/>
        </p:spPr>
        <p:txBody>
          <a:bodyPr wrap="square" lIns="0" tIns="0" rIns="0" bIns="0" rtlCol="0" anchor="ctr"/>
          <a:lstStyle/>
          <a:p>
            <a:pPr indent="0" marL="0">
              <a:buNone/>
            </a:pPr>
            <a:r>
              <a:rPr lang="en-US" sz="1400" dirty="0">
                <a:solidFill>
                  <a:schemeClr val="bg1"/>
                </a:solidFill>
              </a:rPr>
              <a:t>Type the filter plugin and pass the tests</a:t>
            </a:r>
            <a:endParaRPr lang="en-US" sz="1400" dirty="0"/>
          </a:p>
        </p:txBody>
      </p:sp>
      <p:sp>
        <p:nvSpPr>
          <p:cNvPr id="10" name="Shape 8"/>
          <p:cNvSpPr/>
          <p:nvPr/>
        </p:nvSpPr>
        <p:spPr>
          <a:xfrm>
            <a:off x="8229600" y="3200400"/>
            <a:ext cx="457200" cy="457200"/>
          </a:xfrm>
          <a:prstGeom prst="ellipse">
            <a:avLst/>
          </a:prstGeom>
          <a:solidFill>
            <a:schemeClr val="accent2"/>
          </a:solidFill>
          <a:ln/>
        </p:spPr>
      </p:sp>
      <p:sp>
        <p:nvSpPr>
          <p:cNvPr id="11" name="Text 9"/>
          <p:cNvSpPr txBox="1"/>
          <p:nvPr/>
        </p:nvSpPr>
        <p:spPr>
          <a:xfrm>
            <a:off x="8229600" y="32004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10"/>
          <p:cNvSpPr txBox="1"/>
          <p:nvPr/>
        </p:nvSpPr>
        <p:spPr>
          <a:xfrm>
            <a:off x="8823960" y="3154680"/>
            <a:ext cx="2788920" cy="548640"/>
          </a:xfrm>
          <a:prstGeom prst="rect">
            <a:avLst/>
          </a:prstGeom>
          <a:noFill/>
          <a:ln/>
        </p:spPr>
        <p:txBody>
          <a:bodyPr wrap="square" lIns="0" tIns="0" rIns="0" bIns="0" rtlCol="0" anchor="ctr"/>
          <a:lstStyle/>
          <a:p>
            <a:pPr indent="0" marL="0">
              <a:buNone/>
            </a:pPr>
            <a:r>
              <a:rPr lang="en-US" sz="1400" dirty="0">
                <a:solidFill>
                  <a:schemeClr val="bg1"/>
                </a:solidFill>
              </a:rPr>
              <a:t>Classify all sites; run pre-check and baseline in the lab</a:t>
            </a:r>
            <a:endParaRPr lang="en-US" sz="1400" dirty="0"/>
          </a:p>
        </p:txBody>
      </p:sp>
      <p:sp>
        <p:nvSpPr>
          <p:cNvPr id="13" name="Shape 11"/>
          <p:cNvSpPr/>
          <p:nvPr/>
        </p:nvSpPr>
        <p:spPr>
          <a:xfrm>
            <a:off x="8229600" y="4069080"/>
            <a:ext cx="457200" cy="457200"/>
          </a:xfrm>
          <a:prstGeom prst="ellipse">
            <a:avLst/>
          </a:prstGeom>
          <a:solidFill>
            <a:schemeClr val="accent2"/>
          </a:solidFill>
          <a:ln/>
        </p:spPr>
      </p:sp>
      <p:sp>
        <p:nvSpPr>
          <p:cNvPr id="14" name="Text 12"/>
          <p:cNvSpPr txBox="1"/>
          <p:nvPr/>
        </p:nvSpPr>
        <p:spPr>
          <a:xfrm>
            <a:off x="8229600" y="40690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3"/>
          <p:cNvSpPr txBox="1"/>
          <p:nvPr/>
        </p:nvSpPr>
        <p:spPr>
          <a:xfrm>
            <a:off x="8823960" y="4023360"/>
            <a:ext cx="2788920" cy="548640"/>
          </a:xfrm>
          <a:prstGeom prst="rect">
            <a:avLst/>
          </a:prstGeom>
          <a:noFill/>
          <a:ln/>
        </p:spPr>
        <p:txBody>
          <a:bodyPr wrap="square" lIns="0" tIns="0" rIns="0" bIns="0" rtlCol="0" anchor="ctr"/>
          <a:lstStyle/>
          <a:p>
            <a:pPr indent="0" marL="0">
              <a:buNone/>
            </a:pPr>
            <a:r>
              <a:rPr lang="en-US" sz="1400" dirty="0">
                <a:solidFill>
                  <a:schemeClr val="bg1"/>
                </a:solidFill>
              </a:rPr>
              <a:t>Prove stage 1, stage 2 and the rollback in the lab</a:t>
            </a:r>
            <a:endParaRPr lang="en-US" sz="1400" dirty="0"/>
          </a:p>
        </p:txBody>
      </p:sp>
      <p:sp>
        <p:nvSpPr>
          <p:cNvPr id="16" name="Shape 14"/>
          <p:cNvSpPr/>
          <p:nvPr/>
        </p:nvSpPr>
        <p:spPr>
          <a:xfrm>
            <a:off x="8229600" y="4937760"/>
            <a:ext cx="457200" cy="457200"/>
          </a:xfrm>
          <a:prstGeom prst="ellipse">
            <a:avLst/>
          </a:prstGeom>
          <a:solidFill>
            <a:schemeClr val="accent2"/>
          </a:solidFill>
          <a:ln/>
        </p:spPr>
      </p:sp>
      <p:sp>
        <p:nvSpPr>
          <p:cNvPr id="17" name="Text 15"/>
          <p:cNvSpPr txBox="1"/>
          <p:nvPr/>
        </p:nvSpPr>
        <p:spPr>
          <a:xfrm>
            <a:off x="8229600" y="49377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6"/>
          <p:cNvSpPr txBox="1"/>
          <p:nvPr/>
        </p:nvSpPr>
        <p:spPr>
          <a:xfrm>
            <a:off x="8823960" y="4892040"/>
            <a:ext cx="2788920" cy="548640"/>
          </a:xfrm>
          <a:prstGeom prst="rect">
            <a:avLst/>
          </a:prstGeom>
          <a:noFill/>
          <a:ln/>
        </p:spPr>
        <p:txBody>
          <a:bodyPr wrap="square" lIns="0" tIns="0" rIns="0" bIns="0" rtlCol="0" anchor="ctr"/>
          <a:lstStyle/>
          <a:p>
            <a:pPr indent="0" marL="0">
              <a:buNone/>
            </a:pPr>
            <a:r>
              <a:rPr lang="en-US" sz="1400" dirty="0">
                <a:solidFill>
                  <a:schemeClr val="bg1"/>
                </a:solidFill>
              </a:rPr>
              <a:t>Push to dev and run the jobs in DEV AAP</a:t>
            </a:r>
            <a:endParaRPr lang="en-US" sz="1400" dirty="0"/>
          </a:p>
        </p:txBody>
      </p:sp>
    </p:spTree>
  </p:cSld>
  <p:clrMapOvr>
    <a:masterClrMapping/>
  </p:clrMapOvr>
</p:sld>
</file>

<file path=ppt/theme/theme1.xml><?xml version="1.0" encoding="utf-8"?>
<a:theme xmlns:a="http://schemas.openxmlformats.org/drawingml/2006/main" name="IBNS Slate">
  <a:themeElements>
    <a:clrScheme name="IBNS Slate">
      <a:dk1>
        <a:srgbClr val="1B262C"/>
      </a:dk1>
      <a:lt1>
        <a:srgbClr val="FFFFFF"/>
      </a:lt1>
      <a:dk2>
        <a:srgbClr val="0F2D3A"/>
      </a:dk2>
      <a:lt2>
        <a:srgbClr val="EEF3F4"/>
      </a:lt2>
      <a:accent1>
        <a:srgbClr val="1F7A8C"/>
      </a:accent1>
      <a:accent2>
        <a:srgbClr val="E39B2E"/>
      </a:accent2>
      <a:accent3>
        <a:srgbClr val="6B7F87"/>
      </a:accent3>
      <a:accent4>
        <a:srgbClr val="2E8B57"/>
      </a:accent4>
      <a:accent5>
        <a:srgbClr val="B5543B"/>
      </a:accent5>
      <a:accent6>
        <a:srgbClr val="D5E6EA"/>
      </a:accent6>
      <a:hlink>
        <a:srgbClr val="1F7A8C"/>
      </a:hlink>
      <a:folHlink>
        <a:srgbClr val="6B7F87"/>
      </a:folHlink>
    </a:clrScheme>
    <a:fontScheme name="IBNS Sl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IBNS 2.0 automation: repository workflow</dc:title>
  <dc:subject>PptxGenJS Presentation</dc:subject>
  <dc:creator>Sahban Khan</dc:creator>
  <cp:lastModifiedBy>Sahban Khan</cp:lastModifiedBy>
  <cp:revision>1</cp:revision>
  <dcterms:created xsi:type="dcterms:W3CDTF">2026-10-28T11:26:53Z</dcterms:created>
  <dcterms:modified xsi:type="dcterms:W3CDTF">2026-10-28T11:26:53Z</dcterms:modified>
</cp:coreProperties>
</file>